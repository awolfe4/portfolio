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42"/>
    <p:restoredTop sz="94694"/>
  </p:normalViewPr>
  <p:slideViewPr>
    <p:cSldViewPr snapToGrid="0">
      <p:cViewPr varScale="1">
        <p:scale>
          <a:sx n="121" d="100"/>
          <a:sy n="121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AE25-166C-D2AE-86C6-1D8AC646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85A4A-3E29-EC30-60ED-41FD83296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68F1-B426-F937-23A2-9D9F7BB2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ECCD-F563-03CE-F33D-136D91A8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3C102-449D-3012-0C40-EACD2CC4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4321-341F-B496-3C4B-7EFAA2F8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8FDB-5710-CEC4-7D78-336DB6DEA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9982-D068-822F-41ED-7B7774A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E341-358B-01B0-B693-BC359D1B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7575-A31F-7300-87F1-108919E0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AA4E-5B8C-7773-A27F-70D865BA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D728F-BD9F-2CCA-A841-BE1450E0D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C9A8-FFFC-02D9-3E06-9F940A38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08DF-9200-CEB8-AABC-C936BE27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74B7-013E-A38A-FBD0-E5808C1A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5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8CB-F018-71D5-F1CD-581571C3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936E-0162-B369-1F51-98373E7FA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EBC77-D2F2-0989-C58F-CE66EF557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8245C-9496-0A9A-6C13-0EE69F7E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4D3E9-4489-50AF-A379-E6134B11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D4834-4674-90B9-67D5-C822C0BB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3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942D-2898-852A-3098-AE5A884F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3F42-2B44-94AB-10E6-BB5F2ADF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0B5FB-D72B-2778-27C0-92ADC189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F3D10-FC1A-1ABF-FFE2-E20F651B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9CDB4-4F05-8EAB-A069-8F4AB41BF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3C7B0-3A41-7A3D-9E4B-F90B941E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52A96-E293-F75F-E543-D09D8C2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0E096-96A3-608E-898D-686B74C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A8D7-F28A-68F1-61EC-CD439C9F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E458-4CA2-51AF-3236-D32D5682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FA354-4166-C56E-A255-D04AF507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7A4F7-D12B-5D2F-8B74-22C6AF85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C0C29-D20E-9059-8819-EA854B4C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1E465-9EB8-EEBD-F1B7-9F28151A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9FE8-D76E-280F-83E3-E2F7DFBA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5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4122-8198-8D83-F447-BF42446D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EB65-E309-A3B8-EF92-3B15F6F9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49E77-1AAA-7F9B-00C3-961658131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ED479-9B22-38D1-02CB-AC23CE90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EDEE3-5973-A7B0-46F8-6EF0F86A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2F5B5-B8EE-1F0B-C93C-AFD39C26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5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4D89-3064-28AA-ECDE-063896E1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E1840-F047-2CE5-C3AF-637C0752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D7FA-8CB6-6CE3-059B-EBA61BD33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F3571-6404-AC4D-A09E-49C53749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304C6-A96F-D5EC-BFC3-BACE8C9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3EB47-6796-2171-8896-5AC83AF6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8E7E-42A1-124B-A340-A845754C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7ACDC-8F23-C71E-7DBA-F0BD59854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10F0C-DEDB-6082-694C-779BD4E1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13C5-5DFF-C56E-D9F9-C50B414B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9B13-9D49-51A5-4EE2-02D4451F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5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29699-E6B2-2EFA-5E96-78EB6DC8B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31091-489E-7FD3-81CB-94DB430C3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2EFB-9750-2941-C9DA-A9920881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A9FA-50A8-325A-ABC7-CC637A40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9DD4-1DDA-E57A-3043-FF32BF01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4B1E1-7864-2822-6D2A-1C716A2D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0F72-E965-023F-563E-94F671350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527B-6762-99F4-EEBB-C63282DB6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67388-5E83-8843-B620-EC1D735B2C7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CC9B-25F3-3A7F-7C8B-81B7C3CAB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8A92-8073-458D-50A3-3AAF89DB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8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146-3CBC-5D9B-900E-20124543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Salary Worth Report –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5212F-80DE-9374-A866-B19C31615EBB}"/>
              </a:ext>
            </a:extLst>
          </p:cNvPr>
          <p:cNvSpPr txBox="1"/>
          <p:nvPr/>
        </p:nvSpPr>
        <p:spPr>
          <a:xfrm>
            <a:off x="0" y="1138773"/>
            <a:ext cx="122971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Context: </a:t>
            </a:r>
            <a:r>
              <a:rPr lang="en-US" sz="1400" dirty="0">
                <a:latin typeface="Tw Cen MT" panose="020B0602020104020603" pitchFamily="34" charset="77"/>
              </a:rPr>
              <a:t>This project calculates the probability that an offensive drive in the NFL will result in a score using play-by-play data from the 2021–2023 seasons. I will calculate probabilities of scoring from offensive drives using Logistic Regression, Gradient Boosting and Random Forest models. Long-term trends for the team and short-term momentum of the prior drives will also be used to assess the potential success of the drive. Ultimately, I hope to provide a real-time predictive tool that estimates the chances of scoring from a drive, and provides insight for analysts and coaches.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Reasoning Behind It: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77"/>
              </a:rPr>
              <a:t>About 38% of NFL drives from 2021–2023 concluded with a score (TD or FG). Moreover, the likelihood of obtaining a score depends on the nature of the drive (e.g., field position, down, team history). This model can help explain drive situations and trends that affect the probability of a score, creating a more granular way of examining offensive efficiency. In the end, this is a tool to facilitate decision-making during games and in the analytical process.</a:t>
            </a:r>
            <a:endParaRPr lang="en-US" sz="1400" i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Machine Learning Model: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Tw Cen MT" panose="020B0602020104020603" pitchFamily="34" charset="77"/>
              </a:rPr>
              <a:t>Preprocessing: </a:t>
            </a:r>
            <a:r>
              <a:rPr lang="en-US" sz="1400" dirty="0">
                <a:latin typeface="Tw Cen MT" panose="020B0602020104020603" pitchFamily="34" charset="77"/>
              </a:rPr>
              <a:t>The missing values in the numerical features were filled using median imputation, and the categorical features were filled with a string 'NA' before one-hot encoding. The features were standardized before any modification to allow for consistent scaling throughout. Any rows with a missing target label (‘drive_ended_with_score’) were dropped. Plus, more rolling features were created to demonstrate a team's recent momentum.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Tw Cen MT" panose="020B0602020104020603" pitchFamily="34" charset="77"/>
              </a:rPr>
              <a:t>Feature Importance: </a:t>
            </a:r>
            <a:r>
              <a:rPr lang="en-US" sz="1400" dirty="0">
                <a:latin typeface="Tw Cen MT" panose="020B0602020104020603" pitchFamily="34" charset="77"/>
              </a:rPr>
              <a:t>Permutation importance and model-based metrics revealed that the most influential features were: ‘posteam_score_rate_rolling’, ’drive_inside20’, ‘defteam_score_rate_rolling’, and ‘drive_first_downs’. Other important variables included ‘play_number’ and ‘yardline_100’.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400" i="1" dirty="0">
                <a:latin typeface="Tw Cen MT" panose="020B0602020104020603" pitchFamily="34" charset="77"/>
              </a:rPr>
              <a:t>Different Models Tested: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Logistic Regression: </a:t>
            </a:r>
            <a:r>
              <a:rPr lang="en-US" sz="1400" dirty="0">
                <a:latin typeface="Tw Cen MT" panose="020B0602020104020603" pitchFamily="34" charset="77"/>
              </a:rPr>
              <a:t>Provided a baseline binary classifier for scoring outcomes.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Gradient Boosting: </a:t>
            </a:r>
            <a:r>
              <a:rPr lang="en-US" sz="1400" dirty="0">
                <a:latin typeface="Tw Cen MT" panose="020B0602020104020603" pitchFamily="34" charset="77"/>
              </a:rPr>
              <a:t>Built additive models that corrected prior errors and captured non-linear effects.</a:t>
            </a:r>
            <a:endParaRPr lang="en-US" sz="1400" b="1" dirty="0">
              <a:latin typeface="Tw Cen MT" panose="020B0602020104020603" pitchFamily="34" charset="7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Random Forest: </a:t>
            </a:r>
            <a:r>
              <a:rPr lang="en-US" sz="1400" dirty="0">
                <a:latin typeface="Tw Cen MT" panose="020B0602020104020603" pitchFamily="34" charset="77"/>
              </a:rPr>
              <a:t>Non-linear model that handles complex feature interactions and will provide feature/permutation importance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Model Interpretations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77"/>
              </a:rPr>
              <a:t>The Random Forest Model predicted scoring probabilities for offensive drives the best in terms of AUC and log loss. It correlated well with the recent offense and defense performance for a team, evidently picking up on trends like persistent success or struggle over the past few drives. While the all the </a:t>
            </a:r>
            <a:r>
              <a:rPr lang="en-US" sz="1400">
                <a:latin typeface="Tw Cen MT" panose="020B0602020104020603" pitchFamily="34" charset="77"/>
              </a:rPr>
              <a:t>models dealt </a:t>
            </a:r>
            <a:r>
              <a:rPr lang="en-US" sz="1400" dirty="0">
                <a:latin typeface="Tw Cen MT" panose="020B0602020104020603" pitchFamily="34" charset="77"/>
              </a:rPr>
              <a:t>with short-term momentum and situation context well, they may underemphasize the role of anomalous or highly volatile plays that are not part of a set pattern. It's likely due to the models' preference for steady, replicable indicators—such as drive efficiency and recent scoring streaks—at the cost of singular game-changing plays.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77"/>
              </a:rPr>
              <a:t>Future Implications: </a:t>
            </a:r>
            <a:r>
              <a:rPr lang="en-US" sz="1400" dirty="0">
                <a:latin typeface="Tw Cen MT" panose="020B0602020104020603" pitchFamily="34" charset="77"/>
              </a:rPr>
              <a:t>How would environmental factors – stadium, fans, weather, etc. – affect scoring probabilities? How can integrating player-tracking data and real-time context improve model accuracy?</a:t>
            </a:r>
          </a:p>
          <a:p>
            <a:pPr lvl="2"/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1AEF9-0771-3CFB-7AC6-999BECF5C082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br>
              <a:rPr lang="en-US" sz="2500" dirty="0">
                <a:solidFill>
                  <a:srgbClr val="FFFFFF"/>
                </a:solidFill>
                <a:latin typeface="+mj-lt"/>
              </a:rPr>
            </a:br>
            <a:r>
              <a:rPr lang="en-US" sz="2500" dirty="0">
                <a:solidFill>
                  <a:srgbClr val="FFFFFF"/>
                </a:solidFill>
                <a:latin typeface="+mj-lt"/>
              </a:rPr>
              <a:t>NFL Scoring Probabilities – Summary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9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550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Tw Cen MT</vt:lpstr>
      <vt:lpstr>Office Theme</vt:lpstr>
      <vt:lpstr> Salary Worth Report –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Wolfe</dc:creator>
  <cp:lastModifiedBy>Andrew Wolfe</cp:lastModifiedBy>
  <cp:revision>27</cp:revision>
  <dcterms:created xsi:type="dcterms:W3CDTF">2025-07-28T00:12:37Z</dcterms:created>
  <dcterms:modified xsi:type="dcterms:W3CDTF">2025-07-30T03:48:50Z</dcterms:modified>
</cp:coreProperties>
</file>