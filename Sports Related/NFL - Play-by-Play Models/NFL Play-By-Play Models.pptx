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8" r:id="rId2"/>
    <p:sldId id="257" r:id="rId3"/>
    <p:sldId id="260" r:id="rId4"/>
    <p:sldId id="265" r:id="rId5"/>
    <p:sldId id="267" r:id="rId6"/>
    <p:sldId id="266" r:id="rId7"/>
    <p:sldId id="268" r:id="rId8"/>
    <p:sldId id="269"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3550"/>
    <p:restoredTop sz="91546"/>
  </p:normalViewPr>
  <p:slideViewPr>
    <p:cSldViewPr snapToGrid="0">
      <p:cViewPr varScale="1">
        <p:scale>
          <a:sx n="91" d="100"/>
          <a:sy n="91" d="100"/>
        </p:scale>
        <p:origin x="216" y="10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6CC6FA-A6E0-8946-BC63-D0796D589323}" type="datetimeFigureOut">
              <a:rPr lang="en-US" smtClean="0"/>
              <a:t>12/11/25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494FFB-5E3A-7C40-9E97-20C634CEF336}" type="slidenum">
              <a:rPr lang="en-US" smtClean="0"/>
              <a:t>‹#›</a:t>
            </a:fld>
            <a:endParaRPr lang="en-US"/>
          </a:p>
        </p:txBody>
      </p:sp>
    </p:spTree>
    <p:extLst>
      <p:ext uri="{BB962C8B-B14F-4D97-AF65-F5344CB8AC3E}">
        <p14:creationId xmlns:p14="http://schemas.microsoft.com/office/powerpoint/2010/main" val="40087688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494FFB-5E3A-7C40-9E97-20C634CEF336}" type="slidenum">
              <a:rPr lang="en-US" smtClean="0"/>
              <a:t>2</a:t>
            </a:fld>
            <a:endParaRPr lang="en-US"/>
          </a:p>
        </p:txBody>
      </p:sp>
    </p:spTree>
    <p:extLst>
      <p:ext uri="{BB962C8B-B14F-4D97-AF65-F5344CB8AC3E}">
        <p14:creationId xmlns:p14="http://schemas.microsoft.com/office/powerpoint/2010/main" val="12680953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494FFB-5E3A-7C40-9E97-20C634CEF336}" type="slidenum">
              <a:rPr lang="en-US" smtClean="0"/>
              <a:t>4</a:t>
            </a:fld>
            <a:endParaRPr lang="en-US"/>
          </a:p>
        </p:txBody>
      </p:sp>
    </p:spTree>
    <p:extLst>
      <p:ext uri="{BB962C8B-B14F-4D97-AF65-F5344CB8AC3E}">
        <p14:creationId xmlns:p14="http://schemas.microsoft.com/office/powerpoint/2010/main" val="10652979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DB09F-AEE2-1D74-D9B0-12EA035A8F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E0D9ED-BA52-AB9C-781B-E4457916FA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6F243F-A580-412C-CDEB-3FC4DFF8E2E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6541A3-6412-999A-739B-08FD172CB0C1}"/>
              </a:ext>
            </a:extLst>
          </p:cNvPr>
          <p:cNvSpPr>
            <a:spLocks noGrp="1"/>
          </p:cNvSpPr>
          <p:nvPr>
            <p:ph type="sldNum" sz="quarter" idx="5"/>
          </p:nvPr>
        </p:nvSpPr>
        <p:spPr/>
        <p:txBody>
          <a:bodyPr/>
          <a:lstStyle/>
          <a:p>
            <a:fld id="{D0494FFB-5E3A-7C40-9E97-20C634CEF336}" type="slidenum">
              <a:rPr lang="en-US" smtClean="0"/>
              <a:t>5</a:t>
            </a:fld>
            <a:endParaRPr lang="en-US"/>
          </a:p>
        </p:txBody>
      </p:sp>
    </p:spTree>
    <p:extLst>
      <p:ext uri="{BB962C8B-B14F-4D97-AF65-F5344CB8AC3E}">
        <p14:creationId xmlns:p14="http://schemas.microsoft.com/office/powerpoint/2010/main" val="16439985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494FFB-5E3A-7C40-9E97-20C634CEF336}" type="slidenum">
              <a:rPr lang="en-US" smtClean="0"/>
              <a:t>6</a:t>
            </a:fld>
            <a:endParaRPr lang="en-US"/>
          </a:p>
        </p:txBody>
      </p:sp>
    </p:spTree>
    <p:extLst>
      <p:ext uri="{BB962C8B-B14F-4D97-AF65-F5344CB8AC3E}">
        <p14:creationId xmlns:p14="http://schemas.microsoft.com/office/powerpoint/2010/main" val="13117177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E40C9-9225-ECC5-ACD8-A101E99525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C33835-4E63-3403-7872-E1EB5713C7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5BBBF5-D2DE-02AD-1271-9914C95DD7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720D15-C664-E9F2-028F-7F27180C3FD1}"/>
              </a:ext>
            </a:extLst>
          </p:cNvPr>
          <p:cNvSpPr>
            <a:spLocks noGrp="1"/>
          </p:cNvSpPr>
          <p:nvPr>
            <p:ph type="sldNum" sz="quarter" idx="5"/>
          </p:nvPr>
        </p:nvSpPr>
        <p:spPr/>
        <p:txBody>
          <a:bodyPr/>
          <a:lstStyle/>
          <a:p>
            <a:fld id="{D0494FFB-5E3A-7C40-9E97-20C634CEF336}" type="slidenum">
              <a:rPr lang="en-US" smtClean="0"/>
              <a:t>7</a:t>
            </a:fld>
            <a:endParaRPr lang="en-US"/>
          </a:p>
        </p:txBody>
      </p:sp>
    </p:spTree>
    <p:extLst>
      <p:ext uri="{BB962C8B-B14F-4D97-AF65-F5344CB8AC3E}">
        <p14:creationId xmlns:p14="http://schemas.microsoft.com/office/powerpoint/2010/main" val="13107783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5B24C-AE9F-BA6F-DADF-371BE4CA3F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DD8F50-0D44-B3B0-D504-54E487749F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774724-3F7E-1F4D-6C46-446A4E6331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FE9A177-DBCE-3713-4D9E-7752F2FEC4E0}"/>
              </a:ext>
            </a:extLst>
          </p:cNvPr>
          <p:cNvSpPr>
            <a:spLocks noGrp="1"/>
          </p:cNvSpPr>
          <p:nvPr>
            <p:ph type="sldNum" sz="quarter" idx="5"/>
          </p:nvPr>
        </p:nvSpPr>
        <p:spPr/>
        <p:txBody>
          <a:bodyPr/>
          <a:lstStyle/>
          <a:p>
            <a:fld id="{D0494FFB-5E3A-7C40-9E97-20C634CEF336}" type="slidenum">
              <a:rPr lang="en-US" smtClean="0"/>
              <a:t>8</a:t>
            </a:fld>
            <a:endParaRPr lang="en-US"/>
          </a:p>
        </p:txBody>
      </p:sp>
    </p:spTree>
    <p:extLst>
      <p:ext uri="{BB962C8B-B14F-4D97-AF65-F5344CB8AC3E}">
        <p14:creationId xmlns:p14="http://schemas.microsoft.com/office/powerpoint/2010/main" val="32728920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0AE25-166C-D2AE-86C6-1D8AC64682E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0385A4A-3E29-EC30-60ED-41FD83296F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FE268F1-B426-F937-23A2-9D9F7BB2FA14}"/>
              </a:ext>
            </a:extLst>
          </p:cNvPr>
          <p:cNvSpPr>
            <a:spLocks noGrp="1"/>
          </p:cNvSpPr>
          <p:nvPr>
            <p:ph type="dt" sz="half" idx="10"/>
          </p:nvPr>
        </p:nvSpPr>
        <p:spPr/>
        <p:txBody>
          <a:bodyPr/>
          <a:lstStyle/>
          <a:p>
            <a:fld id="{D1B67388-5E83-8843-B620-EC1D735B2C7E}" type="datetimeFigureOut">
              <a:rPr lang="en-US" smtClean="0"/>
              <a:t>12/11/25</a:t>
            </a:fld>
            <a:endParaRPr lang="en-US"/>
          </a:p>
        </p:txBody>
      </p:sp>
      <p:sp>
        <p:nvSpPr>
          <p:cNvPr id="5" name="Footer Placeholder 4">
            <a:extLst>
              <a:ext uri="{FF2B5EF4-FFF2-40B4-BE49-F238E27FC236}">
                <a16:creationId xmlns:a16="http://schemas.microsoft.com/office/drawing/2014/main" id="{5D6CECCD-F563-03CE-F33D-136D91A85E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63C102-449D-3012-0C40-EACD2CC4990C}"/>
              </a:ext>
            </a:extLst>
          </p:cNvPr>
          <p:cNvSpPr>
            <a:spLocks noGrp="1"/>
          </p:cNvSpPr>
          <p:nvPr>
            <p:ph type="sldNum" sz="quarter" idx="12"/>
          </p:nvPr>
        </p:nvSpPr>
        <p:spPr/>
        <p:txBody>
          <a:bodyPr/>
          <a:lstStyle/>
          <a:p>
            <a:fld id="{BD21F564-5BBB-E34D-9334-EE9CB567BEF0}" type="slidenum">
              <a:rPr lang="en-US" smtClean="0"/>
              <a:t>‹#›</a:t>
            </a:fld>
            <a:endParaRPr lang="en-US"/>
          </a:p>
        </p:txBody>
      </p:sp>
    </p:spTree>
    <p:extLst>
      <p:ext uri="{BB962C8B-B14F-4D97-AF65-F5344CB8AC3E}">
        <p14:creationId xmlns:p14="http://schemas.microsoft.com/office/powerpoint/2010/main" val="17397358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14321-341F-B496-3C4B-7EFAA2F8187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828FDB-5710-CEC4-7D78-336DB6DEAF3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CF9982-D068-822F-41ED-7B7774AF8B70}"/>
              </a:ext>
            </a:extLst>
          </p:cNvPr>
          <p:cNvSpPr>
            <a:spLocks noGrp="1"/>
          </p:cNvSpPr>
          <p:nvPr>
            <p:ph type="dt" sz="half" idx="10"/>
          </p:nvPr>
        </p:nvSpPr>
        <p:spPr/>
        <p:txBody>
          <a:bodyPr/>
          <a:lstStyle/>
          <a:p>
            <a:fld id="{D1B67388-5E83-8843-B620-EC1D735B2C7E}" type="datetimeFigureOut">
              <a:rPr lang="en-US" smtClean="0"/>
              <a:t>12/11/25</a:t>
            </a:fld>
            <a:endParaRPr lang="en-US"/>
          </a:p>
        </p:txBody>
      </p:sp>
      <p:sp>
        <p:nvSpPr>
          <p:cNvPr id="5" name="Footer Placeholder 4">
            <a:extLst>
              <a:ext uri="{FF2B5EF4-FFF2-40B4-BE49-F238E27FC236}">
                <a16:creationId xmlns:a16="http://schemas.microsoft.com/office/drawing/2014/main" id="{41A1E341-358B-01B0-B693-BC359D1B4B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047575-A31F-7300-87F1-108919E09FCC}"/>
              </a:ext>
            </a:extLst>
          </p:cNvPr>
          <p:cNvSpPr>
            <a:spLocks noGrp="1"/>
          </p:cNvSpPr>
          <p:nvPr>
            <p:ph type="sldNum" sz="quarter" idx="12"/>
          </p:nvPr>
        </p:nvSpPr>
        <p:spPr/>
        <p:txBody>
          <a:bodyPr/>
          <a:lstStyle/>
          <a:p>
            <a:fld id="{BD21F564-5BBB-E34D-9334-EE9CB567BEF0}" type="slidenum">
              <a:rPr lang="en-US" smtClean="0"/>
              <a:t>‹#›</a:t>
            </a:fld>
            <a:endParaRPr lang="en-US"/>
          </a:p>
        </p:txBody>
      </p:sp>
    </p:spTree>
    <p:extLst>
      <p:ext uri="{BB962C8B-B14F-4D97-AF65-F5344CB8AC3E}">
        <p14:creationId xmlns:p14="http://schemas.microsoft.com/office/powerpoint/2010/main" val="24634397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AAA4E-5B8C-7773-A27F-70D865BA345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02D728F-BD9F-2CCA-A841-BE1450E0DBE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E67C9A8-FFFC-02D9-3E06-9F940A3830F7}"/>
              </a:ext>
            </a:extLst>
          </p:cNvPr>
          <p:cNvSpPr>
            <a:spLocks noGrp="1"/>
          </p:cNvSpPr>
          <p:nvPr>
            <p:ph type="dt" sz="half" idx="10"/>
          </p:nvPr>
        </p:nvSpPr>
        <p:spPr/>
        <p:txBody>
          <a:bodyPr/>
          <a:lstStyle/>
          <a:p>
            <a:fld id="{D1B67388-5E83-8843-B620-EC1D735B2C7E}" type="datetimeFigureOut">
              <a:rPr lang="en-US" smtClean="0"/>
              <a:t>12/11/25</a:t>
            </a:fld>
            <a:endParaRPr lang="en-US"/>
          </a:p>
        </p:txBody>
      </p:sp>
      <p:sp>
        <p:nvSpPr>
          <p:cNvPr id="5" name="Footer Placeholder 4">
            <a:extLst>
              <a:ext uri="{FF2B5EF4-FFF2-40B4-BE49-F238E27FC236}">
                <a16:creationId xmlns:a16="http://schemas.microsoft.com/office/drawing/2014/main" id="{7CD708DF-9200-CEB8-AABC-C936BE2784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B174B7-013E-A38A-FBD0-E5808C1A7FA3}"/>
              </a:ext>
            </a:extLst>
          </p:cNvPr>
          <p:cNvSpPr>
            <a:spLocks noGrp="1"/>
          </p:cNvSpPr>
          <p:nvPr>
            <p:ph type="sldNum" sz="quarter" idx="12"/>
          </p:nvPr>
        </p:nvSpPr>
        <p:spPr/>
        <p:txBody>
          <a:bodyPr/>
          <a:lstStyle/>
          <a:p>
            <a:fld id="{BD21F564-5BBB-E34D-9334-EE9CB567BEF0}" type="slidenum">
              <a:rPr lang="en-US" smtClean="0"/>
              <a:t>‹#›</a:t>
            </a:fld>
            <a:endParaRPr lang="en-US"/>
          </a:p>
        </p:txBody>
      </p:sp>
    </p:spTree>
    <p:extLst>
      <p:ext uri="{BB962C8B-B14F-4D97-AF65-F5344CB8AC3E}">
        <p14:creationId xmlns:p14="http://schemas.microsoft.com/office/powerpoint/2010/main" val="17415531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E88CB-F018-71D5-F1CD-581571C35AA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401936E-0162-B369-1F51-98373E7FAFD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B5EBC77-D2F2-0989-C58F-CE66EF5570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6C8245C-9496-0A9A-6C13-0EE69F7E4898}"/>
              </a:ext>
            </a:extLst>
          </p:cNvPr>
          <p:cNvSpPr>
            <a:spLocks noGrp="1"/>
          </p:cNvSpPr>
          <p:nvPr>
            <p:ph type="dt" sz="half" idx="10"/>
          </p:nvPr>
        </p:nvSpPr>
        <p:spPr/>
        <p:txBody>
          <a:bodyPr/>
          <a:lstStyle/>
          <a:p>
            <a:fld id="{D1B67388-5E83-8843-B620-EC1D735B2C7E}" type="datetimeFigureOut">
              <a:rPr lang="en-US" smtClean="0"/>
              <a:t>12/11/25</a:t>
            </a:fld>
            <a:endParaRPr lang="en-US"/>
          </a:p>
        </p:txBody>
      </p:sp>
      <p:sp>
        <p:nvSpPr>
          <p:cNvPr id="6" name="Footer Placeholder 5">
            <a:extLst>
              <a:ext uri="{FF2B5EF4-FFF2-40B4-BE49-F238E27FC236}">
                <a16:creationId xmlns:a16="http://schemas.microsoft.com/office/drawing/2014/main" id="{15C4D3E9-4489-50AF-A379-E6134B11CC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BD4834-4674-90B9-67D5-C822C0BB6822}"/>
              </a:ext>
            </a:extLst>
          </p:cNvPr>
          <p:cNvSpPr>
            <a:spLocks noGrp="1"/>
          </p:cNvSpPr>
          <p:nvPr>
            <p:ph type="sldNum" sz="quarter" idx="12"/>
          </p:nvPr>
        </p:nvSpPr>
        <p:spPr/>
        <p:txBody>
          <a:bodyPr/>
          <a:lstStyle/>
          <a:p>
            <a:fld id="{BD21F564-5BBB-E34D-9334-EE9CB567BEF0}" type="slidenum">
              <a:rPr lang="en-US" smtClean="0"/>
              <a:t>‹#›</a:t>
            </a:fld>
            <a:endParaRPr lang="en-US"/>
          </a:p>
        </p:txBody>
      </p:sp>
    </p:spTree>
    <p:extLst>
      <p:ext uri="{BB962C8B-B14F-4D97-AF65-F5344CB8AC3E}">
        <p14:creationId xmlns:p14="http://schemas.microsoft.com/office/powerpoint/2010/main" val="4125133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D942D-2898-852A-3098-AE5A884F1F6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0F63F42-2B44-94AB-10E6-BB5F2ADF3D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FB0B5FB-D72B-2778-27C0-92ADC18968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1F3D10-FC1A-1ABF-FFE2-E20F651B30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D09CDB4-4F05-8EAB-A069-8F4AB41BF90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D83C7B0-3A41-7A3D-9E4B-F90B941EA65C}"/>
              </a:ext>
            </a:extLst>
          </p:cNvPr>
          <p:cNvSpPr>
            <a:spLocks noGrp="1"/>
          </p:cNvSpPr>
          <p:nvPr>
            <p:ph type="dt" sz="half" idx="10"/>
          </p:nvPr>
        </p:nvSpPr>
        <p:spPr/>
        <p:txBody>
          <a:bodyPr/>
          <a:lstStyle/>
          <a:p>
            <a:fld id="{D1B67388-5E83-8843-B620-EC1D735B2C7E}" type="datetimeFigureOut">
              <a:rPr lang="en-US" smtClean="0"/>
              <a:t>12/11/25</a:t>
            </a:fld>
            <a:endParaRPr lang="en-US"/>
          </a:p>
        </p:txBody>
      </p:sp>
      <p:sp>
        <p:nvSpPr>
          <p:cNvPr id="8" name="Footer Placeholder 7">
            <a:extLst>
              <a:ext uri="{FF2B5EF4-FFF2-40B4-BE49-F238E27FC236}">
                <a16:creationId xmlns:a16="http://schemas.microsoft.com/office/drawing/2014/main" id="{A6152A96-E293-F75F-E543-D09D8C26575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C40E096-96A3-608E-898D-686B74CA5721}"/>
              </a:ext>
            </a:extLst>
          </p:cNvPr>
          <p:cNvSpPr>
            <a:spLocks noGrp="1"/>
          </p:cNvSpPr>
          <p:nvPr>
            <p:ph type="sldNum" sz="quarter" idx="12"/>
          </p:nvPr>
        </p:nvSpPr>
        <p:spPr/>
        <p:txBody>
          <a:bodyPr/>
          <a:lstStyle/>
          <a:p>
            <a:fld id="{BD21F564-5BBB-E34D-9334-EE9CB567BEF0}" type="slidenum">
              <a:rPr lang="en-US" smtClean="0"/>
              <a:t>‹#›</a:t>
            </a:fld>
            <a:endParaRPr lang="en-US"/>
          </a:p>
        </p:txBody>
      </p:sp>
    </p:spTree>
    <p:extLst>
      <p:ext uri="{BB962C8B-B14F-4D97-AF65-F5344CB8AC3E}">
        <p14:creationId xmlns:p14="http://schemas.microsoft.com/office/powerpoint/2010/main" val="37496663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DA8D7-F28A-68F1-61EC-CD439C9FFAE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BA2E458-4CA2-51AF-3236-D32D56827867}"/>
              </a:ext>
            </a:extLst>
          </p:cNvPr>
          <p:cNvSpPr>
            <a:spLocks noGrp="1"/>
          </p:cNvSpPr>
          <p:nvPr>
            <p:ph type="dt" sz="half" idx="10"/>
          </p:nvPr>
        </p:nvSpPr>
        <p:spPr/>
        <p:txBody>
          <a:bodyPr/>
          <a:lstStyle/>
          <a:p>
            <a:fld id="{D1B67388-5E83-8843-B620-EC1D735B2C7E}" type="datetimeFigureOut">
              <a:rPr lang="en-US" smtClean="0"/>
              <a:t>12/11/25</a:t>
            </a:fld>
            <a:endParaRPr lang="en-US"/>
          </a:p>
        </p:txBody>
      </p:sp>
      <p:sp>
        <p:nvSpPr>
          <p:cNvPr id="4" name="Footer Placeholder 3">
            <a:extLst>
              <a:ext uri="{FF2B5EF4-FFF2-40B4-BE49-F238E27FC236}">
                <a16:creationId xmlns:a16="http://schemas.microsoft.com/office/drawing/2014/main" id="{A55FA354-4166-C56E-A255-D04AF5071A7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137A4F7-D12B-5D2F-8B74-22C6AF85299D}"/>
              </a:ext>
            </a:extLst>
          </p:cNvPr>
          <p:cNvSpPr>
            <a:spLocks noGrp="1"/>
          </p:cNvSpPr>
          <p:nvPr>
            <p:ph type="sldNum" sz="quarter" idx="12"/>
          </p:nvPr>
        </p:nvSpPr>
        <p:spPr/>
        <p:txBody>
          <a:bodyPr/>
          <a:lstStyle/>
          <a:p>
            <a:fld id="{BD21F564-5BBB-E34D-9334-EE9CB567BEF0}" type="slidenum">
              <a:rPr lang="en-US" smtClean="0"/>
              <a:t>‹#›</a:t>
            </a:fld>
            <a:endParaRPr lang="en-US"/>
          </a:p>
        </p:txBody>
      </p:sp>
    </p:spTree>
    <p:extLst>
      <p:ext uri="{BB962C8B-B14F-4D97-AF65-F5344CB8AC3E}">
        <p14:creationId xmlns:p14="http://schemas.microsoft.com/office/powerpoint/2010/main" val="39160516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BC0C29-D20E-9059-8819-EA854B4CB0B6}"/>
              </a:ext>
            </a:extLst>
          </p:cNvPr>
          <p:cNvSpPr>
            <a:spLocks noGrp="1"/>
          </p:cNvSpPr>
          <p:nvPr>
            <p:ph type="dt" sz="half" idx="10"/>
          </p:nvPr>
        </p:nvSpPr>
        <p:spPr/>
        <p:txBody>
          <a:bodyPr/>
          <a:lstStyle/>
          <a:p>
            <a:fld id="{D1B67388-5E83-8843-B620-EC1D735B2C7E}" type="datetimeFigureOut">
              <a:rPr lang="en-US" smtClean="0"/>
              <a:t>12/11/25</a:t>
            </a:fld>
            <a:endParaRPr lang="en-US"/>
          </a:p>
        </p:txBody>
      </p:sp>
      <p:sp>
        <p:nvSpPr>
          <p:cNvPr id="3" name="Footer Placeholder 2">
            <a:extLst>
              <a:ext uri="{FF2B5EF4-FFF2-40B4-BE49-F238E27FC236}">
                <a16:creationId xmlns:a16="http://schemas.microsoft.com/office/drawing/2014/main" id="{0421E465-9EB8-EEBD-F1B7-9F28151AB86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C5D9FE8-D76E-280F-83E3-E2F7DFBA689C}"/>
              </a:ext>
            </a:extLst>
          </p:cNvPr>
          <p:cNvSpPr>
            <a:spLocks noGrp="1"/>
          </p:cNvSpPr>
          <p:nvPr>
            <p:ph type="sldNum" sz="quarter" idx="12"/>
          </p:nvPr>
        </p:nvSpPr>
        <p:spPr/>
        <p:txBody>
          <a:bodyPr/>
          <a:lstStyle/>
          <a:p>
            <a:fld id="{BD21F564-5BBB-E34D-9334-EE9CB567BEF0}" type="slidenum">
              <a:rPr lang="en-US" smtClean="0"/>
              <a:t>‹#›</a:t>
            </a:fld>
            <a:endParaRPr lang="en-US"/>
          </a:p>
        </p:txBody>
      </p:sp>
    </p:spTree>
    <p:extLst>
      <p:ext uri="{BB962C8B-B14F-4D97-AF65-F5344CB8AC3E}">
        <p14:creationId xmlns:p14="http://schemas.microsoft.com/office/powerpoint/2010/main" val="5389544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E4122-8198-8D83-F447-BF42446DCD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61FEB65-E309-A3B8-EF92-3B15F6F9A9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D549E77-1AAA-7F9B-00C3-961658131D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9ED479-9B22-38D1-02CB-AC23CE909E7E}"/>
              </a:ext>
            </a:extLst>
          </p:cNvPr>
          <p:cNvSpPr>
            <a:spLocks noGrp="1"/>
          </p:cNvSpPr>
          <p:nvPr>
            <p:ph type="dt" sz="half" idx="10"/>
          </p:nvPr>
        </p:nvSpPr>
        <p:spPr/>
        <p:txBody>
          <a:bodyPr/>
          <a:lstStyle/>
          <a:p>
            <a:fld id="{D1B67388-5E83-8843-B620-EC1D735B2C7E}" type="datetimeFigureOut">
              <a:rPr lang="en-US" smtClean="0"/>
              <a:t>12/11/25</a:t>
            </a:fld>
            <a:endParaRPr lang="en-US"/>
          </a:p>
        </p:txBody>
      </p:sp>
      <p:sp>
        <p:nvSpPr>
          <p:cNvPr id="6" name="Footer Placeholder 5">
            <a:extLst>
              <a:ext uri="{FF2B5EF4-FFF2-40B4-BE49-F238E27FC236}">
                <a16:creationId xmlns:a16="http://schemas.microsoft.com/office/drawing/2014/main" id="{3A0EDEE3-5973-A7B0-46F8-6EF0F86A90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B2F5B5-B8EE-1F0B-C93C-AFD39C26D47D}"/>
              </a:ext>
            </a:extLst>
          </p:cNvPr>
          <p:cNvSpPr>
            <a:spLocks noGrp="1"/>
          </p:cNvSpPr>
          <p:nvPr>
            <p:ph type="sldNum" sz="quarter" idx="12"/>
          </p:nvPr>
        </p:nvSpPr>
        <p:spPr/>
        <p:txBody>
          <a:bodyPr/>
          <a:lstStyle/>
          <a:p>
            <a:fld id="{BD21F564-5BBB-E34D-9334-EE9CB567BEF0}" type="slidenum">
              <a:rPr lang="en-US" smtClean="0"/>
              <a:t>‹#›</a:t>
            </a:fld>
            <a:endParaRPr lang="en-US"/>
          </a:p>
        </p:txBody>
      </p:sp>
    </p:spTree>
    <p:extLst>
      <p:ext uri="{BB962C8B-B14F-4D97-AF65-F5344CB8AC3E}">
        <p14:creationId xmlns:p14="http://schemas.microsoft.com/office/powerpoint/2010/main" val="645058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94D89-3064-28AA-ECDE-063896E13B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A8E1840-F047-2CE5-C3AF-637C07527B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EFCD7FA-8CB6-6CE3-059B-EBA61BD331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3F3571-6404-AC4D-A09E-49C537496176}"/>
              </a:ext>
            </a:extLst>
          </p:cNvPr>
          <p:cNvSpPr>
            <a:spLocks noGrp="1"/>
          </p:cNvSpPr>
          <p:nvPr>
            <p:ph type="dt" sz="half" idx="10"/>
          </p:nvPr>
        </p:nvSpPr>
        <p:spPr/>
        <p:txBody>
          <a:bodyPr/>
          <a:lstStyle/>
          <a:p>
            <a:fld id="{D1B67388-5E83-8843-B620-EC1D735B2C7E}" type="datetimeFigureOut">
              <a:rPr lang="en-US" smtClean="0"/>
              <a:t>12/11/25</a:t>
            </a:fld>
            <a:endParaRPr lang="en-US"/>
          </a:p>
        </p:txBody>
      </p:sp>
      <p:sp>
        <p:nvSpPr>
          <p:cNvPr id="6" name="Footer Placeholder 5">
            <a:extLst>
              <a:ext uri="{FF2B5EF4-FFF2-40B4-BE49-F238E27FC236}">
                <a16:creationId xmlns:a16="http://schemas.microsoft.com/office/drawing/2014/main" id="{571304C6-A96F-D5EC-BFC3-BACE8C9027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FD3EB47-6796-2171-8896-5AC83AF6D7D4}"/>
              </a:ext>
            </a:extLst>
          </p:cNvPr>
          <p:cNvSpPr>
            <a:spLocks noGrp="1"/>
          </p:cNvSpPr>
          <p:nvPr>
            <p:ph type="sldNum" sz="quarter" idx="12"/>
          </p:nvPr>
        </p:nvSpPr>
        <p:spPr/>
        <p:txBody>
          <a:bodyPr/>
          <a:lstStyle/>
          <a:p>
            <a:fld id="{BD21F564-5BBB-E34D-9334-EE9CB567BEF0}" type="slidenum">
              <a:rPr lang="en-US" smtClean="0"/>
              <a:t>‹#›</a:t>
            </a:fld>
            <a:endParaRPr lang="en-US"/>
          </a:p>
        </p:txBody>
      </p:sp>
    </p:spTree>
    <p:extLst>
      <p:ext uri="{BB962C8B-B14F-4D97-AF65-F5344CB8AC3E}">
        <p14:creationId xmlns:p14="http://schemas.microsoft.com/office/powerpoint/2010/main" val="1085417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88E7E-42A1-124B-A340-A845754C0A1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BE7ACDC-8F23-C71E-7DBA-F0BD5985460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B10F0C-DEDB-6082-694C-779BD4E1A250}"/>
              </a:ext>
            </a:extLst>
          </p:cNvPr>
          <p:cNvSpPr>
            <a:spLocks noGrp="1"/>
          </p:cNvSpPr>
          <p:nvPr>
            <p:ph type="dt" sz="half" idx="10"/>
          </p:nvPr>
        </p:nvSpPr>
        <p:spPr/>
        <p:txBody>
          <a:bodyPr/>
          <a:lstStyle/>
          <a:p>
            <a:fld id="{D1B67388-5E83-8843-B620-EC1D735B2C7E}" type="datetimeFigureOut">
              <a:rPr lang="en-US" smtClean="0"/>
              <a:t>12/11/25</a:t>
            </a:fld>
            <a:endParaRPr lang="en-US"/>
          </a:p>
        </p:txBody>
      </p:sp>
      <p:sp>
        <p:nvSpPr>
          <p:cNvPr id="5" name="Footer Placeholder 4">
            <a:extLst>
              <a:ext uri="{FF2B5EF4-FFF2-40B4-BE49-F238E27FC236}">
                <a16:creationId xmlns:a16="http://schemas.microsoft.com/office/drawing/2014/main" id="{3E4513C5-5DFF-C56E-D9F9-C50B414B2F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779B13-9D49-51A5-4EE2-02D4451F4961}"/>
              </a:ext>
            </a:extLst>
          </p:cNvPr>
          <p:cNvSpPr>
            <a:spLocks noGrp="1"/>
          </p:cNvSpPr>
          <p:nvPr>
            <p:ph type="sldNum" sz="quarter" idx="12"/>
          </p:nvPr>
        </p:nvSpPr>
        <p:spPr/>
        <p:txBody>
          <a:bodyPr/>
          <a:lstStyle/>
          <a:p>
            <a:fld id="{BD21F564-5BBB-E34D-9334-EE9CB567BEF0}" type="slidenum">
              <a:rPr lang="en-US" smtClean="0"/>
              <a:t>‹#›</a:t>
            </a:fld>
            <a:endParaRPr lang="en-US"/>
          </a:p>
        </p:txBody>
      </p:sp>
    </p:spTree>
    <p:extLst>
      <p:ext uri="{BB962C8B-B14F-4D97-AF65-F5344CB8AC3E}">
        <p14:creationId xmlns:p14="http://schemas.microsoft.com/office/powerpoint/2010/main" val="12143542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B29699-E6B2-2EFA-5E96-78EB6DC8B14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4631091-489E-7FD3-81CB-94DB430C310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A92EFB-9750-2941-C9DA-A9920881F263}"/>
              </a:ext>
            </a:extLst>
          </p:cNvPr>
          <p:cNvSpPr>
            <a:spLocks noGrp="1"/>
          </p:cNvSpPr>
          <p:nvPr>
            <p:ph type="dt" sz="half" idx="10"/>
          </p:nvPr>
        </p:nvSpPr>
        <p:spPr/>
        <p:txBody>
          <a:bodyPr/>
          <a:lstStyle/>
          <a:p>
            <a:fld id="{D1B67388-5E83-8843-B620-EC1D735B2C7E}" type="datetimeFigureOut">
              <a:rPr lang="en-US" smtClean="0"/>
              <a:t>12/11/25</a:t>
            </a:fld>
            <a:endParaRPr lang="en-US"/>
          </a:p>
        </p:txBody>
      </p:sp>
      <p:sp>
        <p:nvSpPr>
          <p:cNvPr id="5" name="Footer Placeholder 4">
            <a:extLst>
              <a:ext uri="{FF2B5EF4-FFF2-40B4-BE49-F238E27FC236}">
                <a16:creationId xmlns:a16="http://schemas.microsoft.com/office/drawing/2014/main" id="{BF51A9FA-50A8-325A-ABC7-CC637A4035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0D9DD4-1DDA-E57A-3043-FF32BF011AA4}"/>
              </a:ext>
            </a:extLst>
          </p:cNvPr>
          <p:cNvSpPr>
            <a:spLocks noGrp="1"/>
          </p:cNvSpPr>
          <p:nvPr>
            <p:ph type="sldNum" sz="quarter" idx="12"/>
          </p:nvPr>
        </p:nvSpPr>
        <p:spPr/>
        <p:txBody>
          <a:bodyPr/>
          <a:lstStyle/>
          <a:p>
            <a:fld id="{BD21F564-5BBB-E34D-9334-EE9CB567BEF0}" type="slidenum">
              <a:rPr lang="en-US" smtClean="0"/>
              <a:t>‹#›</a:t>
            </a:fld>
            <a:endParaRPr lang="en-US"/>
          </a:p>
        </p:txBody>
      </p:sp>
    </p:spTree>
    <p:extLst>
      <p:ext uri="{BB962C8B-B14F-4D97-AF65-F5344CB8AC3E}">
        <p14:creationId xmlns:p14="http://schemas.microsoft.com/office/powerpoint/2010/main" val="23459986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F4B1E1-7864-2822-6D2A-1C716A2DFD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D240F72-E965-023F-563E-94F6713507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CF527B-6762-99F4-EEBB-C63282DB61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1B67388-5E83-8843-B620-EC1D735B2C7E}" type="datetimeFigureOut">
              <a:rPr lang="en-US" smtClean="0"/>
              <a:t>12/11/25</a:t>
            </a:fld>
            <a:endParaRPr lang="en-US"/>
          </a:p>
        </p:txBody>
      </p:sp>
      <p:sp>
        <p:nvSpPr>
          <p:cNvPr id="5" name="Footer Placeholder 4">
            <a:extLst>
              <a:ext uri="{FF2B5EF4-FFF2-40B4-BE49-F238E27FC236}">
                <a16:creationId xmlns:a16="http://schemas.microsoft.com/office/drawing/2014/main" id="{86E5CC9B-25F3-3A7F-7C8B-81B7C3CAB63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2A18A92-8073-458D-50A3-3AAF89DBEA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D21F564-5BBB-E34D-9334-EE9CB567BEF0}" type="slidenum">
              <a:rPr lang="en-US" smtClean="0"/>
              <a:t>‹#›</a:t>
            </a:fld>
            <a:endParaRPr lang="en-US"/>
          </a:p>
        </p:txBody>
      </p:sp>
    </p:spTree>
    <p:extLst>
      <p:ext uri="{BB962C8B-B14F-4D97-AF65-F5344CB8AC3E}">
        <p14:creationId xmlns:p14="http://schemas.microsoft.com/office/powerpoint/2010/main" val="20866896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74751229-0244-4FBB-BED1-407467F4C9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C22667-4C32-25D0-CCE6-CA9E564395D2}"/>
              </a:ext>
            </a:extLst>
          </p:cNvPr>
          <p:cNvSpPr>
            <a:spLocks noGrp="1"/>
          </p:cNvSpPr>
          <p:nvPr>
            <p:ph type="ctrTitle"/>
          </p:nvPr>
        </p:nvSpPr>
        <p:spPr>
          <a:xfrm>
            <a:off x="2197101" y="735283"/>
            <a:ext cx="4978399" cy="3165045"/>
          </a:xfrm>
        </p:spPr>
        <p:txBody>
          <a:bodyPr anchor="b">
            <a:normAutofit/>
          </a:bodyPr>
          <a:lstStyle/>
          <a:p>
            <a:pPr algn="l"/>
            <a:r>
              <a:rPr lang="en-US" sz="4400" dirty="0"/>
              <a:t>NFL Play-By-Play Models</a:t>
            </a:r>
          </a:p>
        </p:txBody>
      </p:sp>
      <p:sp>
        <p:nvSpPr>
          <p:cNvPr id="3" name="Subtitle 2">
            <a:extLst>
              <a:ext uri="{FF2B5EF4-FFF2-40B4-BE49-F238E27FC236}">
                <a16:creationId xmlns:a16="http://schemas.microsoft.com/office/drawing/2014/main" id="{45E69B81-BF4E-C6A1-FA75-225CE129FC6C}"/>
              </a:ext>
            </a:extLst>
          </p:cNvPr>
          <p:cNvSpPr>
            <a:spLocks noGrp="1"/>
          </p:cNvSpPr>
          <p:nvPr>
            <p:ph type="subTitle" idx="1"/>
          </p:nvPr>
        </p:nvSpPr>
        <p:spPr>
          <a:xfrm>
            <a:off x="2197101" y="4078423"/>
            <a:ext cx="4978399" cy="2058657"/>
          </a:xfrm>
        </p:spPr>
        <p:txBody>
          <a:bodyPr>
            <a:normAutofit/>
          </a:bodyPr>
          <a:lstStyle/>
          <a:p>
            <a:pPr algn="l"/>
            <a:r>
              <a:rPr lang="en-US" dirty="0"/>
              <a:t>By Andrew Wolfe</a:t>
            </a:r>
          </a:p>
          <a:p>
            <a:pPr algn="l"/>
            <a:r>
              <a:rPr lang="en-US" dirty="0"/>
              <a:t>December 2025</a:t>
            </a:r>
          </a:p>
        </p:txBody>
      </p:sp>
      <p:pic>
        <p:nvPicPr>
          <p:cNvPr id="7" name="Graphic 6" descr="Football">
            <a:extLst>
              <a:ext uri="{FF2B5EF4-FFF2-40B4-BE49-F238E27FC236}">
                <a16:creationId xmlns:a16="http://schemas.microsoft.com/office/drawing/2014/main" id="{C9530FF9-589A-B5FE-A859-EED61E0364A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7549" y="2776619"/>
            <a:ext cx="1289051" cy="1289051"/>
          </a:xfrm>
          <a:prstGeom prst="rect">
            <a:avLst/>
          </a:prstGeom>
        </p:spPr>
      </p:pic>
      <p:pic>
        <p:nvPicPr>
          <p:cNvPr id="9" name="Graphic 8" descr="Football">
            <a:extLst>
              <a:ext uri="{FF2B5EF4-FFF2-40B4-BE49-F238E27FC236}">
                <a16:creationId xmlns:a16="http://schemas.microsoft.com/office/drawing/2014/main" id="{4D65CF52-BC27-4660-B492-6626146210A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07815" y="716407"/>
            <a:ext cx="5411343" cy="5411343"/>
          </a:xfrm>
          <a:prstGeom prst="rect">
            <a:avLst/>
          </a:prstGeom>
        </p:spPr>
      </p:pic>
    </p:spTree>
    <p:extLst>
      <p:ext uri="{BB962C8B-B14F-4D97-AF65-F5344CB8AC3E}">
        <p14:creationId xmlns:p14="http://schemas.microsoft.com/office/powerpoint/2010/main" val="18201166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8B146-3CBC-5D9B-900E-20124543E9A1}"/>
              </a:ext>
            </a:extLst>
          </p:cNvPr>
          <p:cNvSpPr>
            <a:spLocks noGrp="1"/>
          </p:cNvSpPr>
          <p:nvPr>
            <p:ph type="title"/>
          </p:nvPr>
        </p:nvSpPr>
        <p:spPr>
          <a:xfrm>
            <a:off x="940675" y="428476"/>
            <a:ext cx="9895951" cy="1033669"/>
          </a:xfrm>
        </p:spPr>
        <p:txBody>
          <a:bodyPr>
            <a:normAutofit fontScale="90000"/>
          </a:bodyPr>
          <a:lstStyle/>
          <a:p>
            <a:br>
              <a:rPr lang="en-US" sz="4000" dirty="0">
                <a:solidFill>
                  <a:srgbClr val="FFFFFF"/>
                </a:solidFill>
              </a:rPr>
            </a:br>
            <a:r>
              <a:rPr lang="en-US" sz="4000" dirty="0">
                <a:solidFill>
                  <a:srgbClr val="FFFFFF"/>
                </a:solidFill>
              </a:rPr>
              <a:t>Salary Worth Report – Summary</a:t>
            </a:r>
          </a:p>
        </p:txBody>
      </p:sp>
      <p:sp>
        <p:nvSpPr>
          <p:cNvPr id="4" name="TextBox 3">
            <a:extLst>
              <a:ext uri="{FF2B5EF4-FFF2-40B4-BE49-F238E27FC236}">
                <a16:creationId xmlns:a16="http://schemas.microsoft.com/office/drawing/2014/main" id="{B195212F-80DE-9374-A866-B19C31615EBB}"/>
              </a:ext>
            </a:extLst>
          </p:cNvPr>
          <p:cNvSpPr txBox="1"/>
          <p:nvPr/>
        </p:nvSpPr>
        <p:spPr>
          <a:xfrm>
            <a:off x="0" y="1138773"/>
            <a:ext cx="12297103" cy="6093976"/>
          </a:xfrm>
          <a:prstGeom prst="rect">
            <a:avLst/>
          </a:prstGeom>
          <a:noFill/>
        </p:spPr>
        <p:txBody>
          <a:bodyPr wrap="square" rtlCol="0">
            <a:spAutoFit/>
          </a:bodyPr>
          <a:lstStyle/>
          <a:p>
            <a:pPr marL="285750" indent="-285750">
              <a:buFont typeface="Arial" panose="020B0604020202020204" pitchFamily="34" charset="0"/>
              <a:buChar char="•"/>
            </a:pPr>
            <a:r>
              <a:rPr lang="en-US" sz="2000" b="1" dirty="0">
                <a:latin typeface="Tw Cen MT" panose="020B0602020104020603" pitchFamily="34" charset="77"/>
              </a:rPr>
              <a:t>Context: </a:t>
            </a:r>
            <a:r>
              <a:rPr lang="en-US" sz="2000" dirty="0">
                <a:latin typeface="Tw Cen MT" panose="020B0602020104020603" pitchFamily="34" charset="77"/>
              </a:rPr>
              <a:t>Whether it be on national tv broadcasts, in coaching rooms, or front office departments, there are many key aspects on the football field that can be predicted based on the understanding of play success, tendencies, and efficiencies. The three models used in this project were predicting run or pass, first down probability, and completion probability on a given play. By combining these insights, decision-makers have a unified framework for evaluating play-by-play efficiency and measuring success rates. Additionally, these models helped determine which pre-snap statistics are most important for predicting play-by-play outcomes. </a:t>
            </a:r>
          </a:p>
          <a:p>
            <a:pPr marL="285750" indent="-285750">
              <a:buFont typeface="Arial" panose="020B0604020202020204" pitchFamily="34" charset="0"/>
              <a:buChar char="•"/>
            </a:pPr>
            <a:r>
              <a:rPr lang="en-US" sz="2000" b="1" dirty="0">
                <a:latin typeface="Tw Cen MT" panose="020B0602020104020603" pitchFamily="34" charset="77"/>
              </a:rPr>
              <a:t>Dataset: </a:t>
            </a:r>
            <a:r>
              <a:rPr lang="en-US" sz="2000" dirty="0">
                <a:latin typeface="Tw Cen MT" panose="020B0602020104020603" pitchFamily="34" charset="77"/>
              </a:rPr>
              <a:t>The two datasets used during this process were from </a:t>
            </a:r>
            <a:r>
              <a:rPr lang="en-US" sz="2000" dirty="0" err="1">
                <a:latin typeface="Tw Cen MT" panose="020B0602020104020603" pitchFamily="34" charset="77"/>
              </a:rPr>
              <a:t>NFLFastR</a:t>
            </a:r>
            <a:r>
              <a:rPr lang="en-US" sz="2000" dirty="0">
                <a:latin typeface="Tw Cen MT" panose="020B0602020104020603" pitchFamily="34" charset="77"/>
              </a:rPr>
              <a:t>. The datasets were from the 2018-2024 seasons.</a:t>
            </a:r>
            <a:endParaRPr lang="en-US" sz="2000" b="1" dirty="0">
              <a:latin typeface="Tw Cen MT" panose="020B0602020104020603" pitchFamily="34" charset="77"/>
            </a:endParaRPr>
          </a:p>
          <a:p>
            <a:pPr marL="285750" indent="-285750">
              <a:buFont typeface="Arial" panose="020B0604020202020204" pitchFamily="34" charset="0"/>
              <a:buChar char="•"/>
            </a:pPr>
            <a:r>
              <a:rPr lang="en-US" sz="2000" b="1" dirty="0">
                <a:latin typeface="Tw Cen MT" panose="020B0602020104020603" pitchFamily="34" charset="77"/>
              </a:rPr>
              <a:t>Machine Learning Models Used: </a:t>
            </a:r>
            <a:r>
              <a:rPr lang="en-US" sz="2000" dirty="0">
                <a:latin typeface="Tw Cen MT" panose="020B0602020104020603" pitchFamily="34" charset="77"/>
              </a:rPr>
              <a:t>A </a:t>
            </a:r>
            <a:r>
              <a:rPr lang="en-US" sz="2000" dirty="0" err="1">
                <a:latin typeface="Tw Cen MT" panose="020B0602020104020603" pitchFamily="34" charset="77"/>
              </a:rPr>
              <a:t>LightGBM</a:t>
            </a:r>
            <a:r>
              <a:rPr lang="en-US" sz="2000" dirty="0">
                <a:latin typeface="Tw Cen MT" panose="020B0602020104020603" pitchFamily="34" charset="77"/>
              </a:rPr>
              <a:t> model was used for all three models to capture non-linear relationships in regard to play-by-play outcomes. Each of the three models were evaluated through accuracy, AUC, classification, and Log-Loss metrics. Before training and testing the models, a few of the features were standardized and transformed to better capture situational context so that the model had better predictive performance. Moreover, key parameters were used in each of the models (n_estimators, learning_rate, and </a:t>
            </a:r>
            <a:r>
              <a:rPr lang="en-US" sz="2000" dirty="0" err="1">
                <a:latin typeface="Tw Cen MT" panose="020B0602020104020603" pitchFamily="34" charset="77"/>
              </a:rPr>
              <a:t>num_leaves</a:t>
            </a:r>
            <a:r>
              <a:rPr lang="en-US" sz="2000" dirty="0">
                <a:latin typeface="Tw Cen MT" panose="020B0602020104020603" pitchFamily="34" charset="77"/>
              </a:rPr>
              <a:t>) to prevent overfitting and balance model complexity.</a:t>
            </a:r>
            <a:endParaRPr lang="en-US" sz="2000" b="1" dirty="0">
              <a:latin typeface="Tw Cen MT" panose="020B0602020104020603" pitchFamily="34" charset="77"/>
            </a:endParaRPr>
          </a:p>
          <a:p>
            <a:pPr marL="285750" indent="-285750">
              <a:buFont typeface="Arial" panose="020B0604020202020204" pitchFamily="34" charset="0"/>
              <a:buChar char="•"/>
            </a:pPr>
            <a:r>
              <a:rPr lang="en-US" sz="2000" b="1" dirty="0">
                <a:latin typeface="Tw Cen MT" panose="020B0602020104020603" pitchFamily="34" charset="77"/>
              </a:rPr>
              <a:t>Future Implications: </a:t>
            </a:r>
          </a:p>
          <a:p>
            <a:pPr marL="742950" lvl="1" indent="-285750">
              <a:buFont typeface="Arial" panose="020B0604020202020204" pitchFamily="34" charset="0"/>
              <a:buChar char="•"/>
            </a:pPr>
            <a:r>
              <a:rPr lang="en-US" dirty="0">
                <a:latin typeface="Tw Cen MT" panose="020B0602020104020603" pitchFamily="34" charset="77"/>
              </a:rPr>
              <a:t>How can TV and radio broadcasters use these models to provide viewers with real-time insights to enhance their broadcasts?</a:t>
            </a:r>
          </a:p>
          <a:p>
            <a:pPr marL="742950" lvl="1" indent="-285750">
              <a:buFont typeface="Arial" panose="020B0604020202020204" pitchFamily="34" charset="0"/>
              <a:buChar char="•"/>
            </a:pPr>
            <a:r>
              <a:rPr lang="en-US" dirty="0">
                <a:latin typeface="Tw Cen MT" panose="020B0602020104020603" pitchFamily="34" charset="77"/>
              </a:rPr>
              <a:t>How can NFL front offices use these models to identify what statistics most effectively inform and impact offseason roster decisions?</a:t>
            </a:r>
          </a:p>
          <a:p>
            <a:pPr marL="742950" lvl="1" indent="-285750">
              <a:buFont typeface="Arial" panose="020B0604020202020204" pitchFamily="34" charset="0"/>
              <a:buChar char="•"/>
            </a:pPr>
            <a:r>
              <a:rPr lang="en-US" dirty="0">
                <a:latin typeface="Tw Cen MT" panose="020B0602020104020603" pitchFamily="34" charset="77"/>
              </a:rPr>
              <a:t>In what ways can coaches use these models to help identify defensive and offensive strategies and tendencies?</a:t>
            </a:r>
          </a:p>
          <a:p>
            <a:pPr marL="742950" lvl="1" indent="-285750">
              <a:buFont typeface="Arial" panose="020B0604020202020204" pitchFamily="34" charset="0"/>
              <a:buChar char="•"/>
            </a:pPr>
            <a:endParaRPr lang="en-US" dirty="0">
              <a:latin typeface="Tw Cen MT" panose="020B0602020104020603" pitchFamily="34" charset="77"/>
            </a:endParaRPr>
          </a:p>
        </p:txBody>
      </p:sp>
      <p:sp>
        <p:nvSpPr>
          <p:cNvPr id="5" name="TextBox 4">
            <a:extLst>
              <a:ext uri="{FF2B5EF4-FFF2-40B4-BE49-F238E27FC236}">
                <a16:creationId xmlns:a16="http://schemas.microsoft.com/office/drawing/2014/main" id="{4CA1AEF9-0771-3CFB-7AC6-999BECF5C082}"/>
              </a:ext>
            </a:extLst>
          </p:cNvPr>
          <p:cNvSpPr txBox="1"/>
          <p:nvPr/>
        </p:nvSpPr>
        <p:spPr>
          <a:xfrm>
            <a:off x="0" y="0"/>
            <a:ext cx="12192000" cy="1138773"/>
          </a:xfrm>
          <a:prstGeom prst="rect">
            <a:avLst/>
          </a:prstGeom>
          <a:solidFill>
            <a:srgbClr val="002060"/>
          </a:solidFill>
        </p:spPr>
        <p:txBody>
          <a:bodyPr wrap="square" rtlCol="0">
            <a:spAutoFit/>
          </a:bodyPr>
          <a:lstStyle/>
          <a:p>
            <a:pPr algn="ctr"/>
            <a:br>
              <a:rPr lang="en-US" sz="2500" dirty="0">
                <a:solidFill>
                  <a:srgbClr val="FFFFFF"/>
                </a:solidFill>
                <a:latin typeface="+mj-lt"/>
              </a:rPr>
            </a:br>
            <a:r>
              <a:rPr lang="en-US" sz="2500" dirty="0">
                <a:solidFill>
                  <a:srgbClr val="FFFFFF"/>
                </a:solidFill>
                <a:latin typeface="+mj-lt"/>
              </a:rPr>
              <a:t>NFL Play-by-Play – Context</a:t>
            </a:r>
            <a:endParaRPr lang="en-US" sz="2500" b="1" dirty="0">
              <a:latin typeface="+mj-lt"/>
            </a:endParaRPr>
          </a:p>
          <a:p>
            <a:endParaRPr lang="en-US" dirty="0"/>
          </a:p>
        </p:txBody>
      </p:sp>
    </p:spTree>
    <p:extLst>
      <p:ext uri="{BB962C8B-B14F-4D97-AF65-F5344CB8AC3E}">
        <p14:creationId xmlns:p14="http://schemas.microsoft.com/office/powerpoint/2010/main" val="28352923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3C0453-F7B0-DB71-955A-8AF1E8B6CB27}"/>
              </a:ext>
            </a:extLst>
          </p:cNvPr>
          <p:cNvSpPr>
            <a:spLocks noGrp="1"/>
          </p:cNvSpPr>
          <p:nvPr>
            <p:ph idx="1"/>
          </p:nvPr>
        </p:nvSpPr>
        <p:spPr>
          <a:xfrm>
            <a:off x="533400" y="1253331"/>
            <a:ext cx="10515600" cy="4351338"/>
          </a:xfrm>
        </p:spPr>
        <p:txBody>
          <a:bodyPr/>
          <a:lstStyle/>
          <a:p>
            <a:r>
              <a:rPr lang="en-US" sz="1600" b="1" dirty="0">
                <a:latin typeface="Tw Cen MT" panose="020B0602020104020603" pitchFamily="34" charset="77"/>
              </a:rPr>
              <a:t>Target Variables: </a:t>
            </a:r>
            <a:r>
              <a:rPr lang="en-US" sz="1600" dirty="0">
                <a:latin typeface="Tw Cen MT" panose="020B0602020104020603" pitchFamily="34" charset="77"/>
              </a:rPr>
              <a:t>Some of the most important target variables used in the Run or Pass model are noted below:</a:t>
            </a:r>
          </a:p>
          <a:p>
            <a:pPr lvl="1"/>
            <a:endParaRPr lang="en-US" sz="900" dirty="0"/>
          </a:p>
        </p:txBody>
      </p:sp>
      <p:sp>
        <p:nvSpPr>
          <p:cNvPr id="4" name="TextBox 3">
            <a:extLst>
              <a:ext uri="{FF2B5EF4-FFF2-40B4-BE49-F238E27FC236}">
                <a16:creationId xmlns:a16="http://schemas.microsoft.com/office/drawing/2014/main" id="{3AEDA0B0-D07C-7D3A-6522-AD87063C4BA2}"/>
              </a:ext>
            </a:extLst>
          </p:cNvPr>
          <p:cNvSpPr txBox="1"/>
          <p:nvPr/>
        </p:nvSpPr>
        <p:spPr>
          <a:xfrm>
            <a:off x="0" y="0"/>
            <a:ext cx="12192000" cy="1138773"/>
          </a:xfrm>
          <a:prstGeom prst="rect">
            <a:avLst/>
          </a:prstGeom>
          <a:solidFill>
            <a:srgbClr val="002060"/>
          </a:solidFill>
        </p:spPr>
        <p:txBody>
          <a:bodyPr wrap="square" rtlCol="0">
            <a:spAutoFit/>
          </a:bodyPr>
          <a:lstStyle/>
          <a:p>
            <a:pPr algn="ctr"/>
            <a:br>
              <a:rPr lang="en-US" sz="2500" dirty="0">
                <a:solidFill>
                  <a:srgbClr val="FFFFFF"/>
                </a:solidFill>
                <a:latin typeface="+mj-lt"/>
              </a:rPr>
            </a:br>
            <a:r>
              <a:rPr lang="en-US" sz="2500" i="1" u="sng" dirty="0">
                <a:solidFill>
                  <a:srgbClr val="FFFFFF"/>
                </a:solidFill>
                <a:latin typeface="+mj-lt"/>
              </a:rPr>
              <a:t>NFL Run or Pass Model</a:t>
            </a:r>
            <a:r>
              <a:rPr lang="en-US" sz="2500" dirty="0">
                <a:solidFill>
                  <a:srgbClr val="FFFFFF"/>
                </a:solidFill>
                <a:latin typeface="+mj-lt"/>
              </a:rPr>
              <a:t>– Input Variables</a:t>
            </a:r>
            <a:endParaRPr lang="en-US" sz="2500" b="1" dirty="0">
              <a:latin typeface="+mj-lt"/>
            </a:endParaRPr>
          </a:p>
          <a:p>
            <a:endParaRPr lang="en-US" dirty="0"/>
          </a:p>
        </p:txBody>
      </p:sp>
      <p:graphicFrame>
        <p:nvGraphicFramePr>
          <p:cNvPr id="5" name="Table 4">
            <a:extLst>
              <a:ext uri="{FF2B5EF4-FFF2-40B4-BE49-F238E27FC236}">
                <a16:creationId xmlns:a16="http://schemas.microsoft.com/office/drawing/2014/main" id="{E7D6D365-44C6-788C-3878-E9AC03050FF7}"/>
              </a:ext>
            </a:extLst>
          </p:cNvPr>
          <p:cNvGraphicFramePr>
            <a:graphicFrameLocks noGrp="1"/>
          </p:cNvGraphicFramePr>
          <p:nvPr>
            <p:extLst>
              <p:ext uri="{D42A27DB-BD31-4B8C-83A1-F6EECF244321}">
                <p14:modId xmlns:p14="http://schemas.microsoft.com/office/powerpoint/2010/main" val="275778053"/>
              </p:ext>
            </p:extLst>
          </p:nvPr>
        </p:nvGraphicFramePr>
        <p:xfrm>
          <a:off x="992528" y="1710739"/>
          <a:ext cx="10426862" cy="4863438"/>
        </p:xfrm>
        <a:graphic>
          <a:graphicData uri="http://schemas.openxmlformats.org/drawingml/2006/table">
            <a:tbl>
              <a:tblPr firstRow="1" bandRow="1">
                <a:tableStyleId>{616DA210-FB5B-4158-B5E0-FEB733F419BA}</a:tableStyleId>
              </a:tblPr>
              <a:tblGrid>
                <a:gridCol w="5213431">
                  <a:extLst>
                    <a:ext uri="{9D8B030D-6E8A-4147-A177-3AD203B41FA5}">
                      <a16:colId xmlns:a16="http://schemas.microsoft.com/office/drawing/2014/main" val="432208460"/>
                    </a:ext>
                  </a:extLst>
                </a:gridCol>
                <a:gridCol w="5213431">
                  <a:extLst>
                    <a:ext uri="{9D8B030D-6E8A-4147-A177-3AD203B41FA5}">
                      <a16:colId xmlns:a16="http://schemas.microsoft.com/office/drawing/2014/main" val="2292416677"/>
                    </a:ext>
                  </a:extLst>
                </a:gridCol>
              </a:tblGrid>
              <a:tr h="5276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dirty="0">
                          <a:solidFill>
                            <a:schemeClr val="tx1"/>
                          </a:solidFill>
                          <a:effectLst/>
                          <a:latin typeface="+mn-lt"/>
                          <a:ea typeface="+mn-ea"/>
                          <a:cs typeface="+mn-cs"/>
                        </a:rPr>
                        <a:t>‘</a:t>
                      </a:r>
                      <a:r>
                        <a:rPr lang="en-US" sz="1800" b="0" i="0" u="none" strike="noStrike" kern="1200" dirty="0" err="1">
                          <a:solidFill>
                            <a:schemeClr val="tx1"/>
                          </a:solidFill>
                          <a:effectLst/>
                          <a:latin typeface="+mn-lt"/>
                          <a:ea typeface="+mn-ea"/>
                          <a:cs typeface="+mn-cs"/>
                        </a:rPr>
                        <a:t>distance_bucket</a:t>
                      </a:r>
                      <a:r>
                        <a:rPr lang="en-US" sz="1800" b="0" i="0" u="none" strike="noStrike" kern="1200" dirty="0">
                          <a:solidFill>
                            <a:schemeClr val="tx1"/>
                          </a:solidFill>
                          <a:effectLst/>
                          <a:latin typeface="+mn-lt"/>
                          <a:ea typeface="+mn-ea"/>
                          <a:cs typeface="+mn-cs"/>
                        </a:rPr>
                        <a:t>’</a:t>
                      </a:r>
                    </a:p>
                  </a:txBody>
                  <a:tcPr/>
                </a:tc>
                <a:tc>
                  <a:txBody>
                    <a:bodyPr/>
                    <a:lstStyle/>
                    <a:p>
                      <a:r>
                        <a:rPr lang="en-US" sz="1400" b="1" dirty="0"/>
                        <a:t>A categorical grouping of the required distance to a first down (short, medium, long, or very long).</a:t>
                      </a:r>
                    </a:p>
                  </a:txBody>
                  <a:tcPr/>
                </a:tc>
                <a:extLst>
                  <a:ext uri="{0D108BD9-81ED-4DB2-BD59-A6C34878D82A}">
                    <a16:rowId xmlns:a16="http://schemas.microsoft.com/office/drawing/2014/main" val="2081429498"/>
                  </a:ext>
                </a:extLst>
              </a:tr>
              <a:tr h="3724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dirty="0">
                          <a:solidFill>
                            <a:schemeClr val="tx1"/>
                          </a:solidFill>
                          <a:effectLst/>
                          <a:latin typeface="+mn-lt"/>
                          <a:ea typeface="+mn-ea"/>
                          <a:cs typeface="+mn-cs"/>
                        </a:rPr>
                        <a:t>‘</a:t>
                      </a:r>
                      <a:r>
                        <a:rPr lang="en-US" sz="1800" b="0" i="0" u="none" strike="noStrike" kern="1200" dirty="0" err="1">
                          <a:solidFill>
                            <a:schemeClr val="tx1"/>
                          </a:solidFill>
                          <a:effectLst/>
                          <a:latin typeface="+mn-lt"/>
                          <a:ea typeface="+mn-ea"/>
                          <a:cs typeface="+mn-cs"/>
                        </a:rPr>
                        <a:t>half_seconds_remaining</a:t>
                      </a:r>
                      <a:r>
                        <a:rPr lang="en-US" sz="1800" b="0" i="0" u="none" strike="noStrike" kern="1200" dirty="0">
                          <a:solidFill>
                            <a:schemeClr val="tx1"/>
                          </a:solidFill>
                          <a:effectLst/>
                          <a:latin typeface="+mn-lt"/>
                          <a:ea typeface="+mn-ea"/>
                          <a:cs typeface="+mn-cs"/>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t>Number of seconds left remaining in the half. </a:t>
                      </a:r>
                    </a:p>
                  </a:txBody>
                  <a:tcPr/>
                </a:tc>
                <a:extLst>
                  <a:ext uri="{0D108BD9-81ED-4DB2-BD59-A6C34878D82A}">
                    <a16:rowId xmlns:a16="http://schemas.microsoft.com/office/drawing/2014/main" val="1680131247"/>
                  </a:ext>
                </a:extLst>
              </a:tr>
              <a:tr h="5276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dirty="0">
                          <a:solidFill>
                            <a:schemeClr val="tx1"/>
                          </a:solidFill>
                          <a:effectLst/>
                          <a:latin typeface="+mn-lt"/>
                          <a:ea typeface="+mn-ea"/>
                          <a:cs typeface="+mn-cs"/>
                        </a:rPr>
                        <a:t>‘</a:t>
                      </a:r>
                      <a:r>
                        <a:rPr lang="en-US" sz="1800" b="0" i="0" u="none" strike="noStrike" kern="1200" dirty="0" err="1">
                          <a:solidFill>
                            <a:schemeClr val="tx1"/>
                          </a:solidFill>
                          <a:effectLst/>
                          <a:latin typeface="+mn-lt"/>
                          <a:ea typeface="+mn-ea"/>
                          <a:cs typeface="+mn-cs"/>
                        </a:rPr>
                        <a:t>down_distance</a:t>
                      </a:r>
                      <a:r>
                        <a:rPr lang="en-US" sz="1800" b="0" i="0" u="none" strike="noStrike" kern="1200" dirty="0">
                          <a:solidFill>
                            <a:schemeClr val="tx1"/>
                          </a:solidFill>
                          <a:effectLst/>
                          <a:latin typeface="+mn-lt"/>
                          <a:ea typeface="+mn-ea"/>
                          <a:cs typeface="+mn-cs"/>
                        </a:rPr>
                        <a:t>’</a:t>
                      </a:r>
                    </a:p>
                  </a:txBody>
                  <a:tcPr/>
                </a:tc>
                <a:tc>
                  <a:txBody>
                    <a:bodyPr/>
                    <a:lstStyle/>
                    <a:p>
                      <a:r>
                        <a:rPr lang="en-US" sz="1400" b="1" dirty="0"/>
                        <a:t>A value that combines down and distance.</a:t>
                      </a:r>
                    </a:p>
                  </a:txBody>
                  <a:tcPr/>
                </a:tc>
                <a:extLst>
                  <a:ext uri="{0D108BD9-81ED-4DB2-BD59-A6C34878D82A}">
                    <a16:rowId xmlns:a16="http://schemas.microsoft.com/office/drawing/2014/main" val="1998778973"/>
                  </a:ext>
                </a:extLst>
              </a:tr>
              <a:tr h="5276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dirty="0">
                          <a:solidFill>
                            <a:schemeClr val="tx1"/>
                          </a:solidFill>
                          <a:effectLst/>
                          <a:latin typeface="+mn-lt"/>
                          <a:ea typeface="+mn-ea"/>
                          <a:cs typeface="+mn-cs"/>
                        </a:rPr>
                        <a:t>‘</a:t>
                      </a:r>
                      <a:r>
                        <a:rPr lang="en-US" sz="1800" b="0" i="0" u="none" strike="noStrike" kern="1200" dirty="0" err="1">
                          <a:solidFill>
                            <a:schemeClr val="tx1"/>
                          </a:solidFill>
                          <a:effectLst/>
                          <a:latin typeface="+mn-lt"/>
                          <a:ea typeface="+mn-ea"/>
                          <a:cs typeface="+mn-cs"/>
                        </a:rPr>
                        <a:t>score_differential</a:t>
                      </a:r>
                      <a:r>
                        <a:rPr lang="en-US" sz="1800" b="0" i="0" u="none" strike="noStrike" kern="1200" dirty="0">
                          <a:solidFill>
                            <a:schemeClr val="tx1"/>
                          </a:solidFill>
                          <a:effectLst/>
                          <a:latin typeface="+mn-lt"/>
                          <a:ea typeface="+mn-ea"/>
                          <a:cs typeface="+mn-cs"/>
                        </a:rPr>
                        <a:t>’</a:t>
                      </a:r>
                    </a:p>
                  </a:txBody>
                  <a:tcPr/>
                </a:tc>
                <a:tc>
                  <a:txBody>
                    <a:bodyPr/>
                    <a:lstStyle/>
                    <a:p>
                      <a:r>
                        <a:rPr lang="en-US" sz="1400" b="1" dirty="0"/>
                        <a:t>Difference in score between the two teams playing each other.</a:t>
                      </a:r>
                    </a:p>
                  </a:txBody>
                  <a:tcPr/>
                </a:tc>
                <a:extLst>
                  <a:ext uri="{0D108BD9-81ED-4DB2-BD59-A6C34878D82A}">
                    <a16:rowId xmlns:a16="http://schemas.microsoft.com/office/drawing/2014/main" val="1176812852"/>
                  </a:ext>
                </a:extLst>
              </a:tr>
              <a:tr h="5276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dirty="0">
                          <a:solidFill>
                            <a:schemeClr val="tx1"/>
                          </a:solidFill>
                          <a:effectLst/>
                          <a:latin typeface="+mn-lt"/>
                          <a:ea typeface="+mn-ea"/>
                          <a:cs typeface="+mn-cs"/>
                        </a:rPr>
                        <a:t>‘</a:t>
                      </a:r>
                      <a:r>
                        <a:rPr lang="en-US" sz="1800" b="0" i="0" u="none" strike="noStrike" kern="1200" dirty="0" err="1">
                          <a:solidFill>
                            <a:schemeClr val="tx1"/>
                          </a:solidFill>
                          <a:effectLst/>
                          <a:latin typeface="+mn-lt"/>
                          <a:ea typeface="+mn-ea"/>
                          <a:cs typeface="+mn-cs"/>
                        </a:rPr>
                        <a:t>is_trailing</a:t>
                      </a:r>
                      <a:r>
                        <a:rPr lang="en-US" sz="1800" b="0" i="0" u="none" strike="noStrike" kern="1200" dirty="0">
                          <a:solidFill>
                            <a:schemeClr val="tx1"/>
                          </a:solidFill>
                          <a:effectLst/>
                          <a:latin typeface="+mn-lt"/>
                          <a:ea typeface="+mn-ea"/>
                          <a:cs typeface="+mn-cs"/>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t>Boolean value representing if the team with possession is trailing or not.</a:t>
                      </a:r>
                    </a:p>
                  </a:txBody>
                  <a:tcPr/>
                </a:tc>
                <a:extLst>
                  <a:ext uri="{0D108BD9-81ED-4DB2-BD59-A6C34878D82A}">
                    <a16:rowId xmlns:a16="http://schemas.microsoft.com/office/drawing/2014/main" val="37978820"/>
                  </a:ext>
                </a:extLst>
              </a:tr>
              <a:tr h="3724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dirty="0">
                          <a:solidFill>
                            <a:schemeClr val="tx1"/>
                          </a:solidFill>
                          <a:effectLst/>
                          <a:latin typeface="+mn-lt"/>
                          <a:ea typeface="+mn-ea"/>
                          <a:cs typeface="+mn-cs"/>
                        </a:rPr>
                        <a:t>‘</a:t>
                      </a:r>
                      <a:r>
                        <a:rPr lang="en-US" sz="1800" b="0" i="0" u="none" strike="noStrike" kern="1200" dirty="0" err="1">
                          <a:solidFill>
                            <a:schemeClr val="tx1"/>
                          </a:solidFill>
                          <a:effectLst/>
                          <a:latin typeface="+mn-lt"/>
                          <a:ea typeface="+mn-ea"/>
                          <a:cs typeface="+mn-cs"/>
                        </a:rPr>
                        <a:t>is_blown_out</a:t>
                      </a:r>
                      <a:r>
                        <a:rPr lang="en-US" sz="1800" b="0" i="0" u="none" strike="noStrike" kern="1200" dirty="0">
                          <a:solidFill>
                            <a:schemeClr val="tx1"/>
                          </a:solidFill>
                          <a:effectLst/>
                          <a:latin typeface="+mn-lt"/>
                          <a:ea typeface="+mn-ea"/>
                          <a:cs typeface="+mn-cs"/>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t>Boolean value representing if the team with possession is losing by more than 14 points.</a:t>
                      </a:r>
                    </a:p>
                  </a:txBody>
                  <a:tcPr/>
                </a:tc>
                <a:extLst>
                  <a:ext uri="{0D108BD9-81ED-4DB2-BD59-A6C34878D82A}">
                    <a16:rowId xmlns:a16="http://schemas.microsoft.com/office/drawing/2014/main" val="886909560"/>
                  </a:ext>
                </a:extLst>
              </a:tr>
              <a:tr h="5276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dirty="0">
                          <a:solidFill>
                            <a:schemeClr val="tx1"/>
                          </a:solidFill>
                          <a:effectLst/>
                          <a:latin typeface="+mn-lt"/>
                          <a:ea typeface="+mn-ea"/>
                          <a:cs typeface="+mn-cs"/>
                        </a:rPr>
                        <a:t>‘shotgun’</a:t>
                      </a:r>
                    </a:p>
                  </a:txBody>
                  <a:tcPr/>
                </a:tc>
                <a:tc>
                  <a:txBody>
                    <a:bodyPr/>
                    <a:lstStyle/>
                    <a:p>
                      <a:r>
                        <a:rPr lang="en-US" sz="1400" b="1" dirty="0"/>
                        <a:t>Represents whether the offense is lined up in shotgun formation.</a:t>
                      </a:r>
                    </a:p>
                  </a:txBody>
                  <a:tcPr/>
                </a:tc>
                <a:extLst>
                  <a:ext uri="{0D108BD9-81ED-4DB2-BD59-A6C34878D82A}">
                    <a16:rowId xmlns:a16="http://schemas.microsoft.com/office/drawing/2014/main" val="4255454010"/>
                  </a:ext>
                </a:extLst>
              </a:tr>
              <a:tr h="3724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dirty="0">
                          <a:solidFill>
                            <a:schemeClr val="tx1"/>
                          </a:solidFill>
                          <a:effectLst/>
                          <a:latin typeface="+mn-lt"/>
                          <a:ea typeface="+mn-ea"/>
                          <a:cs typeface="+mn-cs"/>
                        </a:rPr>
                        <a:t>‘</a:t>
                      </a:r>
                      <a:r>
                        <a:rPr lang="en-US" sz="1800" b="0" i="0" u="none" strike="noStrike" kern="1200" dirty="0" err="1">
                          <a:solidFill>
                            <a:schemeClr val="tx1"/>
                          </a:solidFill>
                          <a:effectLst/>
                          <a:latin typeface="+mn-lt"/>
                          <a:ea typeface="+mn-ea"/>
                          <a:cs typeface="+mn-cs"/>
                        </a:rPr>
                        <a:t>posteam</a:t>
                      </a:r>
                      <a:r>
                        <a:rPr lang="en-US" sz="1800" b="0" i="0" u="none" strike="noStrike" kern="1200" dirty="0">
                          <a:solidFill>
                            <a:schemeClr val="tx1"/>
                          </a:solidFill>
                          <a:effectLst/>
                          <a:latin typeface="+mn-lt"/>
                          <a:ea typeface="+mn-ea"/>
                          <a:cs typeface="+mn-cs"/>
                        </a:rPr>
                        <a:t>’</a:t>
                      </a:r>
                    </a:p>
                  </a:txBody>
                  <a:tcPr/>
                </a:tc>
                <a:tc>
                  <a:txBody>
                    <a:bodyPr/>
                    <a:lstStyle/>
                    <a:p>
                      <a:r>
                        <a:rPr lang="en-US" sz="1400" b="1" dirty="0"/>
                        <a:t>Team that possession of the ball.</a:t>
                      </a:r>
                    </a:p>
                  </a:txBody>
                  <a:tcPr/>
                </a:tc>
                <a:extLst>
                  <a:ext uri="{0D108BD9-81ED-4DB2-BD59-A6C34878D82A}">
                    <a16:rowId xmlns:a16="http://schemas.microsoft.com/office/drawing/2014/main" val="1674468065"/>
                  </a:ext>
                </a:extLst>
              </a:tr>
              <a:tr h="9621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dirty="0">
                          <a:solidFill>
                            <a:schemeClr val="tx1"/>
                          </a:solidFill>
                          <a:effectLst/>
                          <a:latin typeface="+mn-lt"/>
                          <a:ea typeface="+mn-ea"/>
                          <a:cs typeface="+mn-cs"/>
                        </a:rPr>
                        <a:t>‘</a:t>
                      </a:r>
                      <a:r>
                        <a:rPr lang="en-US" sz="1800" b="0" i="0" u="none" strike="noStrike" kern="1200" dirty="0" err="1">
                          <a:solidFill>
                            <a:schemeClr val="tx1"/>
                          </a:solidFill>
                          <a:effectLst/>
                          <a:latin typeface="+mn-lt"/>
                          <a:ea typeface="+mn-ea"/>
                          <a:cs typeface="+mn-cs"/>
                        </a:rPr>
                        <a:t>is_red_zone</a:t>
                      </a:r>
                      <a:r>
                        <a:rPr lang="en-US" sz="1800" b="0" i="0" u="none" strike="noStrike" kern="1200" dirty="0">
                          <a:solidFill>
                            <a:schemeClr val="tx1"/>
                          </a:solidFill>
                          <a:effectLst/>
                          <a:latin typeface="+mn-lt"/>
                          <a:ea typeface="+mn-ea"/>
                          <a:cs typeface="+mn-cs"/>
                        </a:rPr>
                        <a:t>’</a:t>
                      </a:r>
                    </a:p>
                  </a:txBody>
                  <a:tcPr/>
                </a:tc>
                <a:tc>
                  <a:txBody>
                    <a:bodyPr/>
                    <a:lstStyle/>
                    <a:p>
                      <a:r>
                        <a:rPr lang="en-US" sz="1400" b="1" dirty="0"/>
                        <a:t>Represents whether the offense is in the redzone or not.</a:t>
                      </a:r>
                    </a:p>
                  </a:txBody>
                  <a:tcPr/>
                </a:tc>
                <a:extLst>
                  <a:ext uri="{0D108BD9-81ED-4DB2-BD59-A6C34878D82A}">
                    <a16:rowId xmlns:a16="http://schemas.microsoft.com/office/drawing/2014/main" val="2232803020"/>
                  </a:ext>
                </a:extLst>
              </a:tr>
            </a:tbl>
          </a:graphicData>
        </a:graphic>
      </p:graphicFrame>
    </p:spTree>
    <p:extLst>
      <p:ext uri="{BB962C8B-B14F-4D97-AF65-F5344CB8AC3E}">
        <p14:creationId xmlns:p14="http://schemas.microsoft.com/office/powerpoint/2010/main" val="38710319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5D8F3-EB20-E9EA-2722-659FF9CC442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12409F-433D-C684-4AC6-7673A124DA6E}"/>
              </a:ext>
            </a:extLst>
          </p:cNvPr>
          <p:cNvSpPr>
            <a:spLocks noGrp="1"/>
          </p:cNvSpPr>
          <p:nvPr>
            <p:ph idx="1"/>
          </p:nvPr>
        </p:nvSpPr>
        <p:spPr>
          <a:xfrm>
            <a:off x="533399" y="1253331"/>
            <a:ext cx="11448393" cy="4351338"/>
          </a:xfrm>
        </p:spPr>
        <p:txBody>
          <a:bodyPr/>
          <a:lstStyle/>
          <a:p>
            <a:r>
              <a:rPr lang="en-US" sz="1600" b="1" dirty="0">
                <a:latin typeface="Tw Cen MT" panose="020B0602020104020603" pitchFamily="34" charset="77"/>
              </a:rPr>
              <a:t>Target Variables: </a:t>
            </a:r>
            <a:r>
              <a:rPr lang="en-US" sz="1600" dirty="0">
                <a:latin typeface="Tw Cen MT" panose="020B0602020104020603" pitchFamily="34" charset="77"/>
              </a:rPr>
              <a:t>Some of the most important target variables in the First Down Probability Model are noted below:</a:t>
            </a:r>
          </a:p>
        </p:txBody>
      </p:sp>
      <p:sp>
        <p:nvSpPr>
          <p:cNvPr id="4" name="TextBox 3">
            <a:extLst>
              <a:ext uri="{FF2B5EF4-FFF2-40B4-BE49-F238E27FC236}">
                <a16:creationId xmlns:a16="http://schemas.microsoft.com/office/drawing/2014/main" id="{A3274757-C41F-8EFB-A8F6-DE27E714B8A6}"/>
              </a:ext>
            </a:extLst>
          </p:cNvPr>
          <p:cNvSpPr txBox="1"/>
          <p:nvPr/>
        </p:nvSpPr>
        <p:spPr>
          <a:xfrm>
            <a:off x="0" y="0"/>
            <a:ext cx="12192000" cy="1138773"/>
          </a:xfrm>
          <a:prstGeom prst="rect">
            <a:avLst/>
          </a:prstGeom>
          <a:solidFill>
            <a:srgbClr val="002060"/>
          </a:solidFill>
        </p:spPr>
        <p:txBody>
          <a:bodyPr wrap="square" rtlCol="0">
            <a:spAutoFit/>
          </a:bodyPr>
          <a:lstStyle/>
          <a:p>
            <a:pPr algn="ctr"/>
            <a:br>
              <a:rPr lang="en-US" sz="2500" dirty="0">
                <a:solidFill>
                  <a:srgbClr val="FFFFFF"/>
                </a:solidFill>
              </a:rPr>
            </a:br>
            <a:r>
              <a:rPr lang="en-US" sz="2500" i="1" u="sng" dirty="0">
                <a:solidFill>
                  <a:srgbClr val="FFFFFF"/>
                </a:solidFill>
              </a:rPr>
              <a:t>NFL First Down Probability Model </a:t>
            </a:r>
            <a:r>
              <a:rPr lang="en-US" sz="2500" dirty="0">
                <a:solidFill>
                  <a:srgbClr val="FFFFFF"/>
                </a:solidFill>
              </a:rPr>
              <a:t>– Input Variables</a:t>
            </a:r>
            <a:endParaRPr lang="en-US" sz="2500" b="1" dirty="0"/>
          </a:p>
          <a:p>
            <a:endParaRPr lang="en-US" dirty="0"/>
          </a:p>
        </p:txBody>
      </p:sp>
      <p:graphicFrame>
        <p:nvGraphicFramePr>
          <p:cNvPr id="5" name="Table 4">
            <a:extLst>
              <a:ext uri="{FF2B5EF4-FFF2-40B4-BE49-F238E27FC236}">
                <a16:creationId xmlns:a16="http://schemas.microsoft.com/office/drawing/2014/main" id="{4E890622-664C-01A9-C340-7F14C27E7489}"/>
              </a:ext>
            </a:extLst>
          </p:cNvPr>
          <p:cNvGraphicFramePr>
            <a:graphicFrameLocks noGrp="1"/>
          </p:cNvGraphicFramePr>
          <p:nvPr>
            <p:extLst>
              <p:ext uri="{D42A27DB-BD31-4B8C-83A1-F6EECF244321}">
                <p14:modId xmlns:p14="http://schemas.microsoft.com/office/powerpoint/2010/main" val="1218489393"/>
              </p:ext>
            </p:extLst>
          </p:nvPr>
        </p:nvGraphicFramePr>
        <p:xfrm>
          <a:off x="1041720" y="1625942"/>
          <a:ext cx="9769034" cy="4814001"/>
        </p:xfrm>
        <a:graphic>
          <a:graphicData uri="http://schemas.openxmlformats.org/drawingml/2006/table">
            <a:tbl>
              <a:tblPr firstRow="1" bandRow="1">
                <a:tableStyleId>{616DA210-FB5B-4158-B5E0-FEB733F419BA}</a:tableStyleId>
              </a:tblPr>
              <a:tblGrid>
                <a:gridCol w="4884517">
                  <a:extLst>
                    <a:ext uri="{9D8B030D-6E8A-4147-A177-3AD203B41FA5}">
                      <a16:colId xmlns:a16="http://schemas.microsoft.com/office/drawing/2014/main" val="432208460"/>
                    </a:ext>
                  </a:extLst>
                </a:gridCol>
                <a:gridCol w="4884517">
                  <a:extLst>
                    <a:ext uri="{9D8B030D-6E8A-4147-A177-3AD203B41FA5}">
                      <a16:colId xmlns:a16="http://schemas.microsoft.com/office/drawing/2014/main" val="2292416677"/>
                    </a:ext>
                  </a:extLst>
                </a:gridCol>
              </a:tblGrid>
              <a:tr h="85718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dirty="0">
                          <a:solidFill>
                            <a:schemeClr val="tx1"/>
                          </a:solidFill>
                          <a:effectLst/>
                          <a:latin typeface="+mn-lt"/>
                          <a:ea typeface="+mn-ea"/>
                          <a:cs typeface="+mn-cs"/>
                        </a:rPr>
                        <a:t>‘</a:t>
                      </a:r>
                      <a:r>
                        <a:rPr lang="en-US" sz="1800" b="0" i="0" u="none" strike="noStrike" kern="1200" dirty="0" err="1">
                          <a:solidFill>
                            <a:schemeClr val="tx1"/>
                          </a:solidFill>
                          <a:effectLst/>
                          <a:latin typeface="+mn-lt"/>
                          <a:ea typeface="+mn-ea"/>
                          <a:cs typeface="+mn-cs"/>
                        </a:rPr>
                        <a:t>qb_dropback</a:t>
                      </a:r>
                      <a:r>
                        <a:rPr lang="en-US" sz="1800" b="0" i="0" u="none" strike="noStrike" kern="1200" dirty="0">
                          <a:solidFill>
                            <a:schemeClr val="tx1"/>
                          </a:solidFill>
                          <a:effectLst/>
                          <a:latin typeface="+mn-lt"/>
                          <a:ea typeface="+mn-ea"/>
                          <a:cs typeface="+mn-cs"/>
                        </a:rPr>
                        <a:t>’</a:t>
                      </a:r>
                    </a:p>
                  </a:txBody>
                  <a:tcPr/>
                </a:tc>
                <a:tc>
                  <a:txBody>
                    <a:bodyPr/>
                    <a:lstStyle/>
                    <a:p>
                      <a:r>
                        <a:rPr lang="en-US" sz="1400" dirty="0"/>
                        <a:t>Boolean value representing if the QB drops back to pass the ball.</a:t>
                      </a:r>
                    </a:p>
                  </a:txBody>
                  <a:tcPr/>
                </a:tc>
                <a:extLst>
                  <a:ext uri="{0D108BD9-81ED-4DB2-BD59-A6C34878D82A}">
                    <a16:rowId xmlns:a16="http://schemas.microsoft.com/office/drawing/2014/main" val="2081429498"/>
                  </a:ext>
                </a:extLst>
              </a:tr>
              <a:tr h="5579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dirty="0">
                          <a:solidFill>
                            <a:schemeClr val="tx1"/>
                          </a:solidFill>
                          <a:effectLst/>
                          <a:latin typeface="+mn-lt"/>
                          <a:ea typeface="+mn-ea"/>
                          <a:cs typeface="+mn-cs"/>
                        </a:rPr>
                        <a:t>‘</a:t>
                      </a:r>
                      <a:r>
                        <a:rPr lang="en-US" sz="1800" b="0" i="0" u="none" strike="noStrike" kern="1200" dirty="0" err="1">
                          <a:solidFill>
                            <a:schemeClr val="tx1"/>
                          </a:solidFill>
                          <a:effectLst/>
                          <a:latin typeface="+mn-lt"/>
                          <a:ea typeface="+mn-ea"/>
                          <a:cs typeface="+mn-cs"/>
                        </a:rPr>
                        <a:t>score_differential</a:t>
                      </a:r>
                      <a:r>
                        <a:rPr lang="en-US" sz="1800" b="0" i="0" u="none" strike="noStrike" kern="1200" dirty="0">
                          <a:solidFill>
                            <a:schemeClr val="tx1"/>
                          </a:solidFill>
                          <a:effectLst/>
                          <a:latin typeface="+mn-lt"/>
                          <a:ea typeface="+mn-ea"/>
                          <a:cs typeface="+mn-cs"/>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t>Difference in score between the two teams playing each other.</a:t>
                      </a:r>
                    </a:p>
                  </a:txBody>
                  <a:tcPr/>
                </a:tc>
                <a:extLst>
                  <a:ext uri="{0D108BD9-81ED-4DB2-BD59-A6C34878D82A}">
                    <a16:rowId xmlns:a16="http://schemas.microsoft.com/office/drawing/2014/main" val="1680131247"/>
                  </a:ext>
                </a:extLst>
              </a:tr>
              <a:tr h="5579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dirty="0">
                          <a:solidFill>
                            <a:schemeClr val="tx1"/>
                          </a:solidFill>
                          <a:effectLst/>
                          <a:latin typeface="+mn-lt"/>
                          <a:ea typeface="+mn-ea"/>
                          <a:cs typeface="+mn-cs"/>
                        </a:rPr>
                        <a:t>‘</a:t>
                      </a:r>
                      <a:r>
                        <a:rPr lang="en-US" sz="1800" b="0" i="0" u="none" strike="noStrike" kern="1200" dirty="0" err="1">
                          <a:solidFill>
                            <a:schemeClr val="tx1"/>
                          </a:solidFill>
                          <a:effectLst/>
                          <a:latin typeface="+mn-lt"/>
                          <a:ea typeface="+mn-ea"/>
                          <a:cs typeface="+mn-cs"/>
                        </a:rPr>
                        <a:t>down_distance</a:t>
                      </a:r>
                      <a:r>
                        <a:rPr lang="en-US" sz="1800" b="0" i="0" u="none" strike="noStrike" kern="1200" dirty="0">
                          <a:solidFill>
                            <a:schemeClr val="tx1"/>
                          </a:solidFill>
                          <a:effectLst/>
                          <a:latin typeface="+mn-lt"/>
                          <a:ea typeface="+mn-ea"/>
                          <a:cs typeface="+mn-cs"/>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t>A value that combines down and distance.</a:t>
                      </a:r>
                    </a:p>
                  </a:txBody>
                  <a:tcPr/>
                </a:tc>
                <a:extLst>
                  <a:ext uri="{0D108BD9-81ED-4DB2-BD59-A6C34878D82A}">
                    <a16:rowId xmlns:a16="http://schemas.microsoft.com/office/drawing/2014/main" val="1998778973"/>
                  </a:ext>
                </a:extLst>
              </a:tr>
              <a:tr h="5579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dirty="0">
                          <a:solidFill>
                            <a:schemeClr val="tx1"/>
                          </a:solidFill>
                          <a:effectLst/>
                          <a:latin typeface="+mn-lt"/>
                          <a:ea typeface="+mn-ea"/>
                          <a:cs typeface="+mn-cs"/>
                        </a:rPr>
                        <a:t>‘</a:t>
                      </a:r>
                      <a:r>
                        <a:rPr lang="en-US" sz="1800" b="0" i="0" u="none" strike="noStrike" kern="1200" dirty="0" err="1">
                          <a:solidFill>
                            <a:schemeClr val="tx1"/>
                          </a:solidFill>
                          <a:effectLst/>
                          <a:latin typeface="+mn-lt"/>
                          <a:ea typeface="+mn-ea"/>
                          <a:cs typeface="+mn-cs"/>
                        </a:rPr>
                        <a:t>is_trailing</a:t>
                      </a:r>
                      <a:r>
                        <a:rPr lang="en-US" sz="1800" b="0" i="0" u="none" strike="noStrike" kern="1200" dirty="0">
                          <a:solidFill>
                            <a:schemeClr val="tx1"/>
                          </a:solidFill>
                          <a:effectLst/>
                          <a:latin typeface="+mn-lt"/>
                          <a:ea typeface="+mn-ea"/>
                          <a:cs typeface="+mn-cs"/>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t>Boolean value representing if the team with possession is trailing or not.</a:t>
                      </a:r>
                    </a:p>
                    <a:p>
                      <a:endParaRPr lang="en-US" sz="1400" b="1" dirty="0"/>
                    </a:p>
                  </a:txBody>
                  <a:tcPr/>
                </a:tc>
                <a:extLst>
                  <a:ext uri="{0D108BD9-81ED-4DB2-BD59-A6C34878D82A}">
                    <a16:rowId xmlns:a16="http://schemas.microsoft.com/office/drawing/2014/main" val="1176812852"/>
                  </a:ext>
                </a:extLst>
              </a:tr>
              <a:tr h="7876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dirty="0">
                          <a:solidFill>
                            <a:schemeClr val="tx1"/>
                          </a:solidFill>
                          <a:effectLst/>
                          <a:latin typeface="+mn-lt"/>
                          <a:ea typeface="+mn-ea"/>
                          <a:cs typeface="+mn-cs"/>
                        </a:rPr>
                        <a:t>‘</a:t>
                      </a:r>
                      <a:r>
                        <a:rPr lang="en-US" sz="1800" b="0" i="0" u="none" strike="noStrike" kern="1200" dirty="0" err="1">
                          <a:solidFill>
                            <a:schemeClr val="tx1"/>
                          </a:solidFill>
                          <a:effectLst/>
                          <a:latin typeface="+mn-lt"/>
                          <a:ea typeface="+mn-ea"/>
                          <a:cs typeface="+mn-cs"/>
                        </a:rPr>
                        <a:t>is_blown_out</a:t>
                      </a:r>
                      <a:r>
                        <a:rPr lang="en-US" sz="1800" b="0" i="0" u="none" strike="noStrike" kern="1200" dirty="0">
                          <a:solidFill>
                            <a:schemeClr val="tx1"/>
                          </a:solidFill>
                          <a:effectLst/>
                          <a:latin typeface="+mn-lt"/>
                          <a:ea typeface="+mn-ea"/>
                          <a:cs typeface="+mn-cs"/>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t>Boolean value representing if the team with possession is losing by more than 14 points.</a:t>
                      </a:r>
                    </a:p>
                  </a:txBody>
                  <a:tcPr/>
                </a:tc>
                <a:extLst>
                  <a:ext uri="{0D108BD9-81ED-4DB2-BD59-A6C34878D82A}">
                    <a16:rowId xmlns:a16="http://schemas.microsoft.com/office/drawing/2014/main" val="37978820"/>
                  </a:ext>
                </a:extLst>
              </a:tr>
              <a:tr h="44062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dirty="0">
                          <a:solidFill>
                            <a:schemeClr val="tx1"/>
                          </a:solidFill>
                          <a:effectLst/>
                          <a:latin typeface="+mn-lt"/>
                          <a:ea typeface="+mn-ea"/>
                          <a:cs typeface="+mn-cs"/>
                        </a:rPr>
                        <a:t>‘</a:t>
                      </a:r>
                      <a:r>
                        <a:rPr lang="en-US" sz="1800" b="0" i="0" u="none" strike="noStrike" kern="1200" dirty="0" err="1">
                          <a:solidFill>
                            <a:schemeClr val="tx1"/>
                          </a:solidFill>
                          <a:effectLst/>
                          <a:latin typeface="+mn-lt"/>
                          <a:ea typeface="+mn-ea"/>
                          <a:cs typeface="+mn-cs"/>
                        </a:rPr>
                        <a:t>posteam</a:t>
                      </a:r>
                      <a:r>
                        <a:rPr lang="en-US" sz="1800" b="0" i="0" u="none" strike="noStrike" kern="1200" dirty="0">
                          <a:solidFill>
                            <a:schemeClr val="tx1"/>
                          </a:solidFill>
                          <a:effectLst/>
                          <a:latin typeface="+mn-lt"/>
                          <a:ea typeface="+mn-ea"/>
                          <a:cs typeface="+mn-cs"/>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t>Team that possession of the ball.</a:t>
                      </a:r>
                    </a:p>
                  </a:txBody>
                  <a:tcPr/>
                </a:tc>
                <a:extLst>
                  <a:ext uri="{0D108BD9-81ED-4DB2-BD59-A6C34878D82A}">
                    <a16:rowId xmlns:a16="http://schemas.microsoft.com/office/drawing/2014/main" val="4255454010"/>
                  </a:ext>
                </a:extLst>
              </a:tr>
              <a:tr h="44062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dirty="0">
                          <a:solidFill>
                            <a:schemeClr val="tx1"/>
                          </a:solidFill>
                          <a:effectLst/>
                          <a:latin typeface="+mn-lt"/>
                          <a:ea typeface="+mn-ea"/>
                          <a:cs typeface="+mn-cs"/>
                        </a:rPr>
                        <a:t>‘</a:t>
                      </a:r>
                      <a:r>
                        <a:rPr lang="en-US" sz="1800" b="0" i="0" u="none" strike="noStrike" kern="1200" dirty="0" err="1">
                          <a:solidFill>
                            <a:schemeClr val="tx1"/>
                          </a:solidFill>
                          <a:effectLst/>
                          <a:latin typeface="+mn-lt"/>
                          <a:ea typeface="+mn-ea"/>
                          <a:cs typeface="+mn-cs"/>
                        </a:rPr>
                        <a:t>defteam</a:t>
                      </a:r>
                      <a:r>
                        <a:rPr lang="en-US" sz="1800" b="0" i="0" u="none" strike="noStrike" kern="1200" dirty="0">
                          <a:solidFill>
                            <a:schemeClr val="tx1"/>
                          </a:solidFill>
                          <a:effectLst/>
                          <a:latin typeface="+mn-lt"/>
                          <a:ea typeface="+mn-ea"/>
                          <a:cs typeface="+mn-cs"/>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t>Team that is on defense.</a:t>
                      </a:r>
                    </a:p>
                  </a:txBody>
                  <a:tcPr/>
                </a:tc>
                <a:extLst>
                  <a:ext uri="{0D108BD9-81ED-4DB2-BD59-A6C34878D82A}">
                    <a16:rowId xmlns:a16="http://schemas.microsoft.com/office/drawing/2014/main" val="1674468065"/>
                  </a:ext>
                </a:extLst>
              </a:tr>
              <a:tr h="44062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dirty="0">
                          <a:solidFill>
                            <a:schemeClr val="tx1"/>
                          </a:solidFill>
                          <a:effectLst/>
                          <a:latin typeface="+mn-lt"/>
                          <a:ea typeface="+mn-ea"/>
                          <a:cs typeface="+mn-cs"/>
                        </a:rPr>
                        <a:t>‘</a:t>
                      </a:r>
                      <a:r>
                        <a:rPr lang="en-US" sz="1800" b="0" i="0" u="none" strike="noStrike" kern="1200" dirty="0" err="1">
                          <a:solidFill>
                            <a:schemeClr val="tx1"/>
                          </a:solidFill>
                          <a:effectLst/>
                          <a:latin typeface="+mn-lt"/>
                          <a:ea typeface="+mn-ea"/>
                          <a:cs typeface="+mn-cs"/>
                        </a:rPr>
                        <a:t>is_red_zone</a:t>
                      </a:r>
                      <a:r>
                        <a:rPr lang="en-US" sz="1800" b="0" i="0" u="none" strike="noStrike" kern="1200" dirty="0">
                          <a:solidFill>
                            <a:schemeClr val="tx1"/>
                          </a:solidFill>
                          <a:effectLst/>
                          <a:latin typeface="+mn-lt"/>
                          <a:ea typeface="+mn-ea"/>
                          <a:cs typeface="+mn-cs"/>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t>Represents whether the offense is in the redzone or not.</a:t>
                      </a:r>
                    </a:p>
                  </a:txBody>
                  <a:tcPr/>
                </a:tc>
                <a:extLst>
                  <a:ext uri="{0D108BD9-81ED-4DB2-BD59-A6C34878D82A}">
                    <a16:rowId xmlns:a16="http://schemas.microsoft.com/office/drawing/2014/main" val="2232803020"/>
                  </a:ext>
                </a:extLst>
              </a:tr>
            </a:tbl>
          </a:graphicData>
        </a:graphic>
      </p:graphicFrame>
    </p:spTree>
    <p:extLst>
      <p:ext uri="{BB962C8B-B14F-4D97-AF65-F5344CB8AC3E}">
        <p14:creationId xmlns:p14="http://schemas.microsoft.com/office/powerpoint/2010/main" val="3715066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15A76-00F0-22CB-2EFA-9CB2C81CC03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E553A7-1115-7B41-61C0-154E9B5A84BD}"/>
              </a:ext>
            </a:extLst>
          </p:cNvPr>
          <p:cNvSpPr>
            <a:spLocks noGrp="1"/>
          </p:cNvSpPr>
          <p:nvPr>
            <p:ph idx="1"/>
          </p:nvPr>
        </p:nvSpPr>
        <p:spPr>
          <a:xfrm>
            <a:off x="533399" y="1253331"/>
            <a:ext cx="11448393" cy="4351338"/>
          </a:xfrm>
        </p:spPr>
        <p:txBody>
          <a:bodyPr/>
          <a:lstStyle/>
          <a:p>
            <a:r>
              <a:rPr lang="en-US" sz="1600" b="1" dirty="0">
                <a:latin typeface="Tw Cen MT" panose="020B0602020104020603" pitchFamily="34" charset="77"/>
              </a:rPr>
              <a:t>Target Variables: </a:t>
            </a:r>
            <a:r>
              <a:rPr lang="en-US" sz="1600" dirty="0">
                <a:latin typeface="Tw Cen MT" panose="020B0602020104020603" pitchFamily="34" charset="77"/>
              </a:rPr>
              <a:t>Some of the most important target variables in the Competition Probability Model are noted below:</a:t>
            </a:r>
          </a:p>
          <a:p>
            <a:pPr lvl="1"/>
            <a:endParaRPr lang="en-US" sz="900" dirty="0"/>
          </a:p>
        </p:txBody>
      </p:sp>
      <p:sp>
        <p:nvSpPr>
          <p:cNvPr id="4" name="TextBox 3">
            <a:extLst>
              <a:ext uri="{FF2B5EF4-FFF2-40B4-BE49-F238E27FC236}">
                <a16:creationId xmlns:a16="http://schemas.microsoft.com/office/drawing/2014/main" id="{34CF33F4-A9BB-AE15-230C-60A9A5EE1386}"/>
              </a:ext>
            </a:extLst>
          </p:cNvPr>
          <p:cNvSpPr txBox="1"/>
          <p:nvPr/>
        </p:nvSpPr>
        <p:spPr>
          <a:xfrm>
            <a:off x="0" y="0"/>
            <a:ext cx="12192000" cy="1138773"/>
          </a:xfrm>
          <a:prstGeom prst="rect">
            <a:avLst/>
          </a:prstGeom>
          <a:solidFill>
            <a:srgbClr val="002060"/>
          </a:solidFill>
        </p:spPr>
        <p:txBody>
          <a:bodyPr wrap="square" rtlCol="0">
            <a:spAutoFit/>
          </a:bodyPr>
          <a:lstStyle/>
          <a:p>
            <a:pPr algn="ctr"/>
            <a:br>
              <a:rPr lang="en-US" sz="2500" dirty="0">
                <a:solidFill>
                  <a:srgbClr val="FFFFFF"/>
                </a:solidFill>
              </a:rPr>
            </a:br>
            <a:r>
              <a:rPr lang="en-US" sz="2500" i="1" u="sng" dirty="0">
                <a:solidFill>
                  <a:srgbClr val="FFFFFF"/>
                </a:solidFill>
              </a:rPr>
              <a:t>NFL Completion Probability Model </a:t>
            </a:r>
            <a:r>
              <a:rPr lang="en-US" sz="2500" dirty="0">
                <a:solidFill>
                  <a:srgbClr val="FFFFFF"/>
                </a:solidFill>
              </a:rPr>
              <a:t>– Input Variables</a:t>
            </a:r>
            <a:endParaRPr lang="en-US" sz="2500" b="1" dirty="0"/>
          </a:p>
          <a:p>
            <a:endParaRPr lang="en-US" dirty="0"/>
          </a:p>
        </p:txBody>
      </p:sp>
      <p:graphicFrame>
        <p:nvGraphicFramePr>
          <p:cNvPr id="5" name="Table 4">
            <a:extLst>
              <a:ext uri="{FF2B5EF4-FFF2-40B4-BE49-F238E27FC236}">
                <a16:creationId xmlns:a16="http://schemas.microsoft.com/office/drawing/2014/main" id="{93E24E65-A62E-DDC5-1C1F-A0A89DCF6134}"/>
              </a:ext>
            </a:extLst>
          </p:cNvPr>
          <p:cNvGraphicFramePr>
            <a:graphicFrameLocks noGrp="1"/>
          </p:cNvGraphicFramePr>
          <p:nvPr>
            <p:extLst>
              <p:ext uri="{D42A27DB-BD31-4B8C-83A1-F6EECF244321}">
                <p14:modId xmlns:p14="http://schemas.microsoft.com/office/powerpoint/2010/main" val="4164526380"/>
              </p:ext>
            </p:extLst>
          </p:nvPr>
        </p:nvGraphicFramePr>
        <p:xfrm>
          <a:off x="1284789" y="1606116"/>
          <a:ext cx="9213448" cy="4969077"/>
        </p:xfrm>
        <a:graphic>
          <a:graphicData uri="http://schemas.openxmlformats.org/drawingml/2006/table">
            <a:tbl>
              <a:tblPr firstRow="1" bandRow="1">
                <a:tableStyleId>{616DA210-FB5B-4158-B5E0-FEB733F419BA}</a:tableStyleId>
              </a:tblPr>
              <a:tblGrid>
                <a:gridCol w="4606724">
                  <a:extLst>
                    <a:ext uri="{9D8B030D-6E8A-4147-A177-3AD203B41FA5}">
                      <a16:colId xmlns:a16="http://schemas.microsoft.com/office/drawing/2014/main" val="432208460"/>
                    </a:ext>
                  </a:extLst>
                </a:gridCol>
                <a:gridCol w="4606724">
                  <a:extLst>
                    <a:ext uri="{9D8B030D-6E8A-4147-A177-3AD203B41FA5}">
                      <a16:colId xmlns:a16="http://schemas.microsoft.com/office/drawing/2014/main" val="2292416677"/>
                    </a:ext>
                  </a:extLst>
                </a:gridCol>
              </a:tblGrid>
              <a:tr h="85718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dirty="0">
                          <a:solidFill>
                            <a:schemeClr val="tx1"/>
                          </a:solidFill>
                          <a:effectLst/>
                          <a:latin typeface="+mn-lt"/>
                          <a:ea typeface="+mn-ea"/>
                          <a:cs typeface="+mn-cs"/>
                        </a:rPr>
                        <a:t>‘</a:t>
                      </a:r>
                      <a:r>
                        <a:rPr lang="en-US" sz="1800" b="0" i="0" u="none" strike="noStrike" kern="1200" dirty="0" err="1">
                          <a:solidFill>
                            <a:schemeClr val="tx1"/>
                          </a:solidFill>
                          <a:effectLst/>
                          <a:latin typeface="+mn-lt"/>
                          <a:ea typeface="+mn-ea"/>
                          <a:cs typeface="+mn-cs"/>
                        </a:rPr>
                        <a:t>air_yards</a:t>
                      </a:r>
                      <a:r>
                        <a:rPr lang="en-US" sz="1800" b="0" i="0" u="none" strike="noStrike" kern="1200" dirty="0">
                          <a:solidFill>
                            <a:schemeClr val="tx1"/>
                          </a:solidFill>
                          <a:effectLst/>
                          <a:latin typeface="+mn-lt"/>
                          <a:ea typeface="+mn-ea"/>
                          <a:cs typeface="+mn-cs"/>
                        </a:rPr>
                        <a:t>’</a:t>
                      </a:r>
                    </a:p>
                  </a:txBody>
                  <a:tcPr/>
                </a:tc>
                <a:tc>
                  <a:txBody>
                    <a:bodyPr/>
                    <a:lstStyle/>
                    <a:p>
                      <a:r>
                        <a:rPr lang="en-US" sz="1400" dirty="0"/>
                        <a:t>The distance the football travels from the line of scrimmage to the point of the wide receiver.</a:t>
                      </a:r>
                    </a:p>
                  </a:txBody>
                  <a:tcPr/>
                </a:tc>
                <a:extLst>
                  <a:ext uri="{0D108BD9-81ED-4DB2-BD59-A6C34878D82A}">
                    <a16:rowId xmlns:a16="http://schemas.microsoft.com/office/drawing/2014/main" val="2081429498"/>
                  </a:ext>
                </a:extLst>
              </a:tr>
              <a:tr h="5579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dirty="0">
                          <a:solidFill>
                            <a:schemeClr val="tx1"/>
                          </a:solidFill>
                          <a:effectLst/>
                          <a:latin typeface="+mn-lt"/>
                          <a:ea typeface="+mn-ea"/>
                          <a:cs typeface="+mn-cs"/>
                        </a:rPr>
                        <a:t>‘</a:t>
                      </a:r>
                      <a:r>
                        <a:rPr lang="en-US" sz="1800" b="0" i="0" u="none" strike="noStrike" kern="1200" dirty="0" err="1">
                          <a:solidFill>
                            <a:schemeClr val="tx1"/>
                          </a:solidFill>
                          <a:effectLst/>
                          <a:latin typeface="+mn-lt"/>
                          <a:ea typeface="+mn-ea"/>
                          <a:cs typeface="+mn-cs"/>
                        </a:rPr>
                        <a:t>qb_hit</a:t>
                      </a:r>
                      <a:r>
                        <a:rPr lang="en-US" sz="1800" b="0" i="0" u="none" strike="noStrike" kern="1200" dirty="0">
                          <a:solidFill>
                            <a:schemeClr val="tx1"/>
                          </a:solidFill>
                          <a:effectLst/>
                          <a:latin typeface="+mn-lt"/>
                          <a:ea typeface="+mn-ea"/>
                          <a:cs typeface="+mn-cs"/>
                        </a:rPr>
                        <a:t>’</a:t>
                      </a:r>
                    </a:p>
                  </a:txBody>
                  <a:tcPr/>
                </a:tc>
                <a:tc>
                  <a:txBody>
                    <a:bodyPr/>
                    <a:lstStyle/>
                    <a:p>
                      <a:r>
                        <a:rPr lang="en-US" sz="1400" b="1" dirty="0"/>
                        <a:t>Boolean value representing if the quarterback was hit by the defense as he is throwing the football.</a:t>
                      </a:r>
                    </a:p>
                  </a:txBody>
                  <a:tcPr/>
                </a:tc>
                <a:extLst>
                  <a:ext uri="{0D108BD9-81ED-4DB2-BD59-A6C34878D82A}">
                    <a16:rowId xmlns:a16="http://schemas.microsoft.com/office/drawing/2014/main" val="1680131247"/>
                  </a:ext>
                </a:extLst>
              </a:tr>
              <a:tr h="5579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dirty="0">
                          <a:solidFill>
                            <a:schemeClr val="tx1"/>
                          </a:solidFill>
                          <a:effectLst/>
                          <a:latin typeface="+mn-lt"/>
                          <a:ea typeface="+mn-ea"/>
                          <a:cs typeface="+mn-cs"/>
                        </a:rPr>
                        <a:t>‘</a:t>
                      </a:r>
                      <a:r>
                        <a:rPr lang="en-US" sz="1800" b="0" i="0" u="none" strike="noStrike" kern="1200" dirty="0" err="1">
                          <a:solidFill>
                            <a:schemeClr val="tx1"/>
                          </a:solidFill>
                          <a:effectLst/>
                          <a:latin typeface="+mn-lt"/>
                          <a:ea typeface="+mn-ea"/>
                          <a:cs typeface="+mn-cs"/>
                        </a:rPr>
                        <a:t>qb_scramble</a:t>
                      </a:r>
                      <a:r>
                        <a:rPr lang="en-US" sz="1800" b="0" i="0" u="none" strike="noStrike" kern="1200" dirty="0">
                          <a:solidFill>
                            <a:schemeClr val="tx1"/>
                          </a:solidFill>
                          <a:effectLst/>
                          <a:latin typeface="+mn-lt"/>
                          <a:ea typeface="+mn-ea"/>
                          <a:cs typeface="+mn-cs"/>
                        </a:rPr>
                        <a:t>'</a:t>
                      </a:r>
                    </a:p>
                  </a:txBody>
                  <a:tcPr/>
                </a:tc>
                <a:tc>
                  <a:txBody>
                    <a:bodyPr/>
                    <a:lstStyle/>
                    <a:p>
                      <a:r>
                        <a:rPr lang="en-US" sz="1400" b="1" dirty="0"/>
                        <a:t>Boolean value representing if the quarterback intended to throw the ball but instead ran with it past the line of scrimmage.</a:t>
                      </a:r>
                    </a:p>
                  </a:txBody>
                  <a:tcPr/>
                </a:tc>
                <a:extLst>
                  <a:ext uri="{0D108BD9-81ED-4DB2-BD59-A6C34878D82A}">
                    <a16:rowId xmlns:a16="http://schemas.microsoft.com/office/drawing/2014/main" val="1998778973"/>
                  </a:ext>
                </a:extLst>
              </a:tr>
              <a:tr h="5579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dirty="0">
                          <a:solidFill>
                            <a:schemeClr val="tx1"/>
                          </a:solidFill>
                          <a:effectLst/>
                          <a:latin typeface="+mn-lt"/>
                          <a:ea typeface="+mn-ea"/>
                          <a:cs typeface="+mn-cs"/>
                        </a:rPr>
                        <a:t>‘</a:t>
                      </a:r>
                      <a:r>
                        <a:rPr lang="en-US" sz="1800" b="0" i="0" u="none" strike="noStrike" kern="1200" dirty="0" err="1">
                          <a:solidFill>
                            <a:schemeClr val="tx1"/>
                          </a:solidFill>
                          <a:effectLst/>
                          <a:latin typeface="+mn-lt"/>
                          <a:ea typeface="+mn-ea"/>
                          <a:cs typeface="+mn-cs"/>
                        </a:rPr>
                        <a:t>pass_location</a:t>
                      </a:r>
                      <a:r>
                        <a:rPr lang="en-US" sz="1800" b="0" i="0" u="none" strike="noStrike" kern="1200" dirty="0">
                          <a:solidFill>
                            <a:schemeClr val="tx1"/>
                          </a:solidFill>
                          <a:effectLst/>
                          <a:latin typeface="+mn-lt"/>
                          <a:ea typeface="+mn-ea"/>
                          <a:cs typeface="+mn-cs"/>
                        </a:rPr>
                        <a:t>’</a:t>
                      </a:r>
                    </a:p>
                  </a:txBody>
                  <a:tcPr/>
                </a:tc>
                <a:tc>
                  <a:txBody>
                    <a:bodyPr/>
                    <a:lstStyle/>
                    <a:p>
                      <a:r>
                        <a:rPr lang="en-US" sz="1400" b="1" dirty="0"/>
                        <a:t>Categorical field representing where the ball was thrown by the quarterback (left, middle, or right).</a:t>
                      </a:r>
                    </a:p>
                  </a:txBody>
                  <a:tcPr/>
                </a:tc>
                <a:extLst>
                  <a:ext uri="{0D108BD9-81ED-4DB2-BD59-A6C34878D82A}">
                    <a16:rowId xmlns:a16="http://schemas.microsoft.com/office/drawing/2014/main" val="1176812852"/>
                  </a:ext>
                </a:extLst>
              </a:tr>
              <a:tr h="7876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dirty="0">
                          <a:solidFill>
                            <a:schemeClr val="tx1"/>
                          </a:solidFill>
                          <a:effectLst/>
                          <a:latin typeface="+mn-lt"/>
                          <a:ea typeface="+mn-ea"/>
                          <a:cs typeface="+mn-cs"/>
                        </a:rPr>
                        <a:t>‘</a:t>
                      </a:r>
                      <a:r>
                        <a:rPr lang="en-US" sz="1800" b="0" i="0" u="none" strike="noStrike" kern="1200" dirty="0" err="1">
                          <a:solidFill>
                            <a:schemeClr val="tx1"/>
                          </a:solidFill>
                          <a:effectLst/>
                          <a:latin typeface="+mn-lt"/>
                          <a:ea typeface="+mn-ea"/>
                          <a:cs typeface="+mn-cs"/>
                        </a:rPr>
                        <a:t>pass_length</a:t>
                      </a:r>
                      <a:r>
                        <a:rPr lang="en-US" sz="1800" b="0" i="0" u="none" strike="noStrike" kern="1200" dirty="0">
                          <a:solidFill>
                            <a:schemeClr val="tx1"/>
                          </a:solidFill>
                          <a:effectLst/>
                          <a:latin typeface="+mn-lt"/>
                          <a:ea typeface="+mn-ea"/>
                          <a:cs typeface="+mn-cs"/>
                        </a:rPr>
                        <a:t>’</a:t>
                      </a:r>
                    </a:p>
                  </a:txBody>
                  <a:tcPr/>
                </a:tc>
                <a:tc>
                  <a:txBody>
                    <a:bodyPr/>
                    <a:lstStyle/>
                    <a:p>
                      <a:r>
                        <a:rPr lang="en-US" sz="1400" b="1" dirty="0"/>
                        <a:t>Categorical classification of how far the football was thrown in the air.</a:t>
                      </a:r>
                    </a:p>
                  </a:txBody>
                  <a:tcPr/>
                </a:tc>
                <a:extLst>
                  <a:ext uri="{0D108BD9-81ED-4DB2-BD59-A6C34878D82A}">
                    <a16:rowId xmlns:a16="http://schemas.microsoft.com/office/drawing/2014/main" val="37978820"/>
                  </a:ext>
                </a:extLst>
              </a:tr>
              <a:tr h="44062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dirty="0">
                          <a:solidFill>
                            <a:schemeClr val="tx1"/>
                          </a:solidFill>
                          <a:effectLst/>
                          <a:latin typeface="+mn-lt"/>
                          <a:ea typeface="+mn-ea"/>
                          <a:cs typeface="+mn-cs"/>
                        </a:rPr>
                        <a:t>‘</a:t>
                      </a:r>
                      <a:r>
                        <a:rPr lang="en-US" sz="1800" b="0" i="0" u="none" strike="noStrike" kern="1200" dirty="0" err="1">
                          <a:solidFill>
                            <a:schemeClr val="tx1"/>
                          </a:solidFill>
                          <a:effectLst/>
                          <a:latin typeface="+mn-lt"/>
                          <a:ea typeface="+mn-ea"/>
                          <a:cs typeface="+mn-cs"/>
                        </a:rPr>
                        <a:t>no_huddle</a:t>
                      </a:r>
                      <a:r>
                        <a:rPr lang="en-US" sz="1800" b="0" i="0" u="none" strike="noStrike" kern="1200" dirty="0">
                          <a:solidFill>
                            <a:schemeClr val="tx1"/>
                          </a:solidFill>
                          <a:effectLst/>
                          <a:latin typeface="+mn-lt"/>
                          <a:ea typeface="+mn-ea"/>
                          <a:cs typeface="+mn-cs"/>
                        </a:rPr>
                        <a:t>’</a:t>
                      </a:r>
                    </a:p>
                  </a:txBody>
                  <a:tcPr/>
                </a:tc>
                <a:tc>
                  <a:txBody>
                    <a:bodyPr/>
                    <a:lstStyle/>
                    <a:p>
                      <a:r>
                        <a:rPr lang="en-US" sz="1400" b="1" dirty="0"/>
                        <a:t>Boolean value representing if the offense is running hurry-up offense or not.</a:t>
                      </a:r>
                    </a:p>
                  </a:txBody>
                  <a:tcPr/>
                </a:tc>
                <a:extLst>
                  <a:ext uri="{0D108BD9-81ED-4DB2-BD59-A6C34878D82A}">
                    <a16:rowId xmlns:a16="http://schemas.microsoft.com/office/drawing/2014/main" val="4255454010"/>
                  </a:ext>
                </a:extLst>
              </a:tr>
              <a:tr h="44062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dirty="0">
                          <a:solidFill>
                            <a:schemeClr val="tx1"/>
                          </a:solidFill>
                          <a:effectLst/>
                          <a:latin typeface="+mn-lt"/>
                          <a:ea typeface="+mn-ea"/>
                          <a:cs typeface="+mn-cs"/>
                        </a:rPr>
                        <a:t>‘</a:t>
                      </a:r>
                      <a:r>
                        <a:rPr lang="en-US" sz="1800" b="0" i="0" u="none" strike="noStrike" kern="1200" dirty="0" err="1">
                          <a:solidFill>
                            <a:schemeClr val="tx1"/>
                          </a:solidFill>
                          <a:effectLst/>
                          <a:latin typeface="+mn-lt"/>
                          <a:ea typeface="+mn-ea"/>
                          <a:cs typeface="+mn-cs"/>
                        </a:rPr>
                        <a:t>is_red_zone</a:t>
                      </a:r>
                      <a:r>
                        <a:rPr lang="en-US" sz="1800" b="0" i="0" u="none" strike="noStrike" kern="1200" dirty="0">
                          <a:solidFill>
                            <a:schemeClr val="tx1"/>
                          </a:solidFill>
                          <a:effectLst/>
                          <a:latin typeface="+mn-lt"/>
                          <a:ea typeface="+mn-ea"/>
                          <a:cs typeface="+mn-cs"/>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t>Represents whether the offense is in the redzone or not.</a:t>
                      </a:r>
                    </a:p>
                  </a:txBody>
                  <a:tcPr/>
                </a:tc>
                <a:extLst>
                  <a:ext uri="{0D108BD9-81ED-4DB2-BD59-A6C34878D82A}">
                    <a16:rowId xmlns:a16="http://schemas.microsoft.com/office/drawing/2014/main" val="1674468065"/>
                  </a:ext>
                </a:extLst>
              </a:tr>
              <a:tr h="44062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dirty="0">
                          <a:solidFill>
                            <a:schemeClr val="tx1"/>
                          </a:solidFill>
                          <a:effectLst/>
                          <a:latin typeface="+mn-lt"/>
                          <a:ea typeface="+mn-ea"/>
                          <a:cs typeface="+mn-cs"/>
                        </a:rPr>
                        <a:t>‘</a:t>
                      </a:r>
                      <a:r>
                        <a:rPr lang="en-US" sz="1800" b="0" i="0" u="none" strike="noStrike" kern="1200" dirty="0" err="1">
                          <a:solidFill>
                            <a:schemeClr val="tx1"/>
                          </a:solidFill>
                          <a:effectLst/>
                          <a:latin typeface="+mn-lt"/>
                          <a:ea typeface="+mn-ea"/>
                          <a:cs typeface="+mn-cs"/>
                        </a:rPr>
                        <a:t>down_distance</a:t>
                      </a:r>
                      <a:r>
                        <a:rPr lang="en-US" sz="1800" b="0" i="0" u="none" strike="noStrike" kern="1200" dirty="0">
                          <a:solidFill>
                            <a:schemeClr val="tx1"/>
                          </a:solidFill>
                          <a:effectLst/>
                          <a:latin typeface="+mn-lt"/>
                          <a:ea typeface="+mn-ea"/>
                          <a:cs typeface="+mn-cs"/>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t>A value that combines down and distance.</a:t>
                      </a:r>
                    </a:p>
                  </a:txBody>
                  <a:tcPr/>
                </a:tc>
                <a:extLst>
                  <a:ext uri="{0D108BD9-81ED-4DB2-BD59-A6C34878D82A}">
                    <a16:rowId xmlns:a16="http://schemas.microsoft.com/office/drawing/2014/main" val="2232803020"/>
                  </a:ext>
                </a:extLst>
              </a:tr>
            </a:tbl>
          </a:graphicData>
        </a:graphic>
      </p:graphicFrame>
    </p:spTree>
    <p:extLst>
      <p:ext uri="{BB962C8B-B14F-4D97-AF65-F5344CB8AC3E}">
        <p14:creationId xmlns:p14="http://schemas.microsoft.com/office/powerpoint/2010/main" val="7798277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4CEA4-B034-7FA7-DF48-BAAB1E96F4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6391FB-A9E0-5E16-EDD0-540E5AFBDC9C}"/>
              </a:ext>
            </a:extLst>
          </p:cNvPr>
          <p:cNvSpPr>
            <a:spLocks noGrp="1"/>
          </p:cNvSpPr>
          <p:nvPr>
            <p:ph type="title"/>
          </p:nvPr>
        </p:nvSpPr>
        <p:spPr>
          <a:xfrm>
            <a:off x="940675" y="428476"/>
            <a:ext cx="9895951" cy="1033669"/>
          </a:xfrm>
        </p:spPr>
        <p:txBody>
          <a:bodyPr>
            <a:normAutofit fontScale="90000"/>
          </a:bodyPr>
          <a:lstStyle/>
          <a:p>
            <a:br>
              <a:rPr lang="en-US" sz="4000">
                <a:solidFill>
                  <a:srgbClr val="FFFFFF"/>
                </a:solidFill>
              </a:rPr>
            </a:br>
            <a:r>
              <a:rPr lang="en-US" sz="4000">
                <a:solidFill>
                  <a:srgbClr val="FFFFFF"/>
                </a:solidFill>
              </a:rPr>
              <a:t>Salary Worth Report – Summary</a:t>
            </a:r>
            <a:endParaRPr lang="en-US" sz="4000" dirty="0">
              <a:solidFill>
                <a:srgbClr val="FFFFFF"/>
              </a:solidFill>
            </a:endParaRPr>
          </a:p>
        </p:txBody>
      </p:sp>
      <p:sp>
        <p:nvSpPr>
          <p:cNvPr id="4" name="TextBox 3">
            <a:extLst>
              <a:ext uri="{FF2B5EF4-FFF2-40B4-BE49-F238E27FC236}">
                <a16:creationId xmlns:a16="http://schemas.microsoft.com/office/drawing/2014/main" id="{9760B889-1E75-BF3F-A247-A95296FF78A1}"/>
              </a:ext>
            </a:extLst>
          </p:cNvPr>
          <p:cNvSpPr txBox="1"/>
          <p:nvPr/>
        </p:nvSpPr>
        <p:spPr>
          <a:xfrm>
            <a:off x="0" y="1122514"/>
            <a:ext cx="12297103" cy="5539978"/>
          </a:xfrm>
          <a:prstGeom prst="rect">
            <a:avLst/>
          </a:prstGeom>
          <a:noFill/>
        </p:spPr>
        <p:txBody>
          <a:bodyPr wrap="square" rtlCol="0">
            <a:spAutoFit/>
          </a:bodyPr>
          <a:lstStyle/>
          <a:p>
            <a:pPr>
              <a:buNone/>
            </a:pPr>
            <a:r>
              <a:rPr lang="en-US" sz="2000" b="1" u="sng" dirty="0">
                <a:solidFill>
                  <a:srgbClr val="000000"/>
                </a:solidFill>
                <a:latin typeface="Tw Cen MT" panose="020B0602020104020603" pitchFamily="34" charset="77"/>
              </a:rPr>
              <a:t>Model Goal: </a:t>
            </a:r>
            <a:r>
              <a:rPr lang="en-US" sz="2000" dirty="0">
                <a:solidFill>
                  <a:srgbClr val="000000"/>
                </a:solidFill>
                <a:latin typeface="Tw Cen MT" panose="020B0602020104020603" pitchFamily="34" charset="77"/>
              </a:rPr>
              <a:t>The goal of this model is to predict whether a play will be a run or pass. The features in this model were centered around field position, team tendencies, time remaining, and score differential. </a:t>
            </a:r>
            <a:endParaRPr lang="en-US" sz="2000" b="1" u="sng" dirty="0">
              <a:solidFill>
                <a:srgbClr val="000000"/>
              </a:solidFill>
              <a:latin typeface="Tw Cen MT" panose="020B0602020104020603" pitchFamily="34" charset="77"/>
            </a:endParaRPr>
          </a:p>
          <a:p>
            <a:pPr>
              <a:buNone/>
            </a:pPr>
            <a:endParaRPr lang="en-US" sz="2000" b="1" u="sng" dirty="0">
              <a:solidFill>
                <a:srgbClr val="000000"/>
              </a:solidFill>
              <a:latin typeface="Tw Cen MT" panose="020B0602020104020603" pitchFamily="34" charset="77"/>
            </a:endParaRPr>
          </a:p>
          <a:p>
            <a:pPr>
              <a:buNone/>
            </a:pPr>
            <a:r>
              <a:rPr lang="en-US" sz="2000" b="1" u="sng" dirty="0">
                <a:solidFill>
                  <a:srgbClr val="000000"/>
                </a:solidFill>
                <a:latin typeface="Tw Cen MT" panose="020B0602020104020603" pitchFamily="34" charset="77"/>
              </a:rPr>
              <a:t>Model Used: </a:t>
            </a:r>
            <a:r>
              <a:rPr lang="en-US" sz="2000" dirty="0">
                <a:solidFill>
                  <a:srgbClr val="000000"/>
                </a:solidFill>
                <a:latin typeface="Tw Cen MT" panose="020B0602020104020603" pitchFamily="34" charset="77"/>
              </a:rPr>
              <a:t>A </a:t>
            </a:r>
            <a:r>
              <a:rPr lang="en-US" sz="2000" dirty="0" err="1">
                <a:solidFill>
                  <a:srgbClr val="000000"/>
                </a:solidFill>
                <a:latin typeface="Tw Cen MT" panose="020B0602020104020603" pitchFamily="34" charset="77"/>
              </a:rPr>
              <a:t>LightGBM</a:t>
            </a:r>
            <a:r>
              <a:rPr lang="en-US" sz="2000" dirty="0">
                <a:solidFill>
                  <a:srgbClr val="000000"/>
                </a:solidFill>
                <a:latin typeface="Tw Cen MT" panose="020B0602020104020603" pitchFamily="34" charset="77"/>
              </a:rPr>
              <a:t> Classifier Model was used for this situation. This model was used because of its ability to work very quickly with large datasets, address class imbalance, handle high dimensional data, and high predictive accuracy. All these characteristics are highly valuable when working with football play-by-play data.  Moreover, the model was split into 80% training and 20% testing datasets. Some of the most important features inputted into this model are defined on slide 3.</a:t>
            </a:r>
            <a:endParaRPr lang="en-US" sz="2000" b="1" u="sng" dirty="0">
              <a:solidFill>
                <a:srgbClr val="000000"/>
              </a:solidFill>
              <a:latin typeface="Tw Cen MT" panose="020B0602020104020603" pitchFamily="34" charset="77"/>
            </a:endParaRPr>
          </a:p>
          <a:p>
            <a:pPr>
              <a:buNone/>
            </a:pPr>
            <a:endParaRPr lang="en-US" sz="1700" b="1" u="sng" dirty="0">
              <a:solidFill>
                <a:srgbClr val="000000"/>
              </a:solidFill>
              <a:latin typeface="Tw Cen MT" panose="020B0602020104020603" pitchFamily="34" charset="77"/>
            </a:endParaRPr>
          </a:p>
          <a:p>
            <a:pPr>
              <a:buNone/>
            </a:pPr>
            <a:r>
              <a:rPr lang="en-US" sz="2000" b="1" u="sng" dirty="0">
                <a:solidFill>
                  <a:srgbClr val="000000"/>
                </a:solidFill>
                <a:latin typeface="Tw Cen MT" panose="020B0602020104020603" pitchFamily="34" charset="77"/>
              </a:rPr>
              <a:t>Model Evaluation: </a:t>
            </a:r>
            <a:r>
              <a:rPr lang="en-US" sz="2000" dirty="0">
                <a:solidFill>
                  <a:srgbClr val="000000"/>
                </a:solidFill>
                <a:latin typeface="Tw Cen MT" panose="020B0602020104020603" pitchFamily="34" charset="77"/>
              </a:rPr>
              <a:t>To evaluate this model, accuracy, recall, precision, and f-1 score were calculated. A classification report was used to see how the model’s predictions compared to the actual outcomes. In this model, the overall accuracy was 73% on predicting run or pass. The model also correctly identified 79% of all actual pass plays and 65% of all run plays. </a:t>
            </a:r>
          </a:p>
          <a:p>
            <a:pPr>
              <a:buNone/>
            </a:pPr>
            <a:r>
              <a:rPr lang="en-US" sz="1700" b="1" u="sng" dirty="0">
                <a:solidFill>
                  <a:srgbClr val="000000"/>
                </a:solidFill>
                <a:latin typeface="Tw Cen MT" panose="020B0602020104020603" pitchFamily="34" charset="77"/>
              </a:rPr>
              <a:t> </a:t>
            </a:r>
          </a:p>
          <a:p>
            <a:r>
              <a:rPr lang="en-US" sz="2000" b="1" u="sng" dirty="0">
                <a:solidFill>
                  <a:srgbClr val="000000"/>
                </a:solidFill>
                <a:latin typeface="Tw Cen MT" panose="020B0602020104020603" pitchFamily="34" charset="77"/>
              </a:rPr>
              <a:t>Next Steps: </a:t>
            </a:r>
            <a:r>
              <a:rPr lang="en-US" sz="2000" dirty="0">
                <a:solidFill>
                  <a:srgbClr val="000000"/>
                </a:solidFill>
                <a:latin typeface="Tw Cen MT" panose="020B0602020104020603" pitchFamily="34" charset="77"/>
              </a:rPr>
              <a:t>To improve this model in the future, I think it would be great to add offensive and defensive personnel groups/formations. By seeing which players are on the field and the alignment, we would be able to better predict if a play will result in a run or pass. Also, in the future I hope to add rolling averages for run/pass per team and coach into the model.</a:t>
            </a:r>
            <a:endParaRPr lang="en-US" sz="1700" dirty="0">
              <a:solidFill>
                <a:srgbClr val="000000"/>
              </a:solidFill>
              <a:latin typeface="Tw Cen MT" panose="020B0602020104020603" pitchFamily="34" charset="77"/>
            </a:endParaRPr>
          </a:p>
        </p:txBody>
      </p:sp>
      <p:sp>
        <p:nvSpPr>
          <p:cNvPr id="5" name="TextBox 4">
            <a:extLst>
              <a:ext uri="{FF2B5EF4-FFF2-40B4-BE49-F238E27FC236}">
                <a16:creationId xmlns:a16="http://schemas.microsoft.com/office/drawing/2014/main" id="{D2CBC00D-7135-97B9-82F9-BE1EFD329211}"/>
              </a:ext>
            </a:extLst>
          </p:cNvPr>
          <p:cNvSpPr txBox="1"/>
          <p:nvPr/>
        </p:nvSpPr>
        <p:spPr>
          <a:xfrm>
            <a:off x="0" y="0"/>
            <a:ext cx="12192000" cy="1138773"/>
          </a:xfrm>
          <a:prstGeom prst="rect">
            <a:avLst/>
          </a:prstGeom>
          <a:solidFill>
            <a:srgbClr val="002060"/>
          </a:solidFill>
        </p:spPr>
        <p:txBody>
          <a:bodyPr wrap="square" rtlCol="0">
            <a:spAutoFit/>
          </a:bodyPr>
          <a:lstStyle/>
          <a:p>
            <a:pPr algn="ctr"/>
            <a:br>
              <a:rPr lang="en-US" sz="2500" dirty="0">
                <a:solidFill>
                  <a:srgbClr val="FFFFFF"/>
                </a:solidFill>
                <a:latin typeface="+mj-lt"/>
              </a:rPr>
            </a:br>
            <a:r>
              <a:rPr lang="en-US" sz="2500" dirty="0">
                <a:solidFill>
                  <a:srgbClr val="FFFFFF"/>
                </a:solidFill>
              </a:rPr>
              <a:t>NFL Run or Pass Model </a:t>
            </a:r>
            <a:r>
              <a:rPr lang="en-US" sz="2500" dirty="0">
                <a:solidFill>
                  <a:srgbClr val="FFFFFF"/>
                </a:solidFill>
                <a:latin typeface="+mj-lt"/>
              </a:rPr>
              <a:t>– Conclusion</a:t>
            </a:r>
            <a:endParaRPr lang="en-US" sz="2500" b="1" dirty="0">
              <a:latin typeface="+mj-lt"/>
            </a:endParaRPr>
          </a:p>
          <a:p>
            <a:endParaRPr lang="en-US" dirty="0"/>
          </a:p>
        </p:txBody>
      </p:sp>
    </p:spTree>
    <p:extLst>
      <p:ext uri="{BB962C8B-B14F-4D97-AF65-F5344CB8AC3E}">
        <p14:creationId xmlns:p14="http://schemas.microsoft.com/office/powerpoint/2010/main" val="29036718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C7AA1-ECFB-4888-7FFB-40A6FF22F9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0261EB-865B-A2D4-1854-CEB84D8F446B}"/>
              </a:ext>
            </a:extLst>
          </p:cNvPr>
          <p:cNvSpPr>
            <a:spLocks noGrp="1"/>
          </p:cNvSpPr>
          <p:nvPr>
            <p:ph type="title"/>
          </p:nvPr>
        </p:nvSpPr>
        <p:spPr>
          <a:xfrm>
            <a:off x="940675" y="428476"/>
            <a:ext cx="9895951" cy="1033669"/>
          </a:xfrm>
        </p:spPr>
        <p:txBody>
          <a:bodyPr>
            <a:normAutofit fontScale="90000"/>
          </a:bodyPr>
          <a:lstStyle/>
          <a:p>
            <a:br>
              <a:rPr lang="en-US" sz="4000">
                <a:solidFill>
                  <a:srgbClr val="FFFFFF"/>
                </a:solidFill>
              </a:rPr>
            </a:br>
            <a:r>
              <a:rPr lang="en-US" sz="4000">
                <a:solidFill>
                  <a:srgbClr val="FFFFFF"/>
                </a:solidFill>
              </a:rPr>
              <a:t>Salary Worth Report – Summary</a:t>
            </a:r>
            <a:endParaRPr lang="en-US" sz="4000" dirty="0">
              <a:solidFill>
                <a:srgbClr val="FFFFFF"/>
              </a:solidFill>
            </a:endParaRPr>
          </a:p>
        </p:txBody>
      </p:sp>
      <p:sp>
        <p:nvSpPr>
          <p:cNvPr id="4" name="TextBox 3">
            <a:extLst>
              <a:ext uri="{FF2B5EF4-FFF2-40B4-BE49-F238E27FC236}">
                <a16:creationId xmlns:a16="http://schemas.microsoft.com/office/drawing/2014/main" id="{D290EC9C-0EF4-DC8F-EB5D-72F43BD609AE}"/>
              </a:ext>
            </a:extLst>
          </p:cNvPr>
          <p:cNvSpPr txBox="1"/>
          <p:nvPr/>
        </p:nvSpPr>
        <p:spPr>
          <a:xfrm>
            <a:off x="0" y="1122514"/>
            <a:ext cx="12297103" cy="5870838"/>
          </a:xfrm>
          <a:prstGeom prst="rect">
            <a:avLst/>
          </a:prstGeom>
          <a:noFill/>
        </p:spPr>
        <p:txBody>
          <a:bodyPr wrap="square" rtlCol="0">
            <a:spAutoFit/>
          </a:bodyPr>
          <a:lstStyle/>
          <a:p>
            <a:pPr>
              <a:buNone/>
            </a:pPr>
            <a:r>
              <a:rPr lang="en-US" sz="2000" b="1" u="sng" dirty="0">
                <a:solidFill>
                  <a:srgbClr val="000000"/>
                </a:solidFill>
                <a:latin typeface="Tw Cen MT" panose="020B0602020104020603" pitchFamily="34" charset="77"/>
              </a:rPr>
              <a:t>Model Goal: </a:t>
            </a:r>
            <a:r>
              <a:rPr lang="en-US" sz="2000" dirty="0">
                <a:solidFill>
                  <a:srgbClr val="000000"/>
                </a:solidFill>
                <a:latin typeface="Tw Cen MT" panose="020B0602020104020603" pitchFamily="34" charset="77"/>
              </a:rPr>
              <a:t>The goal of this model is to predict the probability of the current play resulting in a first down. The features in this model were centered around field position, team tendencies, time remaining, and score differential. </a:t>
            </a:r>
            <a:endParaRPr lang="en-US" sz="2000" b="1" u="sng" dirty="0">
              <a:solidFill>
                <a:srgbClr val="000000"/>
              </a:solidFill>
              <a:latin typeface="Tw Cen MT" panose="020B0602020104020603" pitchFamily="34" charset="77"/>
            </a:endParaRPr>
          </a:p>
          <a:p>
            <a:pPr>
              <a:buNone/>
            </a:pPr>
            <a:endParaRPr lang="en-US" sz="2000" b="1" u="sng" dirty="0">
              <a:solidFill>
                <a:srgbClr val="000000"/>
              </a:solidFill>
              <a:latin typeface="Tw Cen MT" panose="020B0602020104020603" pitchFamily="34" charset="77"/>
            </a:endParaRPr>
          </a:p>
          <a:p>
            <a:pPr>
              <a:buNone/>
            </a:pPr>
            <a:r>
              <a:rPr lang="en-US" sz="2000" b="1" u="sng" dirty="0">
                <a:solidFill>
                  <a:srgbClr val="000000"/>
                </a:solidFill>
                <a:latin typeface="Tw Cen MT" panose="020B0602020104020603" pitchFamily="34" charset="77"/>
              </a:rPr>
              <a:t>Model Used: </a:t>
            </a:r>
            <a:r>
              <a:rPr lang="en-US" sz="2000" dirty="0">
                <a:solidFill>
                  <a:srgbClr val="000000"/>
                </a:solidFill>
                <a:latin typeface="Tw Cen MT" panose="020B0602020104020603" pitchFamily="34" charset="77"/>
              </a:rPr>
              <a:t>A </a:t>
            </a:r>
            <a:r>
              <a:rPr lang="en-US" sz="2000" dirty="0" err="1">
                <a:solidFill>
                  <a:srgbClr val="000000"/>
                </a:solidFill>
                <a:latin typeface="Tw Cen MT" panose="020B0602020104020603" pitchFamily="34" charset="77"/>
              </a:rPr>
              <a:t>LightGBM</a:t>
            </a:r>
            <a:r>
              <a:rPr lang="en-US" sz="2000" dirty="0">
                <a:solidFill>
                  <a:srgbClr val="000000"/>
                </a:solidFill>
                <a:latin typeface="Tw Cen MT" panose="020B0602020104020603" pitchFamily="34" charset="77"/>
              </a:rPr>
              <a:t> Classifier Model was used for this situation. This model was used because of its ability to work very quickly with large datasets, address class imbalance, handle high dimensional data, and high predictive accuracy. All these characteristics are highly valuable when working with football play-by-play data.  Moreover, the model was split into 80% training and 20% testing datasets. Some of the most important features inputted into this model are defined on slide 4.</a:t>
            </a:r>
            <a:endParaRPr lang="en-US" sz="2000" b="1" u="sng" dirty="0">
              <a:solidFill>
                <a:srgbClr val="000000"/>
              </a:solidFill>
              <a:latin typeface="Tw Cen MT" panose="020B0602020104020603" pitchFamily="34" charset="77"/>
            </a:endParaRPr>
          </a:p>
          <a:p>
            <a:pPr>
              <a:buNone/>
            </a:pPr>
            <a:endParaRPr lang="en-US" sz="2000" b="1" u="sng" dirty="0">
              <a:solidFill>
                <a:srgbClr val="000000"/>
              </a:solidFill>
              <a:latin typeface="Tw Cen MT" panose="020B0602020104020603" pitchFamily="34" charset="77"/>
            </a:endParaRPr>
          </a:p>
          <a:p>
            <a:pPr>
              <a:buNone/>
            </a:pPr>
            <a:r>
              <a:rPr lang="en-US" sz="2000" b="1" u="sng" dirty="0">
                <a:solidFill>
                  <a:srgbClr val="000000"/>
                </a:solidFill>
                <a:latin typeface="Tw Cen MT" panose="020B0602020104020603" pitchFamily="34" charset="77"/>
              </a:rPr>
              <a:t>Model Evaluation: </a:t>
            </a:r>
            <a:r>
              <a:rPr lang="en-US" sz="2000" dirty="0">
                <a:solidFill>
                  <a:srgbClr val="000000"/>
                </a:solidFill>
                <a:latin typeface="Tw Cen MT" panose="020B0602020104020603" pitchFamily="34" charset="77"/>
              </a:rPr>
              <a:t>To evaluate this model, one of the most important metrics used was log-loss. Log-loss will penalize overconfident wrong predictions heavily and ensures the model is well-calibrated (rewarding correct predictions). The log-loss for this model was 0.61, indicating that the model is reliable and does a significantly better job calculating first-down probability than randomly guessing. Other evaluations metrics used include AUC, which will reveal how well the model differentiates plays that result in a first down versus those that do not. The AUC was 0.658 for this model (significantly better than guessing). </a:t>
            </a:r>
          </a:p>
          <a:p>
            <a:pPr>
              <a:buNone/>
            </a:pPr>
            <a:endParaRPr lang="en-US" sz="2000" b="1" u="sng" dirty="0">
              <a:solidFill>
                <a:srgbClr val="000000"/>
              </a:solidFill>
              <a:latin typeface="Tw Cen MT" panose="020B0602020104020603" pitchFamily="34" charset="77"/>
            </a:endParaRPr>
          </a:p>
          <a:p>
            <a:r>
              <a:rPr lang="en-US" sz="1850" b="1" u="sng" dirty="0">
                <a:solidFill>
                  <a:srgbClr val="000000"/>
                </a:solidFill>
                <a:latin typeface="Tw Cen MT" panose="020B0602020104020603" pitchFamily="34" charset="77"/>
              </a:rPr>
              <a:t>Next Steps: </a:t>
            </a:r>
            <a:r>
              <a:rPr lang="en-US" sz="1850" dirty="0">
                <a:solidFill>
                  <a:srgbClr val="000000"/>
                </a:solidFill>
                <a:latin typeface="Tw Cen MT" panose="020B0602020104020603" pitchFamily="34" charset="77"/>
              </a:rPr>
              <a:t>To improve this model in the future, I think it would be great to add offensive and defensive personnel groups/formations. By seeing which players are on the field and the alignment, we would be able to better predict run or pass. Moreover, including prior play type would be a great way to add value to this model going forward.</a:t>
            </a:r>
          </a:p>
        </p:txBody>
      </p:sp>
      <p:sp>
        <p:nvSpPr>
          <p:cNvPr id="5" name="TextBox 4">
            <a:extLst>
              <a:ext uri="{FF2B5EF4-FFF2-40B4-BE49-F238E27FC236}">
                <a16:creationId xmlns:a16="http://schemas.microsoft.com/office/drawing/2014/main" id="{B60A8BBF-9A07-5708-AF03-815FAE916509}"/>
              </a:ext>
            </a:extLst>
          </p:cNvPr>
          <p:cNvSpPr txBox="1"/>
          <p:nvPr/>
        </p:nvSpPr>
        <p:spPr>
          <a:xfrm>
            <a:off x="0" y="0"/>
            <a:ext cx="12192000" cy="1138773"/>
          </a:xfrm>
          <a:prstGeom prst="rect">
            <a:avLst/>
          </a:prstGeom>
          <a:solidFill>
            <a:srgbClr val="002060"/>
          </a:solidFill>
        </p:spPr>
        <p:txBody>
          <a:bodyPr wrap="square" rtlCol="0">
            <a:spAutoFit/>
          </a:bodyPr>
          <a:lstStyle/>
          <a:p>
            <a:pPr algn="ctr"/>
            <a:br>
              <a:rPr lang="en-US" sz="2500" dirty="0">
                <a:solidFill>
                  <a:srgbClr val="FFFFFF"/>
                </a:solidFill>
                <a:latin typeface="+mj-lt"/>
              </a:rPr>
            </a:br>
            <a:r>
              <a:rPr lang="en-US" sz="2500" dirty="0">
                <a:solidFill>
                  <a:srgbClr val="FFFFFF"/>
                </a:solidFill>
              </a:rPr>
              <a:t>NFL First Down Probability Model </a:t>
            </a:r>
            <a:r>
              <a:rPr lang="en-US" sz="2500" dirty="0">
                <a:solidFill>
                  <a:srgbClr val="FFFFFF"/>
                </a:solidFill>
                <a:latin typeface="+mj-lt"/>
              </a:rPr>
              <a:t>– Conclusion</a:t>
            </a:r>
            <a:endParaRPr lang="en-US" sz="2500" b="1" dirty="0">
              <a:latin typeface="+mj-lt"/>
            </a:endParaRPr>
          </a:p>
          <a:p>
            <a:endParaRPr lang="en-US" dirty="0"/>
          </a:p>
        </p:txBody>
      </p:sp>
    </p:spTree>
    <p:extLst>
      <p:ext uri="{BB962C8B-B14F-4D97-AF65-F5344CB8AC3E}">
        <p14:creationId xmlns:p14="http://schemas.microsoft.com/office/powerpoint/2010/main" val="6459665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329F1-6EB0-968A-B2AE-F21AC0661B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F76578-F87B-B0B8-9FB3-9F4D186DA6E2}"/>
              </a:ext>
            </a:extLst>
          </p:cNvPr>
          <p:cNvSpPr>
            <a:spLocks noGrp="1"/>
          </p:cNvSpPr>
          <p:nvPr>
            <p:ph type="title"/>
          </p:nvPr>
        </p:nvSpPr>
        <p:spPr>
          <a:xfrm>
            <a:off x="940675" y="428476"/>
            <a:ext cx="9895951" cy="1033669"/>
          </a:xfrm>
        </p:spPr>
        <p:txBody>
          <a:bodyPr>
            <a:normAutofit fontScale="90000"/>
          </a:bodyPr>
          <a:lstStyle/>
          <a:p>
            <a:br>
              <a:rPr lang="en-US" sz="4000">
                <a:solidFill>
                  <a:srgbClr val="FFFFFF"/>
                </a:solidFill>
              </a:rPr>
            </a:br>
            <a:r>
              <a:rPr lang="en-US" sz="4000">
                <a:solidFill>
                  <a:srgbClr val="FFFFFF"/>
                </a:solidFill>
              </a:rPr>
              <a:t>Salary Worth Report – Summary</a:t>
            </a:r>
            <a:endParaRPr lang="en-US" sz="4000" dirty="0">
              <a:solidFill>
                <a:srgbClr val="FFFFFF"/>
              </a:solidFill>
            </a:endParaRPr>
          </a:p>
        </p:txBody>
      </p:sp>
      <p:sp>
        <p:nvSpPr>
          <p:cNvPr id="4" name="TextBox 3">
            <a:extLst>
              <a:ext uri="{FF2B5EF4-FFF2-40B4-BE49-F238E27FC236}">
                <a16:creationId xmlns:a16="http://schemas.microsoft.com/office/drawing/2014/main" id="{940F6B0D-6616-0A2E-AD4B-03EC7AE91F13}"/>
              </a:ext>
            </a:extLst>
          </p:cNvPr>
          <p:cNvSpPr txBox="1"/>
          <p:nvPr/>
        </p:nvSpPr>
        <p:spPr>
          <a:xfrm>
            <a:off x="0" y="1122514"/>
            <a:ext cx="12297103" cy="5355312"/>
          </a:xfrm>
          <a:prstGeom prst="rect">
            <a:avLst/>
          </a:prstGeom>
          <a:noFill/>
        </p:spPr>
        <p:txBody>
          <a:bodyPr wrap="square" rtlCol="0">
            <a:spAutoFit/>
          </a:bodyPr>
          <a:lstStyle/>
          <a:p>
            <a:pPr>
              <a:buNone/>
            </a:pPr>
            <a:r>
              <a:rPr lang="en-US" sz="1900" b="1" u="sng" dirty="0">
                <a:solidFill>
                  <a:srgbClr val="000000"/>
                </a:solidFill>
                <a:latin typeface="Tw Cen MT" panose="020B0602020104020603" pitchFamily="34" charset="77"/>
              </a:rPr>
              <a:t>Model Goal: </a:t>
            </a:r>
            <a:r>
              <a:rPr lang="en-US" sz="1900" dirty="0">
                <a:solidFill>
                  <a:srgbClr val="000000"/>
                </a:solidFill>
                <a:latin typeface="Tw Cen MT" panose="020B0602020104020603" pitchFamily="34" charset="77"/>
              </a:rPr>
              <a:t>The goal of this model is to predict the probability of whether a passing play will result in a completed pass. The features in this model were centered around field position, team tendencies, time remaining, and score differential. </a:t>
            </a:r>
            <a:endParaRPr lang="en-US" sz="1900" b="1" u="sng" dirty="0">
              <a:solidFill>
                <a:srgbClr val="000000"/>
              </a:solidFill>
              <a:latin typeface="Tw Cen MT" panose="020B0602020104020603" pitchFamily="34" charset="77"/>
            </a:endParaRPr>
          </a:p>
          <a:p>
            <a:pPr>
              <a:buNone/>
            </a:pPr>
            <a:endParaRPr lang="en-US" sz="1900" b="1" u="sng" dirty="0">
              <a:solidFill>
                <a:srgbClr val="000000"/>
              </a:solidFill>
              <a:latin typeface="Tw Cen MT" panose="020B0602020104020603" pitchFamily="34" charset="77"/>
            </a:endParaRPr>
          </a:p>
          <a:p>
            <a:pPr>
              <a:buNone/>
            </a:pPr>
            <a:r>
              <a:rPr lang="en-US" sz="1900" b="1" u="sng" dirty="0">
                <a:solidFill>
                  <a:srgbClr val="000000"/>
                </a:solidFill>
                <a:latin typeface="Tw Cen MT" panose="020B0602020104020603" pitchFamily="34" charset="77"/>
              </a:rPr>
              <a:t>Model Used: </a:t>
            </a:r>
            <a:r>
              <a:rPr lang="en-US" sz="1900" dirty="0">
                <a:solidFill>
                  <a:srgbClr val="000000"/>
                </a:solidFill>
                <a:latin typeface="Tw Cen MT" panose="020B0602020104020603" pitchFamily="34" charset="77"/>
              </a:rPr>
              <a:t>A </a:t>
            </a:r>
            <a:r>
              <a:rPr lang="en-US" sz="1900" dirty="0" err="1">
                <a:solidFill>
                  <a:srgbClr val="000000"/>
                </a:solidFill>
                <a:latin typeface="Tw Cen MT" panose="020B0602020104020603" pitchFamily="34" charset="77"/>
              </a:rPr>
              <a:t>LightGBM</a:t>
            </a:r>
            <a:r>
              <a:rPr lang="en-US" sz="1900" dirty="0">
                <a:solidFill>
                  <a:srgbClr val="000000"/>
                </a:solidFill>
                <a:latin typeface="Tw Cen MT" panose="020B0602020104020603" pitchFamily="34" charset="77"/>
              </a:rPr>
              <a:t> Classifier Model was used for this situation. This model was used because of its ability to work very quickly with large datasets, address class imbalance, handle high dimensional data, and high predictive accuracy. All these characteristics are highly valuable when working with football play-by-play data.  Moreover, the model was split into 80% training and 20% testing datasets. Some of the most important features inputted into this model are defined on slide 5.</a:t>
            </a:r>
            <a:endParaRPr lang="en-US" sz="1900" b="1" u="sng" dirty="0">
              <a:solidFill>
                <a:srgbClr val="000000"/>
              </a:solidFill>
              <a:latin typeface="Tw Cen MT" panose="020B0602020104020603" pitchFamily="34" charset="77"/>
            </a:endParaRPr>
          </a:p>
          <a:p>
            <a:pPr>
              <a:buNone/>
            </a:pPr>
            <a:endParaRPr lang="en-US" sz="1900" b="1" u="sng" dirty="0">
              <a:solidFill>
                <a:srgbClr val="000000"/>
              </a:solidFill>
              <a:latin typeface="Tw Cen MT" panose="020B0602020104020603" pitchFamily="34" charset="77"/>
            </a:endParaRPr>
          </a:p>
          <a:p>
            <a:pPr>
              <a:buNone/>
            </a:pPr>
            <a:r>
              <a:rPr lang="en-US" sz="1900" b="1" u="sng" dirty="0">
                <a:solidFill>
                  <a:srgbClr val="000000"/>
                </a:solidFill>
                <a:latin typeface="Tw Cen MT" panose="020B0602020104020603" pitchFamily="34" charset="77"/>
              </a:rPr>
              <a:t>Model Evaluation: </a:t>
            </a:r>
            <a:r>
              <a:rPr lang="en-US" sz="1900" dirty="0">
                <a:solidFill>
                  <a:srgbClr val="000000"/>
                </a:solidFill>
                <a:latin typeface="Tw Cen MT" panose="020B0602020104020603" pitchFamily="34" charset="77"/>
              </a:rPr>
              <a:t>To evaluate this model, one of the most important metrics used was log-loss. Log-loss will penalize overconfident wrong predictions heavily and ensures the model is well-calibrated (rewarding correct predictions). The log-loss for this model was 0.56, indicating that the model is reliable and does a better job calculating first-down probability than randomly guessing. Other evaluations metrics used include AUC, which will reveal how well the model differentiates plays that result in a completed pass versus those that do not. The AUC was 0.693 in this model (significantly better than guessing). </a:t>
            </a:r>
          </a:p>
          <a:p>
            <a:pPr>
              <a:buNone/>
            </a:pPr>
            <a:endParaRPr lang="en-US" sz="1900" b="1" u="sng" dirty="0">
              <a:solidFill>
                <a:srgbClr val="000000"/>
              </a:solidFill>
              <a:latin typeface="Tw Cen MT" panose="020B0602020104020603" pitchFamily="34" charset="77"/>
            </a:endParaRPr>
          </a:p>
          <a:p>
            <a:r>
              <a:rPr lang="en-US" sz="1900" b="1" u="sng" dirty="0">
                <a:solidFill>
                  <a:srgbClr val="000000"/>
                </a:solidFill>
                <a:latin typeface="Tw Cen MT" panose="020B0602020104020603" pitchFamily="34" charset="77"/>
              </a:rPr>
              <a:t>Next Steps: </a:t>
            </a:r>
            <a:r>
              <a:rPr lang="en-US" sz="1900" dirty="0">
                <a:solidFill>
                  <a:srgbClr val="000000"/>
                </a:solidFill>
                <a:latin typeface="Tw Cen MT" panose="020B0602020104020603" pitchFamily="34" charset="77"/>
              </a:rPr>
              <a:t>To improve this model in the future, I think it would be great to add offensive and defensive personnel groups/formations. Also, adding quarterbacks and wide receiver mechanic statistics, such as release time, throw depth, route speed, separation at throw, and throw velocity would enhance the model in the future. Quarterback pressure and dropback speed are also great metrics to monitor going forward!</a:t>
            </a:r>
          </a:p>
        </p:txBody>
      </p:sp>
      <p:sp>
        <p:nvSpPr>
          <p:cNvPr id="5" name="TextBox 4">
            <a:extLst>
              <a:ext uri="{FF2B5EF4-FFF2-40B4-BE49-F238E27FC236}">
                <a16:creationId xmlns:a16="http://schemas.microsoft.com/office/drawing/2014/main" id="{93F70675-1663-6ADD-75AD-E36318B55DD0}"/>
              </a:ext>
            </a:extLst>
          </p:cNvPr>
          <p:cNvSpPr txBox="1"/>
          <p:nvPr/>
        </p:nvSpPr>
        <p:spPr>
          <a:xfrm>
            <a:off x="0" y="0"/>
            <a:ext cx="12192000" cy="1138773"/>
          </a:xfrm>
          <a:prstGeom prst="rect">
            <a:avLst/>
          </a:prstGeom>
          <a:solidFill>
            <a:srgbClr val="002060"/>
          </a:solidFill>
        </p:spPr>
        <p:txBody>
          <a:bodyPr wrap="square" rtlCol="0">
            <a:spAutoFit/>
          </a:bodyPr>
          <a:lstStyle/>
          <a:p>
            <a:pPr algn="ctr"/>
            <a:br>
              <a:rPr lang="en-US" sz="2500" dirty="0">
                <a:solidFill>
                  <a:srgbClr val="FFFFFF"/>
                </a:solidFill>
                <a:latin typeface="+mj-lt"/>
              </a:rPr>
            </a:br>
            <a:r>
              <a:rPr lang="en-US" sz="2500" dirty="0">
                <a:solidFill>
                  <a:srgbClr val="FFFFFF"/>
                </a:solidFill>
              </a:rPr>
              <a:t>NFL Completion Probability Model </a:t>
            </a:r>
            <a:r>
              <a:rPr lang="en-US" sz="2500" dirty="0">
                <a:solidFill>
                  <a:srgbClr val="FFFFFF"/>
                </a:solidFill>
                <a:latin typeface="+mj-lt"/>
              </a:rPr>
              <a:t>–  Conclusion</a:t>
            </a:r>
            <a:endParaRPr lang="en-US" sz="2500" b="1" dirty="0">
              <a:latin typeface="+mj-lt"/>
            </a:endParaRPr>
          </a:p>
          <a:p>
            <a:endParaRPr lang="en-US" dirty="0"/>
          </a:p>
        </p:txBody>
      </p:sp>
    </p:spTree>
    <p:extLst>
      <p:ext uri="{BB962C8B-B14F-4D97-AF65-F5344CB8AC3E}">
        <p14:creationId xmlns:p14="http://schemas.microsoft.com/office/powerpoint/2010/main" val="13848858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12614</TotalTime>
  <Words>1794</Words>
  <Application>Microsoft Macintosh PowerPoint</Application>
  <PresentationFormat>Widescreen</PresentationFormat>
  <Paragraphs>101</Paragraphs>
  <Slides>8</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Aptos Display</vt:lpstr>
      <vt:lpstr>Arial</vt:lpstr>
      <vt:lpstr>Tw Cen MT</vt:lpstr>
      <vt:lpstr>Office Theme</vt:lpstr>
      <vt:lpstr>NFL Play-By-Play Models</vt:lpstr>
      <vt:lpstr> Salary Worth Report – Summary</vt:lpstr>
      <vt:lpstr>PowerPoint Presentation</vt:lpstr>
      <vt:lpstr>PowerPoint Presentation</vt:lpstr>
      <vt:lpstr>PowerPoint Presentation</vt:lpstr>
      <vt:lpstr> Salary Worth Report – Summary</vt:lpstr>
      <vt:lpstr> Salary Worth Report – Summary</vt:lpstr>
      <vt:lpstr> Salary Worth Report –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Andrew Wolfe</dc:creator>
  <cp:lastModifiedBy>Andrew Wolfe</cp:lastModifiedBy>
  <cp:revision>285</cp:revision>
  <dcterms:created xsi:type="dcterms:W3CDTF">2025-07-28T00:12:37Z</dcterms:created>
  <dcterms:modified xsi:type="dcterms:W3CDTF">2025-12-12T04:02:19Z</dcterms:modified>
</cp:coreProperties>
</file>