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8" r:id="rId2"/>
    <p:sldId id="257" r:id="rId3"/>
    <p:sldId id="260" r:id="rId4"/>
    <p:sldId id="265" r:id="rId5"/>
    <p:sldId id="261" r:id="rId6"/>
    <p:sldId id="262" r:id="rId7"/>
    <p:sldId id="263" r:id="rId8"/>
    <p:sldId id="264"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04"/>
    <p:restoredTop sz="91484"/>
  </p:normalViewPr>
  <p:slideViewPr>
    <p:cSldViewPr snapToGrid="0">
      <p:cViewPr>
        <p:scale>
          <a:sx n="89" d="100"/>
          <a:sy n="89" d="100"/>
        </p:scale>
        <p:origin x="2176"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6CC6FA-A6E0-8946-BC63-D0796D589323}" type="datetimeFigureOut">
              <a:rPr lang="en-US" smtClean="0"/>
              <a:t>11/18/25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94FFB-5E3A-7C40-9E97-20C634CEF336}" type="slidenum">
              <a:rPr lang="en-US" smtClean="0"/>
              <a:t>‹#›</a:t>
            </a:fld>
            <a:endParaRPr lang="en-US"/>
          </a:p>
        </p:txBody>
      </p:sp>
    </p:spTree>
    <p:extLst>
      <p:ext uri="{BB962C8B-B14F-4D97-AF65-F5344CB8AC3E}">
        <p14:creationId xmlns:p14="http://schemas.microsoft.com/office/powerpoint/2010/main" val="4008768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4</a:t>
            </a:fld>
            <a:endParaRPr lang="en-US"/>
          </a:p>
        </p:txBody>
      </p:sp>
    </p:spTree>
    <p:extLst>
      <p:ext uri="{BB962C8B-B14F-4D97-AF65-F5344CB8AC3E}">
        <p14:creationId xmlns:p14="http://schemas.microsoft.com/office/powerpoint/2010/main" val="1065297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9</a:t>
            </a:fld>
            <a:endParaRPr lang="en-US"/>
          </a:p>
        </p:txBody>
      </p:sp>
    </p:spTree>
    <p:extLst>
      <p:ext uri="{BB962C8B-B14F-4D97-AF65-F5344CB8AC3E}">
        <p14:creationId xmlns:p14="http://schemas.microsoft.com/office/powerpoint/2010/main" val="1311717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0AE25-166C-D2AE-86C6-1D8AC64682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385A4A-3E29-EC30-60ED-41FD83296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E268F1-B426-F937-23A2-9D9F7BB2FA14}"/>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5" name="Footer Placeholder 4">
            <a:extLst>
              <a:ext uri="{FF2B5EF4-FFF2-40B4-BE49-F238E27FC236}">
                <a16:creationId xmlns:a16="http://schemas.microsoft.com/office/drawing/2014/main" id="{5D6CECCD-F563-03CE-F33D-136D91A85E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3C102-449D-3012-0C40-EACD2CC4990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739735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4321-341F-B496-3C4B-7EFAA2F81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8FDB-5710-CEC4-7D78-336DB6DEAF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F9982-D068-822F-41ED-7B7774AF8B70}"/>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5" name="Footer Placeholder 4">
            <a:extLst>
              <a:ext uri="{FF2B5EF4-FFF2-40B4-BE49-F238E27FC236}">
                <a16:creationId xmlns:a16="http://schemas.microsoft.com/office/drawing/2014/main" id="{41A1E341-358B-01B0-B693-BC359D1B4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47575-A31F-7300-87F1-108919E09FC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2463439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AAA4E-5B8C-7773-A27F-70D865BA34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2D728F-BD9F-2CCA-A841-BE1450E0DB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67C9A8-FFFC-02D9-3E06-9F940A3830F7}"/>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5" name="Footer Placeholder 4">
            <a:extLst>
              <a:ext uri="{FF2B5EF4-FFF2-40B4-BE49-F238E27FC236}">
                <a16:creationId xmlns:a16="http://schemas.microsoft.com/office/drawing/2014/main" id="{7CD708DF-9200-CEB8-AABC-C936BE278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B174B7-013E-A38A-FBD0-E5808C1A7FA3}"/>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741553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E88CB-F018-71D5-F1CD-581571C35A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01936E-0162-B369-1F51-98373E7FAF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5EBC77-D2F2-0989-C58F-CE66EF5570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8245C-9496-0A9A-6C13-0EE69F7E4898}"/>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6" name="Footer Placeholder 5">
            <a:extLst>
              <a:ext uri="{FF2B5EF4-FFF2-40B4-BE49-F238E27FC236}">
                <a16:creationId xmlns:a16="http://schemas.microsoft.com/office/drawing/2014/main" id="{15C4D3E9-4489-50AF-A379-E6134B11CC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BD4834-4674-90B9-67D5-C822C0BB6822}"/>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412513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D942D-2898-852A-3098-AE5A884F1F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F63F42-2B44-94AB-10E6-BB5F2ADF3D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B0B5FB-D72B-2778-27C0-92ADC18968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1F3D10-FC1A-1ABF-FFE2-E20F651B30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09CDB4-4F05-8EAB-A069-8F4AB41BF9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83C7B0-3A41-7A3D-9E4B-F90B941EA65C}"/>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8" name="Footer Placeholder 7">
            <a:extLst>
              <a:ext uri="{FF2B5EF4-FFF2-40B4-BE49-F238E27FC236}">
                <a16:creationId xmlns:a16="http://schemas.microsoft.com/office/drawing/2014/main" id="{A6152A96-E293-F75F-E543-D09D8C2657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40E096-96A3-608E-898D-686B74CA5721}"/>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374966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A8D7-F28A-68F1-61EC-CD439C9FFA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2E458-4CA2-51AF-3236-D32D56827867}"/>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4" name="Footer Placeholder 3">
            <a:extLst>
              <a:ext uri="{FF2B5EF4-FFF2-40B4-BE49-F238E27FC236}">
                <a16:creationId xmlns:a16="http://schemas.microsoft.com/office/drawing/2014/main" id="{A55FA354-4166-C56E-A255-D04AF5071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37A4F7-D12B-5D2F-8B74-22C6AF85299D}"/>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3916051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BC0C29-D20E-9059-8819-EA854B4CB0B6}"/>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3" name="Footer Placeholder 2">
            <a:extLst>
              <a:ext uri="{FF2B5EF4-FFF2-40B4-BE49-F238E27FC236}">
                <a16:creationId xmlns:a16="http://schemas.microsoft.com/office/drawing/2014/main" id="{0421E465-9EB8-EEBD-F1B7-9F28151AB8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5D9FE8-D76E-280F-83E3-E2F7DFBA689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538954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4122-8198-8D83-F447-BF42446DCD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1FEB65-E309-A3B8-EF92-3B15F6F9A9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549E77-1AAA-7F9B-00C3-961658131D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9ED479-9B22-38D1-02CB-AC23CE909E7E}"/>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6" name="Footer Placeholder 5">
            <a:extLst>
              <a:ext uri="{FF2B5EF4-FFF2-40B4-BE49-F238E27FC236}">
                <a16:creationId xmlns:a16="http://schemas.microsoft.com/office/drawing/2014/main" id="{3A0EDEE3-5973-A7B0-46F8-6EF0F86A90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B2F5B5-B8EE-1F0B-C93C-AFD39C26D47D}"/>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645058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94D89-3064-28AA-ECDE-063896E13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8E1840-F047-2CE5-C3AF-637C07527B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FCD7FA-8CB6-6CE3-059B-EBA61BD331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3F3571-6404-AC4D-A09E-49C537496176}"/>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6" name="Footer Placeholder 5">
            <a:extLst>
              <a:ext uri="{FF2B5EF4-FFF2-40B4-BE49-F238E27FC236}">
                <a16:creationId xmlns:a16="http://schemas.microsoft.com/office/drawing/2014/main" id="{571304C6-A96F-D5EC-BFC3-BACE8C902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D3EB47-6796-2171-8896-5AC83AF6D7D4}"/>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085417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8E7E-42A1-124B-A340-A845754C0A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E7ACDC-8F23-C71E-7DBA-F0BD598546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B10F0C-DEDB-6082-694C-779BD4E1A250}"/>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5" name="Footer Placeholder 4">
            <a:extLst>
              <a:ext uri="{FF2B5EF4-FFF2-40B4-BE49-F238E27FC236}">
                <a16:creationId xmlns:a16="http://schemas.microsoft.com/office/drawing/2014/main" id="{3E4513C5-5DFF-C56E-D9F9-C50B414B2F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779B13-9D49-51A5-4EE2-02D4451F4961}"/>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214354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B29699-E6B2-2EFA-5E96-78EB6DC8B1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631091-489E-7FD3-81CB-94DB430C3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A92EFB-9750-2941-C9DA-A9920881F263}"/>
              </a:ext>
            </a:extLst>
          </p:cNvPr>
          <p:cNvSpPr>
            <a:spLocks noGrp="1"/>
          </p:cNvSpPr>
          <p:nvPr>
            <p:ph type="dt" sz="half" idx="10"/>
          </p:nvPr>
        </p:nvSpPr>
        <p:spPr/>
        <p:txBody>
          <a:bodyPr/>
          <a:lstStyle/>
          <a:p>
            <a:fld id="{D1B67388-5E83-8843-B620-EC1D735B2C7E}" type="datetimeFigureOut">
              <a:rPr lang="en-US" smtClean="0"/>
              <a:t>11/15/25</a:t>
            </a:fld>
            <a:endParaRPr lang="en-US"/>
          </a:p>
        </p:txBody>
      </p:sp>
      <p:sp>
        <p:nvSpPr>
          <p:cNvPr id="5" name="Footer Placeholder 4">
            <a:extLst>
              <a:ext uri="{FF2B5EF4-FFF2-40B4-BE49-F238E27FC236}">
                <a16:creationId xmlns:a16="http://schemas.microsoft.com/office/drawing/2014/main" id="{BF51A9FA-50A8-325A-ABC7-CC637A403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0D9DD4-1DDA-E57A-3043-FF32BF011AA4}"/>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2345998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F4B1E1-7864-2822-6D2A-1C716A2DFD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240F72-E965-023F-563E-94F6713507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F527B-6762-99F4-EEBB-C63282DB61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B67388-5E83-8843-B620-EC1D735B2C7E}" type="datetimeFigureOut">
              <a:rPr lang="en-US" smtClean="0"/>
              <a:t>11/15/25</a:t>
            </a:fld>
            <a:endParaRPr lang="en-US"/>
          </a:p>
        </p:txBody>
      </p:sp>
      <p:sp>
        <p:nvSpPr>
          <p:cNvPr id="5" name="Footer Placeholder 4">
            <a:extLst>
              <a:ext uri="{FF2B5EF4-FFF2-40B4-BE49-F238E27FC236}">
                <a16:creationId xmlns:a16="http://schemas.microsoft.com/office/drawing/2014/main" id="{86E5CC9B-25F3-3A7F-7C8B-81B7C3CAB6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A18A92-8073-458D-50A3-3AAF89DBE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21F564-5BBB-E34D-9334-EE9CB567BEF0}" type="slidenum">
              <a:rPr lang="en-US" smtClean="0"/>
              <a:t>‹#›</a:t>
            </a:fld>
            <a:endParaRPr lang="en-US"/>
          </a:p>
        </p:txBody>
      </p:sp>
    </p:spTree>
    <p:extLst>
      <p:ext uri="{BB962C8B-B14F-4D97-AF65-F5344CB8AC3E}">
        <p14:creationId xmlns:p14="http://schemas.microsoft.com/office/powerpoint/2010/main" val="2086689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22667-4C32-25D0-CCE6-CA9E564395D2}"/>
              </a:ext>
            </a:extLst>
          </p:cNvPr>
          <p:cNvSpPr>
            <a:spLocks noGrp="1"/>
          </p:cNvSpPr>
          <p:nvPr>
            <p:ph type="ctrTitle"/>
          </p:nvPr>
        </p:nvSpPr>
        <p:spPr>
          <a:xfrm>
            <a:off x="2197101" y="735283"/>
            <a:ext cx="4978399" cy="3165045"/>
          </a:xfrm>
        </p:spPr>
        <p:txBody>
          <a:bodyPr anchor="b">
            <a:normAutofit/>
          </a:bodyPr>
          <a:lstStyle/>
          <a:p>
            <a:pPr algn="l"/>
            <a:r>
              <a:rPr lang="en-US" sz="4400" dirty="0"/>
              <a:t>NFL - Contract Value and Offseason Evaluation Methods</a:t>
            </a:r>
          </a:p>
        </p:txBody>
      </p:sp>
      <p:sp>
        <p:nvSpPr>
          <p:cNvPr id="3" name="Subtitle 2">
            <a:extLst>
              <a:ext uri="{FF2B5EF4-FFF2-40B4-BE49-F238E27FC236}">
                <a16:creationId xmlns:a16="http://schemas.microsoft.com/office/drawing/2014/main" id="{45E69B81-BF4E-C6A1-FA75-225CE129FC6C}"/>
              </a:ext>
            </a:extLst>
          </p:cNvPr>
          <p:cNvSpPr>
            <a:spLocks noGrp="1"/>
          </p:cNvSpPr>
          <p:nvPr>
            <p:ph type="subTitle" idx="1"/>
          </p:nvPr>
        </p:nvSpPr>
        <p:spPr>
          <a:xfrm>
            <a:off x="2197101" y="4078423"/>
            <a:ext cx="4978399" cy="2058657"/>
          </a:xfrm>
        </p:spPr>
        <p:txBody>
          <a:bodyPr>
            <a:normAutofit/>
          </a:bodyPr>
          <a:lstStyle/>
          <a:p>
            <a:pPr algn="l"/>
            <a:r>
              <a:rPr lang="en-US" dirty="0"/>
              <a:t>By Andrew Wolfe</a:t>
            </a:r>
          </a:p>
          <a:p>
            <a:pPr algn="l"/>
            <a:r>
              <a:rPr lang="en-US" dirty="0"/>
              <a:t>November 2025</a:t>
            </a:r>
          </a:p>
        </p:txBody>
      </p:sp>
      <p:pic>
        <p:nvPicPr>
          <p:cNvPr id="7" name="Graphic 6" descr="Football">
            <a:extLst>
              <a:ext uri="{FF2B5EF4-FFF2-40B4-BE49-F238E27FC236}">
                <a16:creationId xmlns:a16="http://schemas.microsoft.com/office/drawing/2014/main" id="{C9530FF9-589A-B5FE-A859-EED61E0364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Football">
            <a:extLst>
              <a:ext uri="{FF2B5EF4-FFF2-40B4-BE49-F238E27FC236}">
                <a16:creationId xmlns:a16="http://schemas.microsoft.com/office/drawing/2014/main" id="{4D65CF52-BC27-4660-B492-6626146210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1820116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8B146-3CBC-5D9B-900E-20124543E9A1}"/>
              </a:ext>
            </a:extLst>
          </p:cNvPr>
          <p:cNvSpPr>
            <a:spLocks noGrp="1"/>
          </p:cNvSpPr>
          <p:nvPr>
            <p:ph type="title"/>
          </p:nvPr>
        </p:nvSpPr>
        <p:spPr>
          <a:xfrm>
            <a:off x="940675" y="428476"/>
            <a:ext cx="9895951" cy="1033669"/>
          </a:xfrm>
        </p:spPr>
        <p:txBody>
          <a:bodyPr>
            <a:normAutofit fontScale="90000"/>
          </a:bodyPr>
          <a:lstStyle/>
          <a:p>
            <a:br>
              <a:rPr lang="en-US" sz="4000" dirty="0">
                <a:solidFill>
                  <a:srgbClr val="FFFFFF"/>
                </a:solidFill>
              </a:rPr>
            </a:br>
            <a:r>
              <a:rPr lang="en-US" sz="4000" dirty="0">
                <a:solidFill>
                  <a:srgbClr val="FFFFFF"/>
                </a:solidFill>
              </a:rPr>
              <a:t>Salary Worth Report – Summary</a:t>
            </a:r>
          </a:p>
        </p:txBody>
      </p:sp>
      <p:sp>
        <p:nvSpPr>
          <p:cNvPr id="4" name="TextBox 3">
            <a:extLst>
              <a:ext uri="{FF2B5EF4-FFF2-40B4-BE49-F238E27FC236}">
                <a16:creationId xmlns:a16="http://schemas.microsoft.com/office/drawing/2014/main" id="{B195212F-80DE-9374-A866-B19C31615EBB}"/>
              </a:ext>
            </a:extLst>
          </p:cNvPr>
          <p:cNvSpPr txBox="1"/>
          <p:nvPr/>
        </p:nvSpPr>
        <p:spPr>
          <a:xfrm>
            <a:off x="0" y="1138773"/>
            <a:ext cx="12297103" cy="5632311"/>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w Cen MT" panose="020B0602020104020603" pitchFamily="34" charset="77"/>
              </a:rPr>
              <a:t>Context: </a:t>
            </a:r>
            <a:r>
              <a:rPr lang="en-US" dirty="0">
                <a:latin typeface="Tw Cen MT" panose="020B0602020104020603" pitchFamily="34" charset="77"/>
              </a:rPr>
              <a:t>After each season, NFL front offices and executives are faced with tough decisions in whether they should extend, retain, release, or re-evaluate certain players based off their contracts (in regards to the salary cap) and statistics. The purpose of this project was to provide NFL organizations with tools to help them quantify and evaluate these players. By calculating a value gap between a player’s predicted Adjusted Average Salary per Year and their actual Adjusted Average Salary per Year, front offices could identify which players were outperforming and underperforming their current contracts. Additionally, creating a model using surplus of expected value (total EPA – Expected EPA) would help front offices and executives group players into categories of whether they should extend, retain, release, or re-evaluate players. Using these two models above, NFL executives would have plenty of tools at their disposal to help with offseason decision-making. </a:t>
            </a:r>
            <a:endParaRPr lang="en-US" b="1" dirty="0">
              <a:latin typeface="Tw Cen MT" panose="020B0602020104020603" pitchFamily="34" charset="77"/>
            </a:endParaRPr>
          </a:p>
          <a:p>
            <a:pPr marL="285750" indent="-285750">
              <a:buFont typeface="Arial" panose="020B0604020202020204" pitchFamily="34" charset="0"/>
              <a:buChar char="•"/>
            </a:pPr>
            <a:r>
              <a:rPr lang="en-US" b="1" dirty="0">
                <a:latin typeface="Tw Cen MT" panose="020B0602020104020603" pitchFamily="34" charset="77"/>
              </a:rPr>
              <a:t>Dataset: </a:t>
            </a:r>
            <a:r>
              <a:rPr lang="en-US" dirty="0">
                <a:latin typeface="Tw Cen MT" panose="020B0602020104020603" pitchFamily="34" charset="77"/>
              </a:rPr>
              <a:t>The two datasets used during this process were from </a:t>
            </a:r>
            <a:r>
              <a:rPr lang="en-US" dirty="0" err="1">
                <a:latin typeface="Tw Cen MT" panose="020B0602020104020603" pitchFamily="34" charset="77"/>
              </a:rPr>
              <a:t>OvertheCap</a:t>
            </a:r>
            <a:r>
              <a:rPr lang="en-US" dirty="0">
                <a:latin typeface="Tw Cen MT" panose="020B0602020104020603" pitchFamily="34" charset="77"/>
              </a:rPr>
              <a:t> and </a:t>
            </a:r>
            <a:r>
              <a:rPr lang="en-US" dirty="0" err="1">
                <a:latin typeface="Tw Cen MT" panose="020B0602020104020603" pitchFamily="34" charset="77"/>
              </a:rPr>
              <a:t>NFLFastR</a:t>
            </a:r>
            <a:r>
              <a:rPr lang="en-US" dirty="0">
                <a:latin typeface="Tw Cen MT" panose="020B0602020104020603" pitchFamily="34" charset="77"/>
              </a:rPr>
              <a:t>. The datasets were joined together and only the 2018-2024 seasons were included in the models. </a:t>
            </a:r>
            <a:endParaRPr lang="en-US" b="1" dirty="0">
              <a:latin typeface="Tw Cen MT" panose="020B0602020104020603" pitchFamily="34" charset="77"/>
            </a:endParaRPr>
          </a:p>
          <a:p>
            <a:pPr marL="285750" indent="-285750">
              <a:buFont typeface="Arial" panose="020B0604020202020204" pitchFamily="34" charset="0"/>
              <a:buChar char="•"/>
            </a:pPr>
            <a:r>
              <a:rPr lang="en-US" b="1" dirty="0">
                <a:latin typeface="Tw Cen MT" panose="020B0602020104020603" pitchFamily="34" charset="77"/>
              </a:rPr>
              <a:t>Machine Learning Models Used: </a:t>
            </a:r>
            <a:r>
              <a:rPr lang="en-US" dirty="0">
                <a:latin typeface="Tw Cen MT" panose="020B0602020104020603" pitchFamily="34" charset="77"/>
              </a:rPr>
              <a:t>Linear Regression and Gradient Boosting Regressions were the two models used during this process. Linear Regression worked very well predicting Adjusted Average Salary per Year, while Gradient Boosting provided a good way to handle non-linear relationships, capture feature interactions, and handle skewed metrics for predicting surplus of expected value (total EPA – Expected EPA). Normalizations techniques were used to ensure that the most important features used were valued at the same scale. R-Squared was used to evaluate the models as well.</a:t>
            </a:r>
          </a:p>
          <a:p>
            <a:pPr marL="285750" indent="-285750">
              <a:buFont typeface="Arial" panose="020B0604020202020204" pitchFamily="34" charset="0"/>
              <a:buChar char="•"/>
            </a:pPr>
            <a:r>
              <a:rPr lang="en-US" b="1" dirty="0">
                <a:latin typeface="Tw Cen MT" panose="020B0602020104020603" pitchFamily="34" charset="77"/>
              </a:rPr>
              <a:t>Future Implications: </a:t>
            </a:r>
          </a:p>
          <a:p>
            <a:pPr marL="742950" lvl="1" indent="-285750">
              <a:buFont typeface="Arial" panose="020B0604020202020204" pitchFamily="34" charset="0"/>
              <a:buChar char="•"/>
            </a:pPr>
            <a:r>
              <a:rPr lang="en-US" dirty="0">
                <a:latin typeface="Tw Cen MT" panose="020B0602020104020603" pitchFamily="34" charset="77"/>
              </a:rPr>
              <a:t>How can projected surplus value help optimize extension and release value?</a:t>
            </a:r>
          </a:p>
          <a:p>
            <a:pPr marL="742950" lvl="1" indent="-285750">
              <a:buFont typeface="Arial" panose="020B0604020202020204" pitchFamily="34" charset="0"/>
              <a:buChar char="•"/>
            </a:pPr>
            <a:r>
              <a:rPr lang="en-US" dirty="0">
                <a:latin typeface="Tw Cen MT" panose="020B0602020104020603" pitchFamily="34" charset="77"/>
              </a:rPr>
              <a:t>What are some warning signs or criteria to look for when a team should avoid signing a player to an extension? </a:t>
            </a:r>
          </a:p>
          <a:p>
            <a:pPr marL="742950" lvl="1" indent="-285750">
              <a:buFont typeface="Arial" panose="020B0604020202020204" pitchFamily="34" charset="0"/>
              <a:buChar char="•"/>
            </a:pPr>
            <a:r>
              <a:rPr lang="en-US" dirty="0">
                <a:latin typeface="Tw Cen MT" panose="020B0602020104020603" pitchFamily="34" charset="77"/>
              </a:rPr>
              <a:t>How do these models influence draft strategy?</a:t>
            </a:r>
          </a:p>
          <a:p>
            <a:pPr marL="742950" lvl="1" indent="-285750">
              <a:buFont typeface="Arial" panose="020B0604020202020204" pitchFamily="34" charset="0"/>
              <a:buChar char="•"/>
            </a:pPr>
            <a:r>
              <a:rPr lang="en-US" dirty="0">
                <a:latin typeface="Tw Cen MT" panose="020B0602020104020603" pitchFamily="34" charset="77"/>
              </a:rPr>
              <a:t>How would this model help identify the metrics that forecast early signs of decline or likelihood of a contract extension?</a:t>
            </a:r>
          </a:p>
        </p:txBody>
      </p:sp>
      <p:sp>
        <p:nvSpPr>
          <p:cNvPr id="5" name="TextBox 4">
            <a:extLst>
              <a:ext uri="{FF2B5EF4-FFF2-40B4-BE49-F238E27FC236}">
                <a16:creationId xmlns:a16="http://schemas.microsoft.com/office/drawing/2014/main" id="{4CA1AEF9-0771-3CFB-7AC6-999BECF5C082}"/>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latin typeface="+mj-lt"/>
              </a:rPr>
              <a:t>NFL Contract Value and Offseason Evaluation Methods – Context</a:t>
            </a:r>
            <a:endParaRPr lang="en-US" sz="2500" b="1" dirty="0">
              <a:latin typeface="+mj-lt"/>
            </a:endParaRPr>
          </a:p>
          <a:p>
            <a:endParaRPr lang="en-US" dirty="0"/>
          </a:p>
        </p:txBody>
      </p:sp>
    </p:spTree>
    <p:extLst>
      <p:ext uri="{BB962C8B-B14F-4D97-AF65-F5344CB8AC3E}">
        <p14:creationId xmlns:p14="http://schemas.microsoft.com/office/powerpoint/2010/main" val="2835292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C0453-F7B0-DB71-955A-8AF1E8B6CB27}"/>
              </a:ext>
            </a:extLst>
          </p:cNvPr>
          <p:cNvSpPr>
            <a:spLocks noGrp="1"/>
          </p:cNvSpPr>
          <p:nvPr>
            <p:ph idx="1"/>
          </p:nvPr>
        </p:nvSpPr>
        <p:spPr>
          <a:xfrm>
            <a:off x="533400" y="1253331"/>
            <a:ext cx="10515600" cy="4351338"/>
          </a:xfrm>
        </p:spPr>
        <p:txBody>
          <a:bodyPr/>
          <a:lstStyle/>
          <a:p>
            <a:r>
              <a:rPr lang="en-US" sz="1600" b="1" dirty="0">
                <a:latin typeface="Tw Cen MT" panose="020B0602020104020603" pitchFamily="34" charset="77"/>
              </a:rPr>
              <a:t>Input Variables: </a:t>
            </a:r>
            <a:r>
              <a:rPr lang="en-US" sz="1600" dirty="0">
                <a:latin typeface="Tw Cen MT" panose="020B0602020104020603" pitchFamily="34" charset="77"/>
              </a:rPr>
              <a:t>The variables used in this model include a combination of efficiency, production, and career context. Again, the purpose of using these variables was to evaluate player performance and cost-effective practices for the future. Some of the most important metrics, are noted below: </a:t>
            </a:r>
          </a:p>
          <a:p>
            <a:pPr lvl="1"/>
            <a:endParaRPr lang="en-US" sz="900" dirty="0"/>
          </a:p>
        </p:txBody>
      </p:sp>
      <p:sp>
        <p:nvSpPr>
          <p:cNvPr id="4" name="TextBox 3">
            <a:extLst>
              <a:ext uri="{FF2B5EF4-FFF2-40B4-BE49-F238E27FC236}">
                <a16:creationId xmlns:a16="http://schemas.microsoft.com/office/drawing/2014/main" id="{3AEDA0B0-D07C-7D3A-6522-AD87063C4BA2}"/>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latin typeface="+mj-lt"/>
              </a:rPr>
              <a:t>NFL Contract Value and Offseason Evaluation Methods – Input Variables</a:t>
            </a:r>
            <a:endParaRPr lang="en-US" sz="2500" b="1" dirty="0">
              <a:latin typeface="+mj-lt"/>
            </a:endParaRPr>
          </a:p>
          <a:p>
            <a:endParaRPr lang="en-US" dirty="0"/>
          </a:p>
        </p:txBody>
      </p:sp>
      <p:graphicFrame>
        <p:nvGraphicFramePr>
          <p:cNvPr id="5" name="Table 4">
            <a:extLst>
              <a:ext uri="{FF2B5EF4-FFF2-40B4-BE49-F238E27FC236}">
                <a16:creationId xmlns:a16="http://schemas.microsoft.com/office/drawing/2014/main" id="{E7D6D365-44C6-788C-3878-E9AC03050FF7}"/>
              </a:ext>
            </a:extLst>
          </p:cNvPr>
          <p:cNvGraphicFramePr>
            <a:graphicFrameLocks noGrp="1"/>
          </p:cNvGraphicFramePr>
          <p:nvPr>
            <p:extLst>
              <p:ext uri="{D42A27DB-BD31-4B8C-83A1-F6EECF244321}">
                <p14:modId xmlns:p14="http://schemas.microsoft.com/office/powerpoint/2010/main" val="2493165392"/>
              </p:ext>
            </p:extLst>
          </p:nvPr>
        </p:nvGraphicFramePr>
        <p:xfrm>
          <a:off x="2666998" y="2011680"/>
          <a:ext cx="7677150" cy="4717730"/>
        </p:xfrm>
        <a:graphic>
          <a:graphicData uri="http://schemas.openxmlformats.org/drawingml/2006/table">
            <a:tbl>
              <a:tblPr firstRow="1" bandRow="1">
                <a:tableStyleId>{616DA210-FB5B-4158-B5E0-FEB733F419BA}</a:tableStyleId>
              </a:tblPr>
              <a:tblGrid>
                <a:gridCol w="3838575">
                  <a:extLst>
                    <a:ext uri="{9D8B030D-6E8A-4147-A177-3AD203B41FA5}">
                      <a16:colId xmlns:a16="http://schemas.microsoft.com/office/drawing/2014/main" val="432208460"/>
                    </a:ext>
                  </a:extLst>
                </a:gridCol>
                <a:gridCol w="3838575">
                  <a:extLst>
                    <a:ext uri="{9D8B030D-6E8A-4147-A177-3AD203B41FA5}">
                      <a16:colId xmlns:a16="http://schemas.microsoft.com/office/drawing/2014/main" val="2292416677"/>
                    </a:ext>
                  </a:extLst>
                </a:gridCol>
              </a:tblGrid>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total_epa</a:t>
                      </a:r>
                    </a:p>
                  </a:txBody>
                  <a:tcPr/>
                </a:tc>
                <a:tc>
                  <a:txBody>
                    <a:bodyPr/>
                    <a:lstStyle/>
                    <a:p>
                      <a:r>
                        <a:rPr lang="en-US" sz="1400" b="1" dirty="0"/>
                        <a:t>Total Expected Points Added throughout the season</a:t>
                      </a:r>
                    </a:p>
                  </a:txBody>
                  <a:tcPr/>
                </a:tc>
                <a:extLst>
                  <a:ext uri="{0D108BD9-81ED-4DB2-BD59-A6C34878D82A}">
                    <a16:rowId xmlns:a16="http://schemas.microsoft.com/office/drawing/2014/main" val="2081429498"/>
                  </a:ext>
                </a:extLst>
              </a:tr>
              <a:tr h="372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avg_epa_per_play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Average Expected Points Added per Play</a:t>
                      </a:r>
                    </a:p>
                  </a:txBody>
                  <a:tcPr/>
                </a:tc>
                <a:extLst>
                  <a:ext uri="{0D108BD9-81ED-4DB2-BD59-A6C34878D82A}">
                    <a16:rowId xmlns:a16="http://schemas.microsoft.com/office/drawing/2014/main" val="1680131247"/>
                  </a:ext>
                </a:extLst>
              </a:tr>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cpoe_avg</a:t>
                      </a:r>
                    </a:p>
                  </a:txBody>
                  <a:tcPr/>
                </a:tc>
                <a:tc>
                  <a:txBody>
                    <a:bodyPr/>
                    <a:lstStyle/>
                    <a:p>
                      <a:r>
                        <a:rPr lang="en-US" sz="1400" b="1" dirty="0"/>
                        <a:t>Average Completion Percentage Over Expected</a:t>
                      </a:r>
                    </a:p>
                  </a:txBody>
                  <a:tcPr/>
                </a:tc>
                <a:extLst>
                  <a:ext uri="{0D108BD9-81ED-4DB2-BD59-A6C34878D82A}">
                    <a16:rowId xmlns:a16="http://schemas.microsoft.com/office/drawing/2014/main" val="1998778973"/>
                  </a:ext>
                </a:extLst>
              </a:tr>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epa_per_million</a:t>
                      </a:r>
                    </a:p>
                  </a:txBody>
                  <a:tcPr/>
                </a:tc>
                <a:tc>
                  <a:txBody>
                    <a:bodyPr/>
                    <a:lstStyle/>
                    <a:p>
                      <a:r>
                        <a:rPr lang="en-US" sz="1400" b="1" dirty="0"/>
                        <a:t>Quantifies the total EPA produced per one million dollars</a:t>
                      </a:r>
                    </a:p>
                  </a:txBody>
                  <a:tcPr/>
                </a:tc>
                <a:extLst>
                  <a:ext uri="{0D108BD9-81ED-4DB2-BD59-A6C34878D82A}">
                    <a16:rowId xmlns:a16="http://schemas.microsoft.com/office/drawing/2014/main" val="1176812852"/>
                  </a:ext>
                </a:extLst>
              </a:tr>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tds_per_million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Quantifies the number of TD’s produced per one million dollars</a:t>
                      </a:r>
                    </a:p>
                  </a:txBody>
                  <a:tcPr/>
                </a:tc>
                <a:extLst>
                  <a:ext uri="{0D108BD9-81ED-4DB2-BD59-A6C34878D82A}">
                    <a16:rowId xmlns:a16="http://schemas.microsoft.com/office/drawing/2014/main" val="37978820"/>
                  </a:ext>
                </a:extLst>
              </a:tr>
              <a:tr h="372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td_per_int</a:t>
                      </a:r>
                    </a:p>
                  </a:txBody>
                  <a:tcPr/>
                </a:tc>
                <a:tc>
                  <a:txBody>
                    <a:bodyPr/>
                    <a:lstStyle/>
                    <a:p>
                      <a:r>
                        <a:rPr lang="en-US" sz="1400" b="1" dirty="0"/>
                        <a:t>Touchdowns / Interceptions</a:t>
                      </a:r>
                    </a:p>
                  </a:txBody>
                  <a:tcPr/>
                </a:tc>
                <a:extLst>
                  <a:ext uri="{0D108BD9-81ED-4DB2-BD59-A6C34878D82A}">
                    <a16:rowId xmlns:a16="http://schemas.microsoft.com/office/drawing/2014/main" val="886909560"/>
                  </a:ext>
                </a:extLst>
              </a:tr>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rush_success_rate</a:t>
                      </a:r>
                    </a:p>
                  </a:txBody>
                  <a:tcPr/>
                </a:tc>
                <a:tc>
                  <a:txBody>
                    <a:bodyPr/>
                    <a:lstStyle/>
                    <a:p>
                      <a:r>
                        <a:rPr lang="en-US" sz="1400" b="1" dirty="0"/>
                        <a:t>Percentage of rushing players that are deemed successful</a:t>
                      </a:r>
                    </a:p>
                  </a:txBody>
                  <a:tcPr/>
                </a:tc>
                <a:extLst>
                  <a:ext uri="{0D108BD9-81ED-4DB2-BD59-A6C34878D82A}">
                    <a16:rowId xmlns:a16="http://schemas.microsoft.com/office/drawing/2014/main" val="4255454010"/>
                  </a:ext>
                </a:extLst>
              </a:tr>
              <a:tr h="372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yac_epa_total</a:t>
                      </a:r>
                    </a:p>
                  </a:txBody>
                  <a:tcPr/>
                </a:tc>
                <a:tc>
                  <a:txBody>
                    <a:bodyPr/>
                    <a:lstStyle/>
                    <a:p>
                      <a:r>
                        <a:rPr lang="en-US" sz="1400" b="1" dirty="0"/>
                        <a:t>Total Expected Points Added after a catch</a:t>
                      </a:r>
                    </a:p>
                  </a:txBody>
                  <a:tcPr/>
                </a:tc>
                <a:extLst>
                  <a:ext uri="{0D108BD9-81ED-4DB2-BD59-A6C34878D82A}">
                    <a16:rowId xmlns:a16="http://schemas.microsoft.com/office/drawing/2014/main" val="1674468065"/>
                  </a:ext>
                </a:extLst>
              </a:tr>
              <a:tr h="962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apy_cap_pct</a:t>
                      </a:r>
                    </a:p>
                  </a:txBody>
                  <a:tcPr/>
                </a:tc>
                <a:tc>
                  <a:txBody>
                    <a:bodyPr/>
                    <a:lstStyle/>
                    <a:p>
                      <a:r>
                        <a:rPr lang="en-US" sz="1400" b="1" dirty="0"/>
                        <a:t>Average Per Year as a percentage of the team’s salary cap. It quantifies the amount a player’s salary takes up as a percentage of the team's total salary cap.</a:t>
                      </a:r>
                    </a:p>
                  </a:txBody>
                  <a:tcPr/>
                </a:tc>
                <a:extLst>
                  <a:ext uri="{0D108BD9-81ED-4DB2-BD59-A6C34878D82A}">
                    <a16:rowId xmlns:a16="http://schemas.microsoft.com/office/drawing/2014/main" val="2232803020"/>
                  </a:ext>
                </a:extLst>
              </a:tr>
            </a:tbl>
          </a:graphicData>
        </a:graphic>
      </p:graphicFrame>
    </p:spTree>
    <p:extLst>
      <p:ext uri="{BB962C8B-B14F-4D97-AF65-F5344CB8AC3E}">
        <p14:creationId xmlns:p14="http://schemas.microsoft.com/office/powerpoint/2010/main" val="3871031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5D8F3-EB20-E9EA-2722-659FF9CC44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12409F-433D-C684-4AC6-7673A124DA6E}"/>
              </a:ext>
            </a:extLst>
          </p:cNvPr>
          <p:cNvSpPr>
            <a:spLocks noGrp="1"/>
          </p:cNvSpPr>
          <p:nvPr>
            <p:ph idx="1"/>
          </p:nvPr>
        </p:nvSpPr>
        <p:spPr>
          <a:xfrm>
            <a:off x="533399" y="1253331"/>
            <a:ext cx="11448393" cy="4351338"/>
          </a:xfrm>
        </p:spPr>
        <p:txBody>
          <a:bodyPr/>
          <a:lstStyle/>
          <a:p>
            <a:r>
              <a:rPr lang="en-US" sz="1600" b="1" dirty="0">
                <a:latin typeface="Tw Cen MT" panose="020B0602020104020603" pitchFamily="34" charset="77"/>
              </a:rPr>
              <a:t>Target and Created Variables: </a:t>
            </a:r>
            <a:r>
              <a:rPr lang="en-US" sz="1600" dirty="0">
                <a:latin typeface="Tw Cen MT" panose="020B0602020104020603" pitchFamily="34" charset="77"/>
              </a:rPr>
              <a:t>The target variables used in the two models during this project, along with the most important columns created in the feature engineering phase, are noted below:</a:t>
            </a:r>
          </a:p>
          <a:p>
            <a:pPr lvl="1"/>
            <a:endParaRPr lang="en-US" sz="900" dirty="0"/>
          </a:p>
        </p:txBody>
      </p:sp>
      <p:sp>
        <p:nvSpPr>
          <p:cNvPr id="4" name="TextBox 3">
            <a:extLst>
              <a:ext uri="{FF2B5EF4-FFF2-40B4-BE49-F238E27FC236}">
                <a16:creationId xmlns:a16="http://schemas.microsoft.com/office/drawing/2014/main" id="{A3274757-C41F-8EFB-A8F6-DE27E714B8A6}"/>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latin typeface="+mj-lt"/>
              </a:rPr>
              <a:t>NFL Contract Value and Offseason Evaluation Methods – Target and Created Variables</a:t>
            </a:r>
            <a:endParaRPr lang="en-US" sz="2500" b="1" dirty="0">
              <a:latin typeface="+mj-lt"/>
            </a:endParaRPr>
          </a:p>
          <a:p>
            <a:endParaRPr lang="en-US" dirty="0"/>
          </a:p>
        </p:txBody>
      </p:sp>
      <p:graphicFrame>
        <p:nvGraphicFramePr>
          <p:cNvPr id="5" name="Table 4">
            <a:extLst>
              <a:ext uri="{FF2B5EF4-FFF2-40B4-BE49-F238E27FC236}">
                <a16:creationId xmlns:a16="http://schemas.microsoft.com/office/drawing/2014/main" id="{4E890622-664C-01A9-C340-7F14C27E7489}"/>
              </a:ext>
            </a:extLst>
          </p:cNvPr>
          <p:cNvGraphicFramePr>
            <a:graphicFrameLocks noGrp="1"/>
          </p:cNvGraphicFramePr>
          <p:nvPr>
            <p:extLst>
              <p:ext uri="{D42A27DB-BD31-4B8C-83A1-F6EECF244321}">
                <p14:modId xmlns:p14="http://schemas.microsoft.com/office/powerpoint/2010/main" val="2841076888"/>
              </p:ext>
            </p:extLst>
          </p:nvPr>
        </p:nvGraphicFramePr>
        <p:xfrm>
          <a:off x="2593426" y="1857436"/>
          <a:ext cx="7350674" cy="4872996"/>
        </p:xfrm>
        <a:graphic>
          <a:graphicData uri="http://schemas.openxmlformats.org/drawingml/2006/table">
            <a:tbl>
              <a:tblPr firstRow="1" bandRow="1">
                <a:tableStyleId>{616DA210-FB5B-4158-B5E0-FEB733F419BA}</a:tableStyleId>
              </a:tblPr>
              <a:tblGrid>
                <a:gridCol w="3675337">
                  <a:extLst>
                    <a:ext uri="{9D8B030D-6E8A-4147-A177-3AD203B41FA5}">
                      <a16:colId xmlns:a16="http://schemas.microsoft.com/office/drawing/2014/main" val="432208460"/>
                    </a:ext>
                  </a:extLst>
                </a:gridCol>
                <a:gridCol w="3675337">
                  <a:extLst>
                    <a:ext uri="{9D8B030D-6E8A-4147-A177-3AD203B41FA5}">
                      <a16:colId xmlns:a16="http://schemas.microsoft.com/office/drawing/2014/main" val="2292416677"/>
                    </a:ext>
                  </a:extLst>
                </a:gridCol>
              </a:tblGrid>
              <a:tr h="8571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inflated_apy</a:t>
                      </a:r>
                    </a:p>
                  </a:txBody>
                  <a:tcPr/>
                </a:tc>
                <a:tc>
                  <a:txBody>
                    <a:bodyPr/>
                    <a:lstStyle/>
                    <a:p>
                      <a:r>
                        <a:rPr lang="en-US" sz="1400" dirty="0"/>
                        <a:t>Average Salary Per Year after adjusting for changes in the salary cap and being scaled to a common salary cap environment</a:t>
                      </a:r>
                    </a:p>
                  </a:txBody>
                  <a:tcPr/>
                </a:tc>
                <a:extLst>
                  <a:ext uri="{0D108BD9-81ED-4DB2-BD59-A6C34878D82A}">
                    <a16:rowId xmlns:a16="http://schemas.microsoft.com/office/drawing/2014/main" val="2081429498"/>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predicted_apy</a:t>
                      </a:r>
                    </a:p>
                  </a:txBody>
                  <a:tcPr/>
                </a:tc>
                <a:tc>
                  <a:txBody>
                    <a:bodyPr/>
                    <a:lstStyle/>
                    <a:p>
                      <a:r>
                        <a:rPr lang="en-US" sz="1400" b="1" dirty="0"/>
                        <a:t>Model generated prediction of what a player should make per season</a:t>
                      </a:r>
                    </a:p>
                  </a:txBody>
                  <a:tcPr/>
                </a:tc>
                <a:extLst>
                  <a:ext uri="{0D108BD9-81ED-4DB2-BD59-A6C34878D82A}">
                    <a16:rowId xmlns:a16="http://schemas.microsoft.com/office/drawing/2014/main" val="1680131247"/>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value_gap</a:t>
                      </a:r>
                    </a:p>
                  </a:txBody>
                  <a:tcPr/>
                </a:tc>
                <a:tc>
                  <a:txBody>
                    <a:bodyPr/>
                    <a:lstStyle/>
                    <a:p>
                      <a:r>
                        <a:rPr lang="en-US" sz="1400" b="1" dirty="0"/>
                        <a:t>Predicted APY – Inflated APY. How much more or less a player should be paid</a:t>
                      </a:r>
                    </a:p>
                  </a:txBody>
                  <a:tcPr/>
                </a:tc>
                <a:extLst>
                  <a:ext uri="{0D108BD9-81ED-4DB2-BD59-A6C34878D82A}">
                    <a16:rowId xmlns:a16="http://schemas.microsoft.com/office/drawing/2014/main" val="1998778973"/>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expected_epa</a:t>
                      </a:r>
                    </a:p>
                  </a:txBody>
                  <a:tcPr/>
                </a:tc>
                <a:tc>
                  <a:txBody>
                    <a:bodyPr/>
                    <a:lstStyle/>
                    <a:p>
                      <a:r>
                        <a:rPr lang="en-US" sz="1400" b="1" dirty="0"/>
                        <a:t>Expected total EPA for a season based off their current contract and statistics</a:t>
                      </a:r>
                    </a:p>
                  </a:txBody>
                  <a:tcPr/>
                </a:tc>
                <a:extLst>
                  <a:ext uri="{0D108BD9-81ED-4DB2-BD59-A6C34878D82A}">
                    <a16:rowId xmlns:a16="http://schemas.microsoft.com/office/drawing/2014/main" val="1176812852"/>
                  </a:ext>
                </a:extLst>
              </a:tr>
              <a:tr h="7876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surplus_value</a:t>
                      </a:r>
                    </a:p>
                  </a:txBody>
                  <a:tcPr/>
                </a:tc>
                <a:tc>
                  <a:txBody>
                    <a:bodyPr/>
                    <a:lstStyle/>
                    <a:p>
                      <a:r>
                        <a:rPr lang="en-US" sz="1400" b="1" dirty="0"/>
                        <a:t>Total EPA – Expected total EPA. How much more or less a player produced during a season compared to what was expected.</a:t>
                      </a:r>
                    </a:p>
                  </a:txBody>
                  <a:tcPr/>
                </a:tc>
                <a:extLst>
                  <a:ext uri="{0D108BD9-81ED-4DB2-BD59-A6C34878D82A}">
                    <a16:rowId xmlns:a16="http://schemas.microsoft.com/office/drawing/2014/main" val="37978820"/>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epa_z</a:t>
                      </a:r>
                    </a:p>
                  </a:txBody>
                  <a:tcPr/>
                </a:tc>
                <a:tc>
                  <a:txBody>
                    <a:bodyPr/>
                    <a:lstStyle/>
                    <a:p>
                      <a:r>
                        <a:rPr lang="en-US" sz="1400" b="1" dirty="0"/>
                        <a:t>Normalized Expected Points Added per Million Dollars Earned</a:t>
                      </a:r>
                    </a:p>
                  </a:txBody>
                  <a:tcPr/>
                </a:tc>
                <a:extLst>
                  <a:ext uri="{0D108BD9-81ED-4DB2-BD59-A6C34878D82A}">
                    <a16:rowId xmlns:a16="http://schemas.microsoft.com/office/drawing/2014/main" val="4255454010"/>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yards_z</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Normalized Total Yards per Million Dollars Earned</a:t>
                      </a:r>
                    </a:p>
                  </a:txBody>
                  <a:tcPr/>
                </a:tc>
                <a:extLst>
                  <a:ext uri="{0D108BD9-81ED-4DB2-BD59-A6C34878D82A}">
                    <a16:rowId xmlns:a16="http://schemas.microsoft.com/office/drawing/2014/main" val="1674468065"/>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tds_z</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Normalized Total Touchdowns per Million Dollars Earned</a:t>
                      </a:r>
                    </a:p>
                  </a:txBody>
                  <a:tcPr/>
                </a:tc>
                <a:extLst>
                  <a:ext uri="{0D108BD9-81ED-4DB2-BD59-A6C34878D82A}">
                    <a16:rowId xmlns:a16="http://schemas.microsoft.com/office/drawing/2014/main" val="2232803020"/>
                  </a:ext>
                </a:extLst>
              </a:tr>
            </a:tbl>
          </a:graphicData>
        </a:graphic>
      </p:graphicFrame>
    </p:spTree>
    <p:extLst>
      <p:ext uri="{BB962C8B-B14F-4D97-AF65-F5344CB8AC3E}">
        <p14:creationId xmlns:p14="http://schemas.microsoft.com/office/powerpoint/2010/main" val="371506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03BA2-EA70-C7A1-5F93-A321B169A5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BFFF6-64BB-3016-11AF-3FFEBD3DA8C1}"/>
              </a:ext>
            </a:extLst>
          </p:cNvPr>
          <p:cNvSpPr>
            <a:spLocks noGrp="1"/>
          </p:cNvSpPr>
          <p:nvPr>
            <p:ph idx="1"/>
          </p:nvPr>
        </p:nvSpPr>
        <p:spPr>
          <a:xfrm>
            <a:off x="155027" y="1253331"/>
            <a:ext cx="10515600" cy="4351338"/>
          </a:xfrm>
        </p:spPr>
        <p:txBody>
          <a:bodyPr>
            <a:normAutofit/>
          </a:bodyPr>
          <a:lstStyle/>
          <a:p>
            <a:r>
              <a:rPr lang="en-US" sz="1600" b="1" dirty="0">
                <a:latin typeface="Tw Cen MT" panose="020B0602020104020603" pitchFamily="34" charset="77"/>
              </a:rPr>
              <a:t>Model Context: </a:t>
            </a:r>
            <a:r>
              <a:rPr lang="en-US" sz="1600" dirty="0">
                <a:latin typeface="Tw Cen MT" panose="020B0602020104020603" pitchFamily="34" charset="77"/>
              </a:rPr>
              <a:t>A Linear Regression model was used to calculate predicted APY for quarterbacks from the 2018-2024 season. Features used in the model included "total_epa", "total_yards", "epa_z", "tds_z", "td_per_int", "</a:t>
            </a:r>
            <a:r>
              <a:rPr lang="en-US" sz="1600" dirty="0" err="1">
                <a:latin typeface="Tw Cen MT" panose="020B0602020104020603" pitchFamily="34" charset="77"/>
              </a:rPr>
              <a:t>qb_epa_total</a:t>
            </a:r>
            <a:r>
              <a:rPr lang="en-US" sz="1600" dirty="0">
                <a:latin typeface="Tw Cen MT" panose="020B0602020104020603" pitchFamily="34" charset="77"/>
              </a:rPr>
              <a:t>", "avg_epa_per_play", "cpoe_avg", "rush_epa_total”. After using these features in the model to predict APY, a value gap metric was created to represent the difference between predicted APY and actual APY. With this metric, the five most underpaid and overpaid quarterbacks were identified and are noted below. </a:t>
            </a:r>
          </a:p>
          <a:p>
            <a:r>
              <a:rPr lang="en-US" sz="1600" b="1" dirty="0">
                <a:latin typeface="Tw Cen MT" panose="020B0602020104020603" pitchFamily="34" charset="77"/>
              </a:rPr>
              <a:t>Top 5 Most Underpaid QBs:</a:t>
            </a:r>
          </a:p>
          <a:p>
            <a:endParaRPr lang="en-US" sz="1200" b="1" dirty="0">
              <a:latin typeface="Tw Cen MT" panose="020B0602020104020603" pitchFamily="34" charset="77"/>
            </a:endParaRPr>
          </a:p>
          <a:p>
            <a:endParaRPr lang="en-US" sz="1200" b="1" dirty="0">
              <a:latin typeface="Tw Cen MT" panose="020B0602020104020603" pitchFamily="34" charset="77"/>
            </a:endParaRPr>
          </a:p>
          <a:p>
            <a:endParaRPr lang="en-US" sz="1200" b="1" dirty="0">
              <a:latin typeface="Tw Cen MT" panose="020B0602020104020603" pitchFamily="34" charset="77"/>
            </a:endParaRPr>
          </a:p>
          <a:p>
            <a:endParaRPr lang="en-US" sz="1200" b="1" dirty="0">
              <a:latin typeface="Tw Cen MT" panose="020B0602020104020603" pitchFamily="34" charset="77"/>
            </a:endParaRPr>
          </a:p>
          <a:p>
            <a:endParaRPr lang="en-US" sz="1200" b="1" dirty="0">
              <a:latin typeface="Tw Cen MT" panose="020B0602020104020603" pitchFamily="34" charset="77"/>
            </a:endParaRPr>
          </a:p>
          <a:p>
            <a:pPr marL="0" indent="0">
              <a:buNone/>
            </a:pPr>
            <a:endParaRPr lang="en-US" sz="1600" b="1" dirty="0">
              <a:latin typeface="Tw Cen MT" panose="020B0602020104020603" pitchFamily="34" charset="77"/>
            </a:endParaRPr>
          </a:p>
          <a:p>
            <a:r>
              <a:rPr lang="en-US" sz="1600" b="1" dirty="0">
                <a:latin typeface="Tw Cen MT" panose="020B0602020104020603" pitchFamily="34" charset="77"/>
              </a:rPr>
              <a:t>Top 5 Most Overpaid QBs: </a:t>
            </a:r>
            <a:endParaRPr lang="en-US" sz="1600" dirty="0"/>
          </a:p>
        </p:txBody>
      </p:sp>
      <p:sp>
        <p:nvSpPr>
          <p:cNvPr id="4" name="TextBox 3">
            <a:extLst>
              <a:ext uri="{FF2B5EF4-FFF2-40B4-BE49-F238E27FC236}">
                <a16:creationId xmlns:a16="http://schemas.microsoft.com/office/drawing/2014/main" id="{6F73676A-2372-E0F8-C0E8-AB251C18B685}"/>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latin typeface="+mj-lt"/>
              </a:rPr>
              <a:t>NFL Contract Value – Model Output (QB – Linear Regression)</a:t>
            </a:r>
            <a:endParaRPr lang="en-US" sz="2500" b="1" dirty="0">
              <a:latin typeface="+mj-lt"/>
            </a:endParaRPr>
          </a:p>
          <a:p>
            <a:endParaRPr lang="en-US" dirty="0"/>
          </a:p>
        </p:txBody>
      </p:sp>
      <p:pic>
        <p:nvPicPr>
          <p:cNvPr id="7" name="Picture 6" descr="A screenshot of a graph&#10;&#10;AI-generated content may be incorrect.">
            <a:extLst>
              <a:ext uri="{FF2B5EF4-FFF2-40B4-BE49-F238E27FC236}">
                <a16:creationId xmlns:a16="http://schemas.microsoft.com/office/drawing/2014/main" id="{5492E4F6-4FE8-E1E5-2B9D-464ABFA72196}"/>
              </a:ext>
            </a:extLst>
          </p:cNvPr>
          <p:cNvPicPr>
            <a:picLocks noChangeAspect="1"/>
          </p:cNvPicPr>
          <p:nvPr/>
        </p:nvPicPr>
        <p:blipFill>
          <a:blip r:embed="rId2"/>
          <a:stretch>
            <a:fillRect/>
          </a:stretch>
        </p:blipFill>
        <p:spPr>
          <a:xfrm>
            <a:off x="587567" y="2910114"/>
            <a:ext cx="9618389" cy="1613466"/>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CFC135D3-21EC-D51F-A248-A0664D673805}"/>
              </a:ext>
            </a:extLst>
          </p:cNvPr>
          <p:cNvPicPr>
            <a:picLocks noChangeAspect="1"/>
          </p:cNvPicPr>
          <p:nvPr/>
        </p:nvPicPr>
        <p:blipFill>
          <a:blip r:embed="rId3"/>
          <a:stretch>
            <a:fillRect/>
          </a:stretch>
        </p:blipFill>
        <p:spPr>
          <a:xfrm>
            <a:off x="587568" y="5008586"/>
            <a:ext cx="9618389" cy="1613466"/>
          </a:xfrm>
          <a:prstGeom prst="rect">
            <a:avLst/>
          </a:prstGeom>
        </p:spPr>
      </p:pic>
    </p:spTree>
    <p:extLst>
      <p:ext uri="{BB962C8B-B14F-4D97-AF65-F5344CB8AC3E}">
        <p14:creationId xmlns:p14="http://schemas.microsoft.com/office/powerpoint/2010/main" val="4004425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C9434-F3FA-B7BE-BF78-3377FCEAF0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E9277D-918C-9782-1B09-4792F4F8A5B5}"/>
              </a:ext>
            </a:extLst>
          </p:cNvPr>
          <p:cNvSpPr>
            <a:spLocks noGrp="1"/>
          </p:cNvSpPr>
          <p:nvPr>
            <p:ph idx="1"/>
          </p:nvPr>
        </p:nvSpPr>
        <p:spPr>
          <a:xfrm>
            <a:off x="260131" y="1253331"/>
            <a:ext cx="10515600" cy="4351338"/>
          </a:xfrm>
        </p:spPr>
        <p:txBody>
          <a:bodyPr>
            <a:normAutofit/>
          </a:bodyPr>
          <a:lstStyle/>
          <a:p>
            <a:r>
              <a:rPr lang="en-US" sz="1600" b="1" dirty="0">
                <a:latin typeface="Tw Cen MT" panose="020B0602020104020603" pitchFamily="34" charset="77"/>
              </a:rPr>
              <a:t>Model Context: </a:t>
            </a:r>
            <a:r>
              <a:rPr lang="en-US" sz="1600" dirty="0">
                <a:latin typeface="Tw Cen MT" panose="020B0602020104020603" pitchFamily="34" charset="77"/>
              </a:rPr>
              <a:t>A Linear Regression model was used to calculate predicted APY for running backs from the 2018-2024 season. Features used in the model included "total_epa", "total_yards", "epa_z", "tds_z", “yds_carry”, "total_tds", "rush_epa_total", "rush_success_rate", "avg_epa_per_play","rec_yards",  and "yac_epa_total”. After using these features in the model to predict APY, a value gap metric was created to represent the difference between predicted APY and actual APY. With this metric, the five most underpaid and overpaid running backs were identified and are noted below. </a:t>
            </a:r>
          </a:p>
          <a:p>
            <a:r>
              <a:rPr lang="en-US" sz="1600" b="1" dirty="0">
                <a:latin typeface="Tw Cen MT" panose="020B0602020104020603" pitchFamily="34" charset="77"/>
              </a:rPr>
              <a:t>Top 5 Most Underpaid RBs:</a:t>
            </a:r>
          </a:p>
          <a:p>
            <a:endParaRPr lang="en-US" sz="1600" b="1" dirty="0">
              <a:latin typeface="Tw Cen MT" panose="020B0602020104020603" pitchFamily="34" charset="77"/>
            </a:endParaRPr>
          </a:p>
          <a:p>
            <a:endParaRPr lang="en-US" sz="1600" b="1" dirty="0">
              <a:latin typeface="Tw Cen MT" panose="020B0602020104020603" pitchFamily="34" charset="77"/>
            </a:endParaRPr>
          </a:p>
          <a:p>
            <a:endParaRPr lang="en-US" sz="1600" b="1" dirty="0">
              <a:latin typeface="Tw Cen MT" panose="020B0602020104020603" pitchFamily="34" charset="77"/>
            </a:endParaRPr>
          </a:p>
          <a:p>
            <a:endParaRPr lang="en-US" sz="1600" b="1" dirty="0">
              <a:latin typeface="Tw Cen MT" panose="020B0602020104020603" pitchFamily="34" charset="77"/>
            </a:endParaRPr>
          </a:p>
          <a:p>
            <a:pPr marL="0" indent="0">
              <a:buNone/>
            </a:pPr>
            <a:endParaRPr lang="en-US" sz="1600" b="1" dirty="0">
              <a:latin typeface="Tw Cen MT" panose="020B0602020104020603" pitchFamily="34" charset="77"/>
            </a:endParaRPr>
          </a:p>
          <a:p>
            <a:r>
              <a:rPr lang="en-US" sz="1600" b="1" dirty="0">
                <a:latin typeface="Tw Cen MT" panose="020B0602020104020603" pitchFamily="34" charset="77"/>
              </a:rPr>
              <a:t>Top 5 Most Overpaid RBs: </a:t>
            </a:r>
            <a:endParaRPr lang="en-US" sz="1600" dirty="0"/>
          </a:p>
          <a:p>
            <a:endParaRPr lang="en-US" dirty="0"/>
          </a:p>
        </p:txBody>
      </p:sp>
      <p:sp>
        <p:nvSpPr>
          <p:cNvPr id="4" name="TextBox 3">
            <a:extLst>
              <a:ext uri="{FF2B5EF4-FFF2-40B4-BE49-F238E27FC236}">
                <a16:creationId xmlns:a16="http://schemas.microsoft.com/office/drawing/2014/main" id="{E0F2B621-A99E-A02E-57F2-44476364D62F}"/>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rPr>
            </a:br>
            <a:r>
              <a:rPr lang="en-US" sz="2500" dirty="0">
                <a:solidFill>
                  <a:srgbClr val="FFFFFF"/>
                </a:solidFill>
              </a:rPr>
              <a:t>NFL Contract Value – Model Output (RB – Linear Regression)</a:t>
            </a:r>
            <a:endParaRPr lang="en-US" sz="2500" b="1" dirty="0"/>
          </a:p>
          <a:p>
            <a:endParaRPr lang="en-US" dirty="0"/>
          </a:p>
        </p:txBody>
      </p:sp>
      <p:pic>
        <p:nvPicPr>
          <p:cNvPr id="5" name="Picture 4" descr="A screenshot of a graph&#10;&#10;AI-generated content may be incorrect.">
            <a:extLst>
              <a:ext uri="{FF2B5EF4-FFF2-40B4-BE49-F238E27FC236}">
                <a16:creationId xmlns:a16="http://schemas.microsoft.com/office/drawing/2014/main" id="{F145ABF4-6BA3-2376-BDC5-4B770348F09F}"/>
              </a:ext>
            </a:extLst>
          </p:cNvPr>
          <p:cNvPicPr>
            <a:picLocks noChangeAspect="1"/>
          </p:cNvPicPr>
          <p:nvPr/>
        </p:nvPicPr>
        <p:blipFill>
          <a:blip r:embed="rId2"/>
          <a:stretch>
            <a:fillRect/>
          </a:stretch>
        </p:blipFill>
        <p:spPr>
          <a:xfrm>
            <a:off x="549239" y="2854570"/>
            <a:ext cx="9465869" cy="1628210"/>
          </a:xfrm>
          <a:prstGeom prst="rect">
            <a:avLst/>
          </a:prstGeom>
        </p:spPr>
      </p:pic>
      <p:pic>
        <p:nvPicPr>
          <p:cNvPr id="7" name="Picture 6" descr="A table with numbers and text&#10;&#10;AI-generated content may be incorrect.">
            <a:extLst>
              <a:ext uri="{FF2B5EF4-FFF2-40B4-BE49-F238E27FC236}">
                <a16:creationId xmlns:a16="http://schemas.microsoft.com/office/drawing/2014/main" id="{CC822A22-D341-26ED-2141-821E35DBB865}"/>
              </a:ext>
            </a:extLst>
          </p:cNvPr>
          <p:cNvPicPr>
            <a:picLocks noChangeAspect="1"/>
          </p:cNvPicPr>
          <p:nvPr/>
        </p:nvPicPr>
        <p:blipFill>
          <a:blip r:embed="rId3"/>
          <a:stretch>
            <a:fillRect/>
          </a:stretch>
        </p:blipFill>
        <p:spPr>
          <a:xfrm>
            <a:off x="549234" y="4948434"/>
            <a:ext cx="9465873" cy="1628211"/>
          </a:xfrm>
          <a:prstGeom prst="rect">
            <a:avLst/>
          </a:prstGeom>
        </p:spPr>
      </p:pic>
    </p:spTree>
    <p:extLst>
      <p:ext uri="{BB962C8B-B14F-4D97-AF65-F5344CB8AC3E}">
        <p14:creationId xmlns:p14="http://schemas.microsoft.com/office/powerpoint/2010/main" val="54420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8F8A-0E46-69D2-C2A4-CBF81DB01F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214158-4BEF-625D-7EE9-9AEE5BF906B4}"/>
              </a:ext>
            </a:extLst>
          </p:cNvPr>
          <p:cNvSpPr>
            <a:spLocks noGrp="1"/>
          </p:cNvSpPr>
          <p:nvPr>
            <p:ph idx="1"/>
          </p:nvPr>
        </p:nvSpPr>
        <p:spPr>
          <a:xfrm>
            <a:off x="501869" y="1253331"/>
            <a:ext cx="10515600" cy="4351338"/>
          </a:xfrm>
        </p:spPr>
        <p:txBody>
          <a:bodyPr>
            <a:normAutofit/>
          </a:bodyPr>
          <a:lstStyle/>
          <a:p>
            <a:r>
              <a:rPr lang="en-US" sz="1600" b="1" dirty="0">
                <a:latin typeface="Tw Cen MT" panose="020B0602020104020603" pitchFamily="34" charset="77"/>
              </a:rPr>
              <a:t>Model Context: </a:t>
            </a:r>
            <a:r>
              <a:rPr lang="en-US" sz="1600" dirty="0">
                <a:latin typeface="Tw Cen MT" panose="020B0602020104020603" pitchFamily="34" charset="77"/>
              </a:rPr>
              <a:t>A Gradient Boosting Regression model was used to calculate predicted surplus value for quarterbacks from the 2018-2024 season. Features used in the model included "total_yards", "avg_epa_per_play", "epa_z", "tds_z", "inflated_apy", "apy_cap_pct", "draft_round", "draft_overall", "td_per_int",  "</a:t>
            </a:r>
            <a:r>
              <a:rPr lang="en-US" sz="1600" dirty="0" err="1">
                <a:latin typeface="Tw Cen MT" panose="020B0602020104020603" pitchFamily="34" charset="77"/>
              </a:rPr>
              <a:t>qb_epa_total</a:t>
            </a:r>
            <a:r>
              <a:rPr lang="en-US" sz="1600" dirty="0">
                <a:latin typeface="Tw Cen MT" panose="020B0602020104020603" pitchFamily="34" charset="77"/>
              </a:rPr>
              <a:t>", "cpoe_avg", and "rush_epa_total”. Surplus value was a metric created in feature engineering based off subtracting total EPA and Expected EPA. Using this metric, the player is grouped into four categories: Extend (top 10%), Retain (top 40%), Evaluate (top 75%), and Replace/Release (Bottom 25%). </a:t>
            </a:r>
          </a:p>
          <a:p>
            <a:r>
              <a:rPr lang="en-US" sz="1600" b="1" dirty="0">
                <a:latin typeface="Tw Cen MT" panose="020B0602020104020603" pitchFamily="34" charset="77"/>
              </a:rPr>
              <a:t>Top 5 Extend Candidates QBs:</a:t>
            </a:r>
          </a:p>
          <a:p>
            <a:endParaRPr lang="en-US" sz="1600" b="1" dirty="0">
              <a:latin typeface="Tw Cen MT" panose="020B0602020104020603" pitchFamily="34" charset="77"/>
            </a:endParaRPr>
          </a:p>
          <a:p>
            <a:endParaRPr lang="en-US" sz="1600" b="1" dirty="0">
              <a:latin typeface="Tw Cen MT" panose="020B0602020104020603" pitchFamily="34" charset="77"/>
            </a:endParaRPr>
          </a:p>
          <a:p>
            <a:endParaRPr lang="en-US" sz="1600" b="1" dirty="0">
              <a:latin typeface="Tw Cen MT" panose="020B0602020104020603" pitchFamily="34" charset="77"/>
            </a:endParaRPr>
          </a:p>
          <a:p>
            <a:endParaRPr lang="en-US" sz="1600" b="1" dirty="0">
              <a:latin typeface="Tw Cen MT" panose="020B0602020104020603" pitchFamily="34" charset="77"/>
            </a:endParaRPr>
          </a:p>
          <a:p>
            <a:pPr marL="0" indent="0">
              <a:buNone/>
            </a:pPr>
            <a:endParaRPr lang="en-US" sz="1600" b="1" dirty="0">
              <a:latin typeface="Tw Cen MT" panose="020B0602020104020603" pitchFamily="34" charset="77"/>
            </a:endParaRPr>
          </a:p>
          <a:p>
            <a:r>
              <a:rPr lang="en-US" sz="1600" b="1" dirty="0">
                <a:latin typeface="Tw Cen MT" panose="020B0602020104020603" pitchFamily="34" charset="77"/>
              </a:rPr>
              <a:t>Top 5 Release Candidates QBs:</a:t>
            </a:r>
          </a:p>
          <a:p>
            <a:endParaRPr lang="en-US" dirty="0"/>
          </a:p>
        </p:txBody>
      </p:sp>
      <p:sp>
        <p:nvSpPr>
          <p:cNvPr id="4" name="TextBox 3">
            <a:extLst>
              <a:ext uri="{FF2B5EF4-FFF2-40B4-BE49-F238E27FC236}">
                <a16:creationId xmlns:a16="http://schemas.microsoft.com/office/drawing/2014/main" id="{0691C712-911C-0EA5-DA36-5B9851D77687}"/>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latin typeface="+mj-lt"/>
              </a:rPr>
              <a:t>NFL Evaluation Method – Model Output (QB – Gradient Boosting)</a:t>
            </a:r>
            <a:endParaRPr lang="en-US" sz="2500" b="1" dirty="0">
              <a:latin typeface="+mj-lt"/>
            </a:endParaRPr>
          </a:p>
          <a:p>
            <a:endParaRPr lang="en-US" dirty="0"/>
          </a:p>
        </p:txBody>
      </p:sp>
      <p:pic>
        <p:nvPicPr>
          <p:cNvPr id="5" name="Picture 4" descr="A table with numbers and text&#10;&#10;AI-generated content may be incorrect.">
            <a:extLst>
              <a:ext uri="{FF2B5EF4-FFF2-40B4-BE49-F238E27FC236}">
                <a16:creationId xmlns:a16="http://schemas.microsoft.com/office/drawing/2014/main" id="{CD85366F-0234-8D73-AC7B-E3649F8500E3}"/>
              </a:ext>
            </a:extLst>
          </p:cNvPr>
          <p:cNvPicPr>
            <a:picLocks noChangeAspect="1"/>
          </p:cNvPicPr>
          <p:nvPr/>
        </p:nvPicPr>
        <p:blipFill>
          <a:blip r:embed="rId2"/>
          <a:stretch>
            <a:fillRect/>
          </a:stretch>
        </p:blipFill>
        <p:spPr>
          <a:xfrm>
            <a:off x="1105114" y="3009820"/>
            <a:ext cx="7633567" cy="1643280"/>
          </a:xfrm>
          <a:prstGeom prst="rect">
            <a:avLst/>
          </a:prstGeom>
        </p:spPr>
      </p:pic>
      <p:pic>
        <p:nvPicPr>
          <p:cNvPr id="7" name="Picture 6" descr="A table with numbers and text&#10;&#10;AI-generated content may be incorrect.">
            <a:extLst>
              <a:ext uri="{FF2B5EF4-FFF2-40B4-BE49-F238E27FC236}">
                <a16:creationId xmlns:a16="http://schemas.microsoft.com/office/drawing/2014/main" id="{64D0D80C-AFBD-5A09-4149-03F1D928B666}"/>
              </a:ext>
            </a:extLst>
          </p:cNvPr>
          <p:cNvPicPr>
            <a:picLocks noChangeAspect="1"/>
          </p:cNvPicPr>
          <p:nvPr/>
        </p:nvPicPr>
        <p:blipFill>
          <a:blip r:embed="rId3"/>
          <a:stretch>
            <a:fillRect/>
          </a:stretch>
        </p:blipFill>
        <p:spPr>
          <a:xfrm>
            <a:off x="1105114" y="5097057"/>
            <a:ext cx="7772400" cy="1660204"/>
          </a:xfrm>
          <a:prstGeom prst="rect">
            <a:avLst/>
          </a:prstGeom>
        </p:spPr>
      </p:pic>
    </p:spTree>
    <p:extLst>
      <p:ext uri="{BB962C8B-B14F-4D97-AF65-F5344CB8AC3E}">
        <p14:creationId xmlns:p14="http://schemas.microsoft.com/office/powerpoint/2010/main" val="3694643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2267-E7B2-0430-1CCA-302A49EE7F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F792CB-8226-E251-A805-65F408198C9B}"/>
              </a:ext>
            </a:extLst>
          </p:cNvPr>
          <p:cNvSpPr>
            <a:spLocks noGrp="1"/>
          </p:cNvSpPr>
          <p:nvPr>
            <p:ph idx="1"/>
          </p:nvPr>
        </p:nvSpPr>
        <p:spPr>
          <a:xfrm>
            <a:off x="627993" y="1138773"/>
            <a:ext cx="10515600" cy="4351338"/>
          </a:xfrm>
        </p:spPr>
        <p:txBody>
          <a:bodyPr>
            <a:normAutofit/>
          </a:bodyPr>
          <a:lstStyle/>
          <a:p>
            <a:r>
              <a:rPr lang="en-US" sz="1600" b="1" dirty="0">
                <a:latin typeface="Tw Cen MT" panose="020B0602020104020603" pitchFamily="34" charset="77"/>
              </a:rPr>
              <a:t>Model Context: </a:t>
            </a:r>
            <a:r>
              <a:rPr lang="en-US" sz="1600" dirty="0">
                <a:latin typeface="Tw Cen MT" panose="020B0602020104020603" pitchFamily="34" charset="77"/>
              </a:rPr>
              <a:t>A Gradient Boosting Regression model was used to calculate predicted surplus value for running backs from the 2018-2024 season. Features used in the model included "inflated_apy", "total_epa", "avg_epa_per_play", "epa_z", "tds_z", "yac_total","</a:t>
            </a:r>
            <a:r>
              <a:rPr lang="en-US" sz="1600" dirty="0" err="1">
                <a:latin typeface="Tw Cen MT" panose="020B0602020104020603" pitchFamily="34" charset="77"/>
              </a:rPr>
              <a:t>rush_attempts</a:t>
            </a:r>
            <a:r>
              <a:rPr lang="en-US" sz="1600" dirty="0">
                <a:latin typeface="Tw Cen MT" panose="020B0602020104020603" pitchFamily="34" charset="77"/>
              </a:rPr>
              <a:t>", "</a:t>
            </a:r>
            <a:r>
              <a:rPr lang="en-US" sz="1600" dirty="0" err="1">
                <a:latin typeface="Tw Cen MT" panose="020B0602020104020603" pitchFamily="34" charset="77"/>
              </a:rPr>
              <a:t>rush_yards</a:t>
            </a:r>
            <a:r>
              <a:rPr lang="en-US" sz="1600" dirty="0">
                <a:latin typeface="Tw Cen MT" panose="020B0602020104020603" pitchFamily="34" charset="77"/>
              </a:rPr>
              <a:t>", "</a:t>
            </a:r>
            <a:r>
              <a:rPr lang="en-US" sz="1600" dirty="0" err="1">
                <a:latin typeface="Tw Cen MT" panose="020B0602020104020603" pitchFamily="34" charset="77"/>
              </a:rPr>
              <a:t>rush_tds</a:t>
            </a:r>
            <a:r>
              <a:rPr lang="en-US" sz="1600" dirty="0">
                <a:latin typeface="Tw Cen MT" panose="020B0602020104020603" pitchFamily="34" charset="77"/>
              </a:rPr>
              <a:t>", "rush_epa_total", "rush_success_rate", "rush_epa_total", "</a:t>
            </a:r>
            <a:r>
              <a:rPr lang="en-US" sz="1600" dirty="0" err="1">
                <a:latin typeface="Tw Cen MT" panose="020B0602020104020603" pitchFamily="34" charset="77"/>
              </a:rPr>
              <a:t>avg_rush_epa</a:t>
            </a:r>
            <a:r>
              <a:rPr lang="en-US" sz="1600" dirty="0">
                <a:latin typeface="Tw Cen MT" panose="020B0602020104020603" pitchFamily="34" charset="77"/>
              </a:rPr>
              <a:t>", "rec_yards", "yac_epa_total", and "fumbles”. Surplus value was a metric created in feature engineering based off subtracting total EPA and Expected EPA. Using this metric, the player is grouped into four categories: Extend (top 10%), Retain (top 40%), Evaluate (top 75%), and Replace/Release (Bottom 25%). </a:t>
            </a:r>
          </a:p>
          <a:p>
            <a:r>
              <a:rPr lang="en-US" sz="1600" b="1" dirty="0">
                <a:latin typeface="Tw Cen MT" panose="020B0602020104020603" pitchFamily="34" charset="77"/>
              </a:rPr>
              <a:t>Top 5 Extend Candidates RBs:</a:t>
            </a:r>
          </a:p>
          <a:p>
            <a:endParaRPr lang="en-US" sz="1600" b="1" dirty="0">
              <a:latin typeface="Tw Cen MT" panose="020B0602020104020603" pitchFamily="34" charset="77"/>
            </a:endParaRPr>
          </a:p>
          <a:p>
            <a:endParaRPr lang="en-US" sz="1600" b="1" dirty="0">
              <a:latin typeface="Tw Cen MT" panose="020B0602020104020603" pitchFamily="34" charset="77"/>
            </a:endParaRPr>
          </a:p>
          <a:p>
            <a:endParaRPr lang="en-US" sz="1600" b="1" dirty="0">
              <a:latin typeface="Tw Cen MT" panose="020B0602020104020603" pitchFamily="34" charset="77"/>
            </a:endParaRPr>
          </a:p>
          <a:p>
            <a:endParaRPr lang="en-US" sz="1600" b="1" dirty="0">
              <a:latin typeface="Tw Cen MT" panose="020B0602020104020603" pitchFamily="34" charset="77"/>
            </a:endParaRPr>
          </a:p>
          <a:p>
            <a:pPr marL="0" indent="0">
              <a:buNone/>
            </a:pPr>
            <a:endParaRPr lang="en-US" sz="1600" b="1" dirty="0">
              <a:latin typeface="Tw Cen MT" panose="020B0602020104020603" pitchFamily="34" charset="77"/>
            </a:endParaRPr>
          </a:p>
          <a:p>
            <a:r>
              <a:rPr lang="en-US" sz="1600" b="1" dirty="0">
                <a:latin typeface="Tw Cen MT" panose="020B0602020104020603" pitchFamily="34" charset="77"/>
              </a:rPr>
              <a:t>Top 5 Release Candidates RBs:</a:t>
            </a:r>
          </a:p>
        </p:txBody>
      </p:sp>
      <p:sp>
        <p:nvSpPr>
          <p:cNvPr id="4" name="TextBox 3">
            <a:extLst>
              <a:ext uri="{FF2B5EF4-FFF2-40B4-BE49-F238E27FC236}">
                <a16:creationId xmlns:a16="http://schemas.microsoft.com/office/drawing/2014/main" id="{7F01B550-299B-7C52-8979-C156F6E39AE7}"/>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rPr>
            </a:br>
            <a:r>
              <a:rPr lang="en-US" sz="2500" dirty="0">
                <a:solidFill>
                  <a:srgbClr val="FFFFFF"/>
                </a:solidFill>
              </a:rPr>
              <a:t>NFL Evaluation Method – Model Output (RB – Gradient Boosting)</a:t>
            </a:r>
            <a:endParaRPr lang="en-US" sz="2500" b="1" dirty="0"/>
          </a:p>
          <a:p>
            <a:endParaRPr lang="en-US" dirty="0"/>
          </a:p>
        </p:txBody>
      </p:sp>
      <p:pic>
        <p:nvPicPr>
          <p:cNvPr id="5" name="Picture 4" descr="A table with numbers and text&#10;&#10;AI-generated content may be incorrect.">
            <a:extLst>
              <a:ext uri="{FF2B5EF4-FFF2-40B4-BE49-F238E27FC236}">
                <a16:creationId xmlns:a16="http://schemas.microsoft.com/office/drawing/2014/main" id="{9A65EF01-FE99-DB2E-4B88-7C3C84A65D48}"/>
              </a:ext>
            </a:extLst>
          </p:cNvPr>
          <p:cNvPicPr>
            <a:picLocks noChangeAspect="1"/>
          </p:cNvPicPr>
          <p:nvPr/>
        </p:nvPicPr>
        <p:blipFill>
          <a:blip r:embed="rId2"/>
          <a:stretch>
            <a:fillRect/>
          </a:stretch>
        </p:blipFill>
        <p:spPr>
          <a:xfrm>
            <a:off x="1048407" y="2919606"/>
            <a:ext cx="7847315" cy="1651522"/>
          </a:xfrm>
          <a:prstGeom prst="rect">
            <a:avLst/>
          </a:prstGeom>
        </p:spPr>
      </p:pic>
      <p:pic>
        <p:nvPicPr>
          <p:cNvPr id="7" name="Picture 6" descr="A table with numbers and text&#10;&#10;AI-generated content may be incorrect.">
            <a:extLst>
              <a:ext uri="{FF2B5EF4-FFF2-40B4-BE49-F238E27FC236}">
                <a16:creationId xmlns:a16="http://schemas.microsoft.com/office/drawing/2014/main" id="{BB1A40A1-07B1-CD1E-0FC7-49FD5473696E}"/>
              </a:ext>
            </a:extLst>
          </p:cNvPr>
          <p:cNvPicPr>
            <a:picLocks noChangeAspect="1"/>
          </p:cNvPicPr>
          <p:nvPr/>
        </p:nvPicPr>
        <p:blipFill>
          <a:blip r:embed="rId3"/>
          <a:stretch>
            <a:fillRect/>
          </a:stretch>
        </p:blipFill>
        <p:spPr>
          <a:xfrm>
            <a:off x="1048407" y="5054893"/>
            <a:ext cx="7847315" cy="1651522"/>
          </a:xfrm>
          <a:prstGeom prst="rect">
            <a:avLst/>
          </a:prstGeom>
        </p:spPr>
      </p:pic>
    </p:spTree>
    <p:extLst>
      <p:ext uri="{BB962C8B-B14F-4D97-AF65-F5344CB8AC3E}">
        <p14:creationId xmlns:p14="http://schemas.microsoft.com/office/powerpoint/2010/main" val="1004247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4CEA4-B034-7FA7-DF48-BAAB1E96F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391FB-A9E0-5E16-EDD0-540E5AFBDC9C}"/>
              </a:ext>
            </a:extLst>
          </p:cNvPr>
          <p:cNvSpPr>
            <a:spLocks noGrp="1"/>
          </p:cNvSpPr>
          <p:nvPr>
            <p:ph type="title"/>
          </p:nvPr>
        </p:nvSpPr>
        <p:spPr>
          <a:xfrm>
            <a:off x="940675" y="428476"/>
            <a:ext cx="9895951" cy="1033669"/>
          </a:xfrm>
        </p:spPr>
        <p:txBody>
          <a:bodyPr>
            <a:normAutofit fontScale="90000"/>
          </a:bodyPr>
          <a:lstStyle/>
          <a:p>
            <a:br>
              <a:rPr lang="en-US" sz="4000">
                <a:solidFill>
                  <a:srgbClr val="FFFFFF"/>
                </a:solidFill>
              </a:rPr>
            </a:br>
            <a:r>
              <a:rPr lang="en-US" sz="4000">
                <a:solidFill>
                  <a:srgbClr val="FFFFFF"/>
                </a:solidFill>
              </a:rPr>
              <a:t>Salary Worth Report – Summary</a:t>
            </a:r>
            <a:endParaRPr lang="en-US" sz="4000" dirty="0">
              <a:solidFill>
                <a:srgbClr val="FFFFFF"/>
              </a:solidFill>
            </a:endParaRPr>
          </a:p>
        </p:txBody>
      </p:sp>
      <p:sp>
        <p:nvSpPr>
          <p:cNvPr id="4" name="TextBox 3">
            <a:extLst>
              <a:ext uri="{FF2B5EF4-FFF2-40B4-BE49-F238E27FC236}">
                <a16:creationId xmlns:a16="http://schemas.microsoft.com/office/drawing/2014/main" id="{9760B889-1E75-BF3F-A247-A95296FF78A1}"/>
              </a:ext>
            </a:extLst>
          </p:cNvPr>
          <p:cNvSpPr txBox="1"/>
          <p:nvPr/>
        </p:nvSpPr>
        <p:spPr>
          <a:xfrm>
            <a:off x="0" y="1122514"/>
            <a:ext cx="12297103" cy="5586145"/>
          </a:xfrm>
          <a:prstGeom prst="rect">
            <a:avLst/>
          </a:prstGeom>
          <a:noFill/>
        </p:spPr>
        <p:txBody>
          <a:bodyPr wrap="square" rtlCol="0">
            <a:spAutoFit/>
          </a:bodyPr>
          <a:lstStyle/>
          <a:p>
            <a:pPr>
              <a:buNone/>
            </a:pPr>
            <a:r>
              <a:rPr lang="en-US" sz="1700" b="1" u="sng" dirty="0">
                <a:solidFill>
                  <a:srgbClr val="000000"/>
                </a:solidFill>
                <a:latin typeface="Tw Cen MT" panose="020B0602020104020603" pitchFamily="34" charset="77"/>
              </a:rPr>
              <a:t>Summary: </a:t>
            </a:r>
          </a:p>
          <a:p>
            <a:pPr marL="285750" indent="-285750">
              <a:buFont typeface="Arial" panose="020B0604020202020204" pitchFamily="34" charset="0"/>
              <a:buChar char="•"/>
            </a:pPr>
            <a:r>
              <a:rPr lang="en-US" sz="1700" dirty="0">
                <a:solidFill>
                  <a:srgbClr val="000000"/>
                </a:solidFill>
                <a:latin typeface="Tw Cen MT" panose="020B0602020104020603" pitchFamily="34" charset="77"/>
              </a:rPr>
              <a:t>Advanced metrics were used by a Linear Regression model to </a:t>
            </a:r>
            <a:r>
              <a:rPr lang="en-US" sz="1700" dirty="0">
                <a:latin typeface="Tw Cen MT" panose="020B0602020104020603" pitchFamily="34" charset="77"/>
              </a:rPr>
              <a:t>predict Adjusted Average Salary per Year and identify which players (QBs and RBs) were outperforming and underperforming their current contracts.</a:t>
            </a:r>
          </a:p>
          <a:p>
            <a:pPr marL="285750" indent="-285750">
              <a:buFont typeface="Arial" panose="020B0604020202020204" pitchFamily="34" charset="0"/>
              <a:buChar char="•"/>
            </a:pPr>
            <a:r>
              <a:rPr lang="en-US" sz="1700" dirty="0">
                <a:latin typeface="Tw Cen MT" panose="020B0602020104020603" pitchFamily="34" charset="77"/>
              </a:rPr>
              <a:t>Similarly, a Gradient Boosting model provided a good way of predicting surplus value (total EPA – Expected EPA), which would help front offices and executives group players into categories of whether they should extend, retain, release, or re-evaluate players. </a:t>
            </a:r>
            <a:endParaRPr lang="en-US" sz="1700" dirty="0">
              <a:solidFill>
                <a:srgbClr val="000000"/>
              </a:solidFill>
              <a:latin typeface="Tw Cen MT" panose="020B0602020104020603" pitchFamily="34" charset="77"/>
            </a:endParaRPr>
          </a:p>
          <a:p>
            <a:pPr marL="285750" indent="-285750">
              <a:buFont typeface="Arial" panose="020B0604020202020204" pitchFamily="34" charset="0"/>
              <a:buChar char="•"/>
            </a:pPr>
            <a:r>
              <a:rPr lang="en-US" sz="1700" dirty="0">
                <a:latin typeface="Tw Cen MT" panose="020B0602020104020603" pitchFamily="34" charset="77"/>
              </a:rPr>
              <a:t>By predicting NFL contract value and surplus of expected value, NFL executives would have plenty of tools at their disposal to help support their offseason decision-making.</a:t>
            </a:r>
            <a:endParaRPr lang="en-US" sz="1700" b="1" dirty="0">
              <a:latin typeface="Tw Cen MT" panose="020B0602020104020603" pitchFamily="34" charset="77"/>
            </a:endParaRPr>
          </a:p>
          <a:p>
            <a:pPr>
              <a:buNone/>
            </a:pPr>
            <a:r>
              <a:rPr lang="en-US" sz="1700" b="1" u="sng" dirty="0">
                <a:solidFill>
                  <a:srgbClr val="000000"/>
                </a:solidFill>
                <a:latin typeface="Tw Cen MT" panose="020B0602020104020603" pitchFamily="34" charset="77"/>
              </a:rPr>
              <a:t>Key Takeaways: </a:t>
            </a:r>
          </a:p>
          <a:p>
            <a:pPr marL="285750" indent="-285750">
              <a:buFont typeface="Arial" panose="020B0604020202020204" pitchFamily="34" charset="0"/>
              <a:buChar char="•"/>
            </a:pPr>
            <a:r>
              <a:rPr lang="en-US" sz="1700" i="1" u="sng" dirty="0">
                <a:solidFill>
                  <a:srgbClr val="000000"/>
                </a:solidFill>
                <a:latin typeface="Tw Cen MT" panose="020B0602020104020603" pitchFamily="34" charset="77"/>
              </a:rPr>
              <a:t>EPA is a Strong Driver to Contract Direction</a:t>
            </a:r>
            <a:r>
              <a:rPr lang="en-US" sz="1700" i="1" dirty="0">
                <a:solidFill>
                  <a:srgbClr val="000000"/>
                </a:solidFill>
                <a:latin typeface="Tw Cen MT" panose="020B0602020104020603" pitchFamily="34" charset="77"/>
              </a:rPr>
              <a:t>: </a:t>
            </a:r>
            <a:r>
              <a:rPr lang="en-US" sz="1700" dirty="0">
                <a:solidFill>
                  <a:srgbClr val="000000"/>
                </a:solidFill>
                <a:latin typeface="Tw Cen MT" panose="020B0602020104020603" pitchFamily="34" charset="77"/>
              </a:rPr>
              <a:t>Quarterbacks with strong and consistent EPA metrics generally were predicted into the ”Extend” category. Similarly, running backs with high EPA metrics in rushing and receiving, along with high rushing success rates, were commonly projected into the “Extend” category.</a:t>
            </a:r>
            <a:endParaRPr lang="en-US" sz="1700" i="1" dirty="0">
              <a:solidFill>
                <a:srgbClr val="000000"/>
              </a:solidFill>
              <a:latin typeface="Tw Cen MT" panose="020B0602020104020603" pitchFamily="34" charset="77"/>
            </a:endParaRPr>
          </a:p>
          <a:p>
            <a:pPr marL="285750" indent="-285750">
              <a:buFont typeface="Arial" panose="020B0604020202020204" pitchFamily="34" charset="0"/>
              <a:buChar char="•"/>
            </a:pPr>
            <a:r>
              <a:rPr lang="en-US" sz="1700" i="1" u="sng" dirty="0">
                <a:solidFill>
                  <a:srgbClr val="000000"/>
                </a:solidFill>
                <a:latin typeface="Tw Cen MT" panose="020B0602020104020603" pitchFamily="34" charset="77"/>
              </a:rPr>
              <a:t>Pure Rush EPA is Not the Only Determining Factor for RB Performance:</a:t>
            </a:r>
            <a:r>
              <a:rPr lang="en-US" sz="1700" i="1" dirty="0">
                <a:solidFill>
                  <a:srgbClr val="000000"/>
                </a:solidFill>
                <a:latin typeface="Tw Cen MT" panose="020B0602020104020603" pitchFamily="34" charset="77"/>
              </a:rPr>
              <a:t> </a:t>
            </a:r>
            <a:r>
              <a:rPr lang="en-US" sz="1700" dirty="0">
                <a:solidFill>
                  <a:srgbClr val="000000"/>
                </a:solidFill>
                <a:latin typeface="Tw Cen MT" panose="020B0602020104020603" pitchFamily="34" charset="77"/>
              </a:rPr>
              <a:t>As previously stated, not only was rushing EPA an important metric, but receiving EPA for RB’s was also a very valuable statistic for determining contract value and performance in the future. </a:t>
            </a:r>
            <a:endParaRPr lang="en-US" sz="1700" u="sng" dirty="0">
              <a:solidFill>
                <a:srgbClr val="000000"/>
              </a:solidFill>
              <a:latin typeface="Tw Cen MT" panose="020B0602020104020603" pitchFamily="34" charset="77"/>
            </a:endParaRPr>
          </a:p>
          <a:p>
            <a:pPr marL="285750" indent="-285750">
              <a:buFont typeface="Arial" panose="020B0604020202020204" pitchFamily="34" charset="0"/>
              <a:buChar char="•"/>
            </a:pPr>
            <a:r>
              <a:rPr lang="en-US" sz="1700" i="1" u="sng" dirty="0">
                <a:solidFill>
                  <a:srgbClr val="000000"/>
                </a:solidFill>
                <a:latin typeface="Tw Cen MT" panose="020B0602020104020603" pitchFamily="34" charset="77"/>
              </a:rPr>
              <a:t>Salary Cap Efficiency is as Important as Raw EPA: </a:t>
            </a:r>
            <a:r>
              <a:rPr lang="en-US" sz="1700" dirty="0">
                <a:solidFill>
                  <a:srgbClr val="000000"/>
                </a:solidFill>
                <a:latin typeface="Tw Cen MT" panose="020B0602020104020603" pitchFamily="34" charset="77"/>
              </a:rPr>
              <a:t>Using metrics such as EPA Per $Millions and Touchdown per $Millions proved to be extremely crucial for determining extend and release candidate players. For instance, a player could have an average EPA value but expensive contract, making the player a potential release prospect. </a:t>
            </a:r>
            <a:endParaRPr lang="en-US" sz="1700" i="1" u="sng" dirty="0">
              <a:solidFill>
                <a:srgbClr val="000000"/>
              </a:solidFill>
              <a:latin typeface="Tw Cen MT" panose="020B0602020104020603" pitchFamily="34" charset="77"/>
            </a:endParaRPr>
          </a:p>
          <a:p>
            <a:r>
              <a:rPr lang="en-US" sz="1700" b="1" u="sng" dirty="0">
                <a:solidFill>
                  <a:srgbClr val="000000"/>
                </a:solidFill>
                <a:latin typeface="Tw Cen MT" panose="020B0602020104020603" pitchFamily="34" charset="77"/>
              </a:rPr>
              <a:t>Next Steps: </a:t>
            </a:r>
          </a:p>
          <a:p>
            <a:pPr marL="285750" indent="-285750">
              <a:buFont typeface="Arial" panose="020B0604020202020204" pitchFamily="34" charset="0"/>
              <a:buChar char="•"/>
            </a:pPr>
            <a:r>
              <a:rPr lang="en-US" sz="1700" dirty="0">
                <a:solidFill>
                  <a:srgbClr val="000000"/>
                </a:solidFill>
                <a:latin typeface="Tw Cen MT" panose="020B0602020104020603" pitchFamily="34" charset="77"/>
              </a:rPr>
              <a:t>Please keep in mind that this project only examined the statistics of quarterbacks and running backs. No multi-year carry over or trend information were used to analyze statistics and certain contract situations. In the future, this is something I am hoping to incorporate into the models.</a:t>
            </a:r>
          </a:p>
          <a:p>
            <a:pPr marL="285750" indent="-285750">
              <a:buFont typeface="Arial" panose="020B0604020202020204" pitchFamily="34" charset="0"/>
              <a:buChar char="•"/>
            </a:pPr>
            <a:r>
              <a:rPr lang="en-US" sz="1700" dirty="0">
                <a:solidFill>
                  <a:srgbClr val="000000"/>
                </a:solidFill>
                <a:latin typeface="Tw Cen MT" panose="020B0602020104020603" pitchFamily="34" charset="77"/>
              </a:rPr>
              <a:t>Identify what statistics are the most important year over year to continue assessing player value and improving the model in the future.</a:t>
            </a:r>
          </a:p>
        </p:txBody>
      </p:sp>
      <p:sp>
        <p:nvSpPr>
          <p:cNvPr id="5" name="TextBox 4">
            <a:extLst>
              <a:ext uri="{FF2B5EF4-FFF2-40B4-BE49-F238E27FC236}">
                <a16:creationId xmlns:a16="http://schemas.microsoft.com/office/drawing/2014/main" id="{D2CBC00D-7135-97B9-82F9-BE1EFD329211}"/>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latin typeface="+mj-lt"/>
              </a:rPr>
              <a:t>NFL Contract Value and Offseason Evaluation Methods – Conclusion</a:t>
            </a:r>
            <a:endParaRPr lang="en-US" sz="2500" b="1" dirty="0">
              <a:latin typeface="+mj-lt"/>
            </a:endParaRPr>
          </a:p>
          <a:p>
            <a:endParaRPr lang="en-US" dirty="0"/>
          </a:p>
        </p:txBody>
      </p:sp>
    </p:spTree>
    <p:extLst>
      <p:ext uri="{BB962C8B-B14F-4D97-AF65-F5344CB8AC3E}">
        <p14:creationId xmlns:p14="http://schemas.microsoft.com/office/powerpoint/2010/main" val="2903671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6332</TotalTime>
  <Words>1818</Words>
  <Application>Microsoft Macintosh PowerPoint</Application>
  <PresentationFormat>Widescreen</PresentationFormat>
  <Paragraphs>103</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Tw Cen MT</vt:lpstr>
      <vt:lpstr>Office Theme</vt:lpstr>
      <vt:lpstr>NFL - Contract Value and Offseason Evaluation Methods</vt:lpstr>
      <vt:lpstr> Salary Worth Report – Summary</vt:lpstr>
      <vt:lpstr>PowerPoint Presentation</vt:lpstr>
      <vt:lpstr>PowerPoint Presentation</vt:lpstr>
      <vt:lpstr>PowerPoint Presentation</vt:lpstr>
      <vt:lpstr>PowerPoint Presentation</vt:lpstr>
      <vt:lpstr>PowerPoint Presentation</vt:lpstr>
      <vt:lpstr>PowerPoint Presentation</vt:lpstr>
      <vt:lpstr> Salary Worth Report –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Wolfe</dc:creator>
  <cp:lastModifiedBy>Andrew Wolfe</cp:lastModifiedBy>
  <cp:revision>138</cp:revision>
  <dcterms:created xsi:type="dcterms:W3CDTF">2025-07-28T00:12:37Z</dcterms:created>
  <dcterms:modified xsi:type="dcterms:W3CDTF">2025-11-20T02:48:09Z</dcterms:modified>
</cp:coreProperties>
</file>