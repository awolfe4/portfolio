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1"/>
  </p:sldMasterIdLst>
  <p:notesMasterIdLst>
    <p:notesMasterId r:id="rId15"/>
  </p:notesMasterIdLst>
  <p:sldIdLst>
    <p:sldId id="258" r:id="rId2"/>
    <p:sldId id="259" r:id="rId3"/>
    <p:sldId id="260" r:id="rId4"/>
    <p:sldId id="261" r:id="rId5"/>
    <p:sldId id="262" r:id="rId6"/>
    <p:sldId id="263" r:id="rId7"/>
    <p:sldId id="264" r:id="rId8"/>
    <p:sldId id="266" r:id="rId9"/>
    <p:sldId id="265" r:id="rId10"/>
    <p:sldId id="272" r:id="rId11"/>
    <p:sldId id="270" r:id="rId12"/>
    <p:sldId id="271"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1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614"/>
    <p:restoredTop sz="94848"/>
  </p:normalViewPr>
  <p:slideViewPr>
    <p:cSldViewPr snapToGrid="0">
      <p:cViewPr varScale="1">
        <p:scale>
          <a:sx n="126" d="100"/>
          <a:sy n="126" d="100"/>
        </p:scale>
        <p:origin x="20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F15CDB-D47D-6346-9F7D-0C0C02C901B2}" type="datetimeFigureOut">
              <a:rPr lang="en-US" smtClean="0"/>
              <a:t>10/30/25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92B6B-F868-3347-A425-DEA108536BA2}" type="slidenum">
              <a:rPr lang="en-US" smtClean="0"/>
              <a:t>‹#›</a:t>
            </a:fld>
            <a:endParaRPr lang="en-US"/>
          </a:p>
        </p:txBody>
      </p:sp>
    </p:spTree>
    <p:extLst>
      <p:ext uri="{BB962C8B-B14F-4D97-AF65-F5344CB8AC3E}">
        <p14:creationId xmlns:p14="http://schemas.microsoft.com/office/powerpoint/2010/main" val="1518691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292B6B-F868-3347-A425-DEA108536BA2}" type="slidenum">
              <a:rPr lang="en-US" smtClean="0"/>
              <a:t>4</a:t>
            </a:fld>
            <a:endParaRPr lang="en-US"/>
          </a:p>
        </p:txBody>
      </p:sp>
    </p:spTree>
    <p:extLst>
      <p:ext uri="{BB962C8B-B14F-4D97-AF65-F5344CB8AC3E}">
        <p14:creationId xmlns:p14="http://schemas.microsoft.com/office/powerpoint/2010/main" val="340140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292B6B-F868-3347-A425-DEA108536BA2}" type="slidenum">
              <a:rPr lang="en-US" smtClean="0"/>
              <a:t>9</a:t>
            </a:fld>
            <a:endParaRPr lang="en-US"/>
          </a:p>
        </p:txBody>
      </p:sp>
    </p:spTree>
    <p:extLst>
      <p:ext uri="{BB962C8B-B14F-4D97-AF65-F5344CB8AC3E}">
        <p14:creationId xmlns:p14="http://schemas.microsoft.com/office/powerpoint/2010/main" val="2705019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292B6B-F868-3347-A425-DEA108536BA2}" type="slidenum">
              <a:rPr lang="en-US" smtClean="0"/>
              <a:t>13</a:t>
            </a:fld>
            <a:endParaRPr lang="en-US"/>
          </a:p>
        </p:txBody>
      </p:sp>
    </p:spTree>
    <p:extLst>
      <p:ext uri="{BB962C8B-B14F-4D97-AF65-F5344CB8AC3E}">
        <p14:creationId xmlns:p14="http://schemas.microsoft.com/office/powerpoint/2010/main" val="3840825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08B9EBBA-996F-894A-B54A-D6246ED52CEA}" type="datetimeFigureOut">
              <a:rPr lang="en-US" smtClean="0"/>
              <a:pPr/>
              <a:t>10/30/25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077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10/30/25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3477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8DFA1846-DA80-1C48-A609-854EA85C59AD}" type="datetimeFigureOut">
              <a:rPr lang="en-US" smtClean="0"/>
              <a:pPr/>
              <a:t>10/30/25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0484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57302355-E14B-8545-A8F8-0FE83CC9D524}" type="datetimeFigureOut">
              <a:rPr lang="en-US" smtClean="0"/>
              <a:pPr/>
              <a:t>10/30/25</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517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02640F58-564D-2B4F-AE67-E407BA4FCF45}" type="datetimeFigureOut">
              <a:rPr lang="en-US" smtClean="0"/>
              <a:pPr/>
              <a:t>10/30/25</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92827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10/30/25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995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8818C68F-D26B-8F47-958C-23B49CF8A634}" type="datetimeFigureOut">
              <a:rPr lang="en-US" smtClean="0"/>
              <a:pPr/>
              <a:t>10/30/25</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1261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10/30/25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00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09B482E8-6E0E-1B4F-B1FD-C69DB9E858D9}" type="datetimeFigureOut">
              <a:rPr lang="en-US" smtClean="0"/>
              <a:pPr/>
              <a:t>10/30/25</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7268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10/30/25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0011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ED62726E-379B-B349-9EED-81ED093FA806}" type="datetimeFigureOut">
              <a:rPr lang="en-US" smtClean="0"/>
              <a:pPr/>
              <a:t>10/30/25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8171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09B482E8-6E0E-1B4F-B1FD-C69DB9E858D9}" type="datetimeFigureOut">
              <a:rPr lang="en-US" smtClean="0"/>
              <a:pPr/>
              <a:t>10/30/25</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9397514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F51793-23F9-98EC-B582-571758996CA1}"/>
            </a:ext>
          </a:extLst>
        </p:cNvPr>
        <p:cNvGrpSpPr/>
        <p:nvPr/>
      </p:nvGrpSpPr>
      <p:grpSpPr>
        <a:xfrm>
          <a:off x="0" y="0"/>
          <a:ext cx="0" cy="0"/>
          <a:chOff x="0" y="0"/>
          <a:chExt cx="0" cy="0"/>
        </a:xfrm>
      </p:grpSpPr>
      <p:grpSp>
        <p:nvGrpSpPr>
          <p:cNvPr id="155" name="Group 154">
            <a:extLst>
              <a:ext uri="{FF2B5EF4-FFF2-40B4-BE49-F238E27FC236}">
                <a16:creationId xmlns:a16="http://schemas.microsoft.com/office/drawing/2014/main" id="{17C4610E-9C18-467B-BF10-BE6A974CC3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56" name="Freeform 5">
              <a:extLst>
                <a:ext uri="{FF2B5EF4-FFF2-40B4-BE49-F238E27FC236}">
                  <a16:creationId xmlns:a16="http://schemas.microsoft.com/office/drawing/2014/main" id="{296DF307-344E-4E9B-A7AA-8139E450D1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7" name="Freeform 6">
              <a:extLst>
                <a:ext uri="{FF2B5EF4-FFF2-40B4-BE49-F238E27FC236}">
                  <a16:creationId xmlns:a16="http://schemas.microsoft.com/office/drawing/2014/main" id="{E263CC2D-ACFB-4EB3-ADF9-CD82BC842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8" name="Freeform 7">
              <a:extLst>
                <a:ext uri="{FF2B5EF4-FFF2-40B4-BE49-F238E27FC236}">
                  <a16:creationId xmlns:a16="http://schemas.microsoft.com/office/drawing/2014/main" id="{C5366E2F-9BA0-485A-B1CA-A5E6E2E37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9" name="Freeform 8">
              <a:extLst>
                <a:ext uri="{FF2B5EF4-FFF2-40B4-BE49-F238E27FC236}">
                  <a16:creationId xmlns:a16="http://schemas.microsoft.com/office/drawing/2014/main" id="{1803051E-7C26-4F53-8293-B4EAED421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0" name="Freeform 9">
              <a:extLst>
                <a:ext uri="{FF2B5EF4-FFF2-40B4-BE49-F238E27FC236}">
                  <a16:creationId xmlns:a16="http://schemas.microsoft.com/office/drawing/2014/main" id="{D10888CD-E496-4116-9C45-CF4F17ADE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1" name="Freeform 10">
              <a:extLst>
                <a:ext uri="{FF2B5EF4-FFF2-40B4-BE49-F238E27FC236}">
                  <a16:creationId xmlns:a16="http://schemas.microsoft.com/office/drawing/2014/main" id="{0A42DA8F-DA3D-43E9-A184-E0F6C133A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2" name="Freeform 11">
              <a:extLst>
                <a:ext uri="{FF2B5EF4-FFF2-40B4-BE49-F238E27FC236}">
                  <a16:creationId xmlns:a16="http://schemas.microsoft.com/office/drawing/2014/main" id="{473EAD31-7AA3-49B7-ADD6-C13FF0F14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3" name="Freeform 12">
              <a:extLst>
                <a:ext uri="{FF2B5EF4-FFF2-40B4-BE49-F238E27FC236}">
                  <a16:creationId xmlns:a16="http://schemas.microsoft.com/office/drawing/2014/main" id="{2BBB7CDF-BA2E-451F-9201-CF2B6FEAE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 name="Freeform 13">
              <a:extLst>
                <a:ext uri="{FF2B5EF4-FFF2-40B4-BE49-F238E27FC236}">
                  <a16:creationId xmlns:a16="http://schemas.microsoft.com/office/drawing/2014/main" id="{84809EF2-CD0D-4BC3-ABC7-E7E312A1D7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5" name="Freeform 14">
              <a:extLst>
                <a:ext uri="{FF2B5EF4-FFF2-40B4-BE49-F238E27FC236}">
                  <a16:creationId xmlns:a16="http://schemas.microsoft.com/office/drawing/2014/main" id="{11D2D6C5-637B-4AFE-97F4-D4E48A613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6" name="Freeform 15">
              <a:extLst>
                <a:ext uri="{FF2B5EF4-FFF2-40B4-BE49-F238E27FC236}">
                  <a16:creationId xmlns:a16="http://schemas.microsoft.com/office/drawing/2014/main" id="{F841B2C5-57F5-4FE6-B4D4-EBB3F30881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 name="Freeform 16">
              <a:extLst>
                <a:ext uri="{FF2B5EF4-FFF2-40B4-BE49-F238E27FC236}">
                  <a16:creationId xmlns:a16="http://schemas.microsoft.com/office/drawing/2014/main" id="{B4822A39-2A52-4B2C-9319-BEFC526DB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8" name="Freeform 17">
              <a:extLst>
                <a:ext uri="{FF2B5EF4-FFF2-40B4-BE49-F238E27FC236}">
                  <a16:creationId xmlns:a16="http://schemas.microsoft.com/office/drawing/2014/main" id="{4E469692-E783-4950-8DEC-3A1FD3978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 name="Freeform 18">
              <a:extLst>
                <a:ext uri="{FF2B5EF4-FFF2-40B4-BE49-F238E27FC236}">
                  <a16:creationId xmlns:a16="http://schemas.microsoft.com/office/drawing/2014/main" id="{012909CD-3254-41E5-B8BB-0F2D7CE0D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0" name="Freeform 19">
              <a:extLst>
                <a:ext uri="{FF2B5EF4-FFF2-40B4-BE49-F238E27FC236}">
                  <a16:creationId xmlns:a16="http://schemas.microsoft.com/office/drawing/2014/main" id="{93E7648E-861E-4503-AEDC-56C4EC507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1" name="Freeform 20">
              <a:extLst>
                <a:ext uri="{FF2B5EF4-FFF2-40B4-BE49-F238E27FC236}">
                  <a16:creationId xmlns:a16="http://schemas.microsoft.com/office/drawing/2014/main" id="{F9C72257-EBD0-4D1C-A32C-D84644687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2" name="Freeform 21">
              <a:extLst>
                <a:ext uri="{FF2B5EF4-FFF2-40B4-BE49-F238E27FC236}">
                  <a16:creationId xmlns:a16="http://schemas.microsoft.com/office/drawing/2014/main" id="{87BB2CBB-9C22-4E28-AB86-DC92AEE2D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3" name="Freeform 22">
              <a:extLst>
                <a:ext uri="{FF2B5EF4-FFF2-40B4-BE49-F238E27FC236}">
                  <a16:creationId xmlns:a16="http://schemas.microsoft.com/office/drawing/2014/main" id="{F85B3053-8D9F-410A-80C2-7960DDEA6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 name="Freeform 23">
              <a:extLst>
                <a:ext uri="{FF2B5EF4-FFF2-40B4-BE49-F238E27FC236}">
                  <a16:creationId xmlns:a16="http://schemas.microsoft.com/office/drawing/2014/main" id="{E8FF5DA7-6E72-41F1-A54C-EAF440A27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6" name="Group 175">
            <a:extLst>
              <a:ext uri="{FF2B5EF4-FFF2-40B4-BE49-F238E27FC236}">
                <a16:creationId xmlns:a16="http://schemas.microsoft.com/office/drawing/2014/main" id="{A899734C-500F-4274-9854-8BFA14A1D7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177" name="Rectangle 176">
              <a:extLst>
                <a:ext uri="{FF2B5EF4-FFF2-40B4-BE49-F238E27FC236}">
                  <a16:creationId xmlns:a16="http://schemas.microsoft.com/office/drawing/2014/main" id="{FF07BF51-2934-47AD-A415-7400882F1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8" name="Isosceles Triangle 177">
              <a:extLst>
                <a:ext uri="{FF2B5EF4-FFF2-40B4-BE49-F238E27FC236}">
                  <a16:creationId xmlns:a16="http://schemas.microsoft.com/office/drawing/2014/main" id="{DD6E3DF0-EDC0-458B-9C5B-911814F0A6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9" name="Rectangle 178">
              <a:extLst>
                <a:ext uri="{FF2B5EF4-FFF2-40B4-BE49-F238E27FC236}">
                  <a16:creationId xmlns:a16="http://schemas.microsoft.com/office/drawing/2014/main" id="{5D0824B1-47C9-4504-99FB-CB1505197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81" name="Rectangle 180">
            <a:extLst>
              <a:ext uri="{FF2B5EF4-FFF2-40B4-BE49-F238E27FC236}">
                <a16:creationId xmlns:a16="http://schemas.microsoft.com/office/drawing/2014/main" id="{3904BE49-D42F-4F46-B6D8-2F3171216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3" name="Group 182">
            <a:extLst>
              <a:ext uri="{FF2B5EF4-FFF2-40B4-BE49-F238E27FC236}">
                <a16:creationId xmlns:a16="http://schemas.microsoft.com/office/drawing/2014/main" id="{D57C06C8-18BE-4336-B9E0-3E15ACC93B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84" name="Freeform 5">
              <a:extLst>
                <a:ext uri="{FF2B5EF4-FFF2-40B4-BE49-F238E27FC236}">
                  <a16:creationId xmlns:a16="http://schemas.microsoft.com/office/drawing/2014/main" id="{C1C39E9B-4917-47D7-B9CB-56480F8876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5" name="Freeform 6">
              <a:extLst>
                <a:ext uri="{FF2B5EF4-FFF2-40B4-BE49-F238E27FC236}">
                  <a16:creationId xmlns:a16="http://schemas.microsoft.com/office/drawing/2014/main" id="{5F7200AE-DDFE-46D2-ABCA-99906B970E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6" name="Freeform 7">
              <a:extLst>
                <a:ext uri="{FF2B5EF4-FFF2-40B4-BE49-F238E27FC236}">
                  <a16:creationId xmlns:a16="http://schemas.microsoft.com/office/drawing/2014/main" id="{CAC40760-2393-4FAE-9A58-F4CDC06716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7" name="Freeform 8">
              <a:extLst>
                <a:ext uri="{FF2B5EF4-FFF2-40B4-BE49-F238E27FC236}">
                  <a16:creationId xmlns:a16="http://schemas.microsoft.com/office/drawing/2014/main" id="{1080422B-1649-4C8E-9459-4214243609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8" name="Freeform 9">
              <a:extLst>
                <a:ext uri="{FF2B5EF4-FFF2-40B4-BE49-F238E27FC236}">
                  <a16:creationId xmlns:a16="http://schemas.microsoft.com/office/drawing/2014/main" id="{0136A7BD-0DB3-401B-A6AB-38BD30D100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9" name="Freeform 10">
              <a:extLst>
                <a:ext uri="{FF2B5EF4-FFF2-40B4-BE49-F238E27FC236}">
                  <a16:creationId xmlns:a16="http://schemas.microsoft.com/office/drawing/2014/main" id="{FD037346-242B-41AF-8CF5-C35284CA24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0" name="Freeform 11">
              <a:extLst>
                <a:ext uri="{FF2B5EF4-FFF2-40B4-BE49-F238E27FC236}">
                  <a16:creationId xmlns:a16="http://schemas.microsoft.com/office/drawing/2014/main" id="{238EBF94-0BBF-4BAE-AE27-729E3AC135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1" name="Freeform 12">
              <a:extLst>
                <a:ext uri="{FF2B5EF4-FFF2-40B4-BE49-F238E27FC236}">
                  <a16:creationId xmlns:a16="http://schemas.microsoft.com/office/drawing/2014/main" id="{3940EFD7-EB1A-47AF-9DC9-7D4FCC6011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2" name="Freeform 13">
              <a:extLst>
                <a:ext uri="{FF2B5EF4-FFF2-40B4-BE49-F238E27FC236}">
                  <a16:creationId xmlns:a16="http://schemas.microsoft.com/office/drawing/2014/main" id="{6BAA7A10-98A8-4931-9BE2-B573EB3767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3" name="Freeform 14">
              <a:extLst>
                <a:ext uri="{FF2B5EF4-FFF2-40B4-BE49-F238E27FC236}">
                  <a16:creationId xmlns:a16="http://schemas.microsoft.com/office/drawing/2014/main" id="{420223F5-34A9-4388-AF7B-38C76242FC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4" name="Freeform 15">
              <a:extLst>
                <a:ext uri="{FF2B5EF4-FFF2-40B4-BE49-F238E27FC236}">
                  <a16:creationId xmlns:a16="http://schemas.microsoft.com/office/drawing/2014/main" id="{3CC9C746-C646-4363-B3D3-349B5C18C3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3EAA5BC5-AB13-4C8E-9D9D-05DE777C5F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6" name="Freeform 17">
              <a:extLst>
                <a:ext uri="{FF2B5EF4-FFF2-40B4-BE49-F238E27FC236}">
                  <a16:creationId xmlns:a16="http://schemas.microsoft.com/office/drawing/2014/main" id="{500FC397-0569-4EC4-926A-DDD62AC495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Freeform 18">
              <a:extLst>
                <a:ext uri="{FF2B5EF4-FFF2-40B4-BE49-F238E27FC236}">
                  <a16:creationId xmlns:a16="http://schemas.microsoft.com/office/drawing/2014/main" id="{284FF041-FE7D-47CD-830F-7FABF41C7C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Freeform 19">
              <a:extLst>
                <a:ext uri="{FF2B5EF4-FFF2-40B4-BE49-F238E27FC236}">
                  <a16:creationId xmlns:a16="http://schemas.microsoft.com/office/drawing/2014/main" id="{224154F3-CDFE-4FFF-92E4-ECEACF4A66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Freeform 20">
              <a:extLst>
                <a:ext uri="{FF2B5EF4-FFF2-40B4-BE49-F238E27FC236}">
                  <a16:creationId xmlns:a16="http://schemas.microsoft.com/office/drawing/2014/main" id="{CCE7404D-AA5A-4B82-A875-07F35D7C2D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Freeform 21">
              <a:extLst>
                <a:ext uri="{FF2B5EF4-FFF2-40B4-BE49-F238E27FC236}">
                  <a16:creationId xmlns:a16="http://schemas.microsoft.com/office/drawing/2014/main" id="{526B6FED-4F20-4070-95B4-FF6F439E1C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Freeform 22">
              <a:extLst>
                <a:ext uri="{FF2B5EF4-FFF2-40B4-BE49-F238E27FC236}">
                  <a16:creationId xmlns:a16="http://schemas.microsoft.com/office/drawing/2014/main" id="{3A75958D-1716-4B5A-A745-AFA4962FA4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2" name="Freeform 23">
              <a:extLst>
                <a:ext uri="{FF2B5EF4-FFF2-40B4-BE49-F238E27FC236}">
                  <a16:creationId xmlns:a16="http://schemas.microsoft.com/office/drawing/2014/main" id="{531A2051-17DE-4E9D-9EA6-026B97B1A9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04" name="Rectangle 203">
            <a:extLst>
              <a:ext uri="{FF2B5EF4-FFF2-40B4-BE49-F238E27FC236}">
                <a16:creationId xmlns:a16="http://schemas.microsoft.com/office/drawing/2014/main" id="{CE0642A0-80D3-4F37-8249-A07E6F382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0" y="-6706"/>
            <a:ext cx="12194680" cy="4127711"/>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4C35BE4-6D9E-3AAB-B107-CB717060573F}"/>
              </a:ext>
            </a:extLst>
          </p:cNvPr>
          <p:cNvPicPr>
            <a:picLocks noChangeAspect="1"/>
          </p:cNvPicPr>
          <p:nvPr/>
        </p:nvPicPr>
        <p:blipFill>
          <a:blip r:embed="rId2"/>
          <a:stretch>
            <a:fillRect/>
          </a:stretch>
        </p:blipFill>
        <p:spPr>
          <a:xfrm>
            <a:off x="4604779" y="799180"/>
            <a:ext cx="3230853" cy="3230853"/>
          </a:xfrm>
          <a:prstGeom prst="rect">
            <a:avLst/>
          </a:prstGeom>
          <a:ln w="12700">
            <a:noFill/>
          </a:ln>
        </p:spPr>
      </p:pic>
      <p:grpSp>
        <p:nvGrpSpPr>
          <p:cNvPr id="206" name="Group 205">
            <a:extLst>
              <a:ext uri="{FF2B5EF4-FFF2-40B4-BE49-F238E27FC236}">
                <a16:creationId xmlns:a16="http://schemas.microsoft.com/office/drawing/2014/main" id="{FA760135-24A9-40C9-B45F-2EB5B6420E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207" name="Isosceles Triangle 39">
              <a:extLst>
                <a:ext uri="{FF2B5EF4-FFF2-40B4-BE49-F238E27FC236}">
                  <a16:creationId xmlns:a16="http://schemas.microsoft.com/office/drawing/2014/main" id="{20E3CEE0-0CB3-421F-99FC-4585E62437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4346BB80-2556-4779-9642-5706CAA33C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6CD5089-420F-9D81-5B15-BCDDF8CD35B3}"/>
              </a:ext>
            </a:extLst>
          </p:cNvPr>
          <p:cNvSpPr>
            <a:spLocks noGrp="1"/>
          </p:cNvSpPr>
          <p:nvPr>
            <p:ph type="title"/>
          </p:nvPr>
        </p:nvSpPr>
        <p:spPr>
          <a:xfrm>
            <a:off x="1683982" y="4293388"/>
            <a:ext cx="8833655" cy="727748"/>
          </a:xfrm>
        </p:spPr>
        <p:txBody>
          <a:bodyPr vert="horz" lIns="228600" tIns="228600" rIns="228600" bIns="0" rtlCol="0" anchor="b">
            <a:normAutofit/>
          </a:bodyPr>
          <a:lstStyle/>
          <a:p>
            <a:pPr>
              <a:lnSpc>
                <a:spcPct val="80000"/>
              </a:lnSpc>
            </a:pPr>
            <a:r>
              <a:rPr lang="en-US" sz="3600" dirty="0"/>
              <a:t>Projecting Phillies Stats 2026-2030</a:t>
            </a:r>
            <a:r>
              <a:rPr lang="en-US" sz="3700" dirty="0"/>
              <a:t> </a:t>
            </a:r>
          </a:p>
        </p:txBody>
      </p:sp>
      <p:sp>
        <p:nvSpPr>
          <p:cNvPr id="7" name="TextBox 6">
            <a:extLst>
              <a:ext uri="{FF2B5EF4-FFF2-40B4-BE49-F238E27FC236}">
                <a16:creationId xmlns:a16="http://schemas.microsoft.com/office/drawing/2014/main" id="{E125B81B-4F80-A417-E417-0F785A434FF7}"/>
              </a:ext>
            </a:extLst>
          </p:cNvPr>
          <p:cNvSpPr txBox="1"/>
          <p:nvPr/>
        </p:nvSpPr>
        <p:spPr>
          <a:xfrm>
            <a:off x="3202816" y="4967441"/>
            <a:ext cx="6106510" cy="646331"/>
          </a:xfrm>
          <a:prstGeom prst="rect">
            <a:avLst/>
          </a:prstGeom>
          <a:noFill/>
        </p:spPr>
        <p:txBody>
          <a:bodyPr wrap="square">
            <a:spAutoFit/>
          </a:bodyPr>
          <a:lstStyle/>
          <a:p>
            <a:r>
              <a:rPr lang="en-US" sz="1800" dirty="0">
                <a:solidFill>
                  <a:schemeClr val="bg1"/>
                </a:solidFill>
              </a:rPr>
              <a:t>By Andrew Wolfe</a:t>
            </a:r>
          </a:p>
          <a:p>
            <a:r>
              <a:rPr lang="en-US" sz="1800" dirty="0">
                <a:solidFill>
                  <a:schemeClr val="bg1"/>
                </a:solidFill>
              </a:rPr>
              <a:t>November 2025</a:t>
            </a:r>
          </a:p>
        </p:txBody>
      </p:sp>
    </p:spTree>
    <p:extLst>
      <p:ext uri="{BB962C8B-B14F-4D97-AF65-F5344CB8AC3E}">
        <p14:creationId xmlns:p14="http://schemas.microsoft.com/office/powerpoint/2010/main" val="3425347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18957-31D2-FC5D-F350-140B6272DE59}"/>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2025 Recap</a:t>
            </a:r>
          </a:p>
        </p:txBody>
      </p:sp>
      <p:pic>
        <p:nvPicPr>
          <p:cNvPr id="4" name="Picture 3" descr="A red letter p on a black background&#10;&#10;AI-generated content may be incorrect.">
            <a:extLst>
              <a:ext uri="{FF2B5EF4-FFF2-40B4-BE49-F238E27FC236}">
                <a16:creationId xmlns:a16="http://schemas.microsoft.com/office/drawing/2014/main" id="{0695EC62-0C19-C212-F22E-46A3C17C455B}"/>
              </a:ext>
            </a:extLst>
          </p:cNvPr>
          <p:cNvPicPr>
            <a:picLocks noChangeAspect="1"/>
          </p:cNvPicPr>
          <p:nvPr/>
        </p:nvPicPr>
        <p:blipFill>
          <a:blip r:embed="rId2"/>
          <a:stretch>
            <a:fillRect/>
          </a:stretch>
        </p:blipFill>
        <p:spPr>
          <a:xfrm>
            <a:off x="11485605" y="6151605"/>
            <a:ext cx="706395" cy="706395"/>
          </a:xfrm>
          <a:prstGeom prst="rect">
            <a:avLst/>
          </a:prstGeom>
        </p:spPr>
      </p:pic>
      <p:sp>
        <p:nvSpPr>
          <p:cNvPr id="8" name="TextBox 7">
            <a:extLst>
              <a:ext uri="{FF2B5EF4-FFF2-40B4-BE49-F238E27FC236}">
                <a16:creationId xmlns:a16="http://schemas.microsoft.com/office/drawing/2014/main" id="{7A6C963A-8D37-C9D1-3D78-7AEAEE300E68}"/>
              </a:ext>
            </a:extLst>
          </p:cNvPr>
          <p:cNvSpPr txBox="1"/>
          <p:nvPr/>
        </p:nvSpPr>
        <p:spPr>
          <a:xfrm>
            <a:off x="1" y="1246495"/>
            <a:ext cx="12192000" cy="5863144"/>
          </a:xfrm>
          <a:prstGeom prst="rect">
            <a:avLst/>
          </a:prstGeom>
          <a:noFill/>
        </p:spPr>
        <p:txBody>
          <a:bodyPr wrap="square" rtlCol="0">
            <a:spAutoFit/>
          </a:bodyPr>
          <a:lstStyle/>
          <a:p>
            <a:pPr marL="285750" indent="-285750">
              <a:buFont typeface="Arial" panose="020B0604020202020204" pitchFamily="34" charset="0"/>
              <a:buChar char="•"/>
            </a:pPr>
            <a:r>
              <a:rPr lang="en-US" sz="2500" b="1" u="sng" dirty="0"/>
              <a:t>2025 Overall Record: </a:t>
            </a:r>
            <a:r>
              <a:rPr lang="en-US" sz="2300" dirty="0"/>
              <a:t>96-66</a:t>
            </a:r>
          </a:p>
          <a:p>
            <a:pPr marL="285750" indent="-285750">
              <a:buFont typeface="Arial" panose="020B0604020202020204" pitchFamily="34" charset="0"/>
              <a:buChar char="•"/>
            </a:pPr>
            <a:endParaRPr lang="en-US" sz="2300" dirty="0"/>
          </a:p>
          <a:p>
            <a:pPr marL="285750" indent="-285750">
              <a:buFont typeface="Arial" panose="020B0604020202020204" pitchFamily="34" charset="0"/>
              <a:buChar char="•"/>
            </a:pPr>
            <a:r>
              <a:rPr lang="en-US" sz="2500" b="1" dirty="0"/>
              <a:t>Postseason Elimination: </a:t>
            </a:r>
            <a:r>
              <a:rPr lang="en-US" sz="2300" dirty="0"/>
              <a:t>Lost in the NLDS to the Los Angeles Dodgers in a best-of-5 Series 3-1.</a:t>
            </a:r>
          </a:p>
          <a:p>
            <a:pPr marL="285750" indent="-285750">
              <a:buFont typeface="Arial" panose="020B0604020202020204" pitchFamily="34" charset="0"/>
              <a:buChar char="•"/>
            </a:pPr>
            <a:r>
              <a:rPr lang="en-US" sz="2500" b="1" dirty="0"/>
              <a:t>NL East Champions: </a:t>
            </a:r>
            <a:r>
              <a:rPr lang="en-US" sz="2300" dirty="0"/>
              <a:t>Won the National East Title for the second consecutive season and earned a first-round bye.</a:t>
            </a:r>
          </a:p>
          <a:p>
            <a:pPr marL="285750" indent="-285750">
              <a:buFont typeface="Arial" panose="020B0604020202020204" pitchFamily="34" charset="0"/>
              <a:buChar char="•"/>
            </a:pPr>
            <a:r>
              <a:rPr lang="en-US" sz="2500" b="1" dirty="0"/>
              <a:t>Offensive Highlights: </a:t>
            </a:r>
            <a:r>
              <a:rPr lang="en-US" sz="2300" dirty="0"/>
              <a:t>Kyle Schwarber finished the season with 56 HRs (2</a:t>
            </a:r>
            <a:r>
              <a:rPr lang="en-US" sz="2300" baseline="30000" dirty="0"/>
              <a:t>nd</a:t>
            </a:r>
            <a:r>
              <a:rPr lang="en-US" sz="2300" dirty="0"/>
              <a:t> in the MLB and 2</a:t>
            </a:r>
            <a:r>
              <a:rPr lang="en-US" sz="2300" baseline="30000" dirty="0"/>
              <a:t>nd</a:t>
            </a:r>
            <a:r>
              <a:rPr lang="en-US" sz="2300" dirty="0"/>
              <a:t> most in Phillies history). Trea Turned led the MLB in batting average (0.304). Both are 2025 Silver Slugger Finalists.</a:t>
            </a:r>
          </a:p>
          <a:p>
            <a:pPr marL="285750" indent="-285750">
              <a:buFont typeface="Arial" panose="020B0604020202020204" pitchFamily="34" charset="0"/>
              <a:buChar char="•"/>
            </a:pPr>
            <a:r>
              <a:rPr lang="en-US" sz="2500" b="1" dirty="0"/>
              <a:t>Defensive Highlights: </a:t>
            </a:r>
            <a:r>
              <a:rPr lang="en-US" sz="2300" dirty="0"/>
              <a:t>Cristopher Sanchez finished the best season of his career and was a Cy-Young candidate. He led the league in innings pitched and finished with career-highs in K/9 and game appearances.</a:t>
            </a:r>
          </a:p>
          <a:p>
            <a:pPr marL="285750" indent="-285750">
              <a:buFont typeface="Arial" panose="020B0604020202020204" pitchFamily="34" charset="0"/>
              <a:buChar char="•"/>
            </a:pPr>
            <a:endParaRPr lang="en-US" sz="2300" dirty="0"/>
          </a:p>
          <a:p>
            <a:pPr marL="285750" indent="-285750">
              <a:buFont typeface="Arial" panose="020B0604020202020204" pitchFamily="34" charset="0"/>
              <a:buChar char="•"/>
            </a:pPr>
            <a:r>
              <a:rPr lang="en-US" sz="2500" b="1" dirty="0"/>
              <a:t>2026 Free Agents: </a:t>
            </a:r>
            <a:r>
              <a:rPr lang="en-US" sz="2300" dirty="0"/>
              <a:t>Important players, such as Kyle Schwarber, J.T. Realmuto, and Ranger Suárez, loom as free-agents for the upcoming season.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17643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11DE2-2F2F-08FF-0718-F06127CB35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CC9584-2800-7B65-88F9-662F7928DF6F}"/>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Executive Summary</a:t>
            </a:r>
          </a:p>
        </p:txBody>
      </p:sp>
      <p:pic>
        <p:nvPicPr>
          <p:cNvPr id="4" name="Picture 3" descr="A red letter p on a black background&#10;&#10;AI-generated content may be incorrect.">
            <a:extLst>
              <a:ext uri="{FF2B5EF4-FFF2-40B4-BE49-F238E27FC236}">
                <a16:creationId xmlns:a16="http://schemas.microsoft.com/office/drawing/2014/main" id="{984C4FCB-F139-E060-D4FE-BD4AC093D4AF}"/>
              </a:ext>
            </a:extLst>
          </p:cNvPr>
          <p:cNvPicPr>
            <a:picLocks noChangeAspect="1"/>
          </p:cNvPicPr>
          <p:nvPr/>
        </p:nvPicPr>
        <p:blipFill>
          <a:blip r:embed="rId2"/>
          <a:stretch>
            <a:fillRect/>
          </a:stretch>
        </p:blipFill>
        <p:spPr>
          <a:xfrm>
            <a:off x="11485605" y="6151605"/>
            <a:ext cx="706395" cy="706395"/>
          </a:xfrm>
          <a:prstGeom prst="rect">
            <a:avLst/>
          </a:prstGeom>
        </p:spPr>
      </p:pic>
      <p:sp>
        <p:nvSpPr>
          <p:cNvPr id="5" name="TextBox 4">
            <a:extLst>
              <a:ext uri="{FF2B5EF4-FFF2-40B4-BE49-F238E27FC236}">
                <a16:creationId xmlns:a16="http://schemas.microsoft.com/office/drawing/2014/main" id="{096DE7CF-5971-A1C6-F250-C4AFD67C1A6C}"/>
              </a:ext>
            </a:extLst>
          </p:cNvPr>
          <p:cNvSpPr txBox="1"/>
          <p:nvPr/>
        </p:nvSpPr>
        <p:spPr>
          <a:xfrm>
            <a:off x="0" y="1246495"/>
            <a:ext cx="12106276" cy="5355312"/>
          </a:xfrm>
          <a:prstGeom prst="rect">
            <a:avLst/>
          </a:prstGeom>
          <a:noFill/>
        </p:spPr>
        <p:txBody>
          <a:bodyPr wrap="square">
            <a:spAutoFit/>
          </a:bodyPr>
          <a:lstStyle/>
          <a:p>
            <a:pPr marL="285750" indent="-285750">
              <a:buFont typeface="Wingdings" pitchFamily="2" charset="2"/>
              <a:buChar char="q"/>
            </a:pPr>
            <a:r>
              <a:rPr lang="en-US" b="1" u="sng" dirty="0"/>
              <a:t>Objective: </a:t>
            </a:r>
            <a:r>
              <a:rPr lang="en-US" dirty="0"/>
              <a:t>Project future value of some of the most valuable Philadelphia Phillies and impending free-agents. These players include Bryce Harper, Kyle Schwarber (</a:t>
            </a:r>
            <a:r>
              <a:rPr lang="en-US" b="1" dirty="0"/>
              <a:t>FA</a:t>
            </a:r>
            <a:r>
              <a:rPr lang="en-US" dirty="0"/>
              <a:t>), J.T. Realmuto (</a:t>
            </a:r>
            <a:r>
              <a:rPr lang="en-US" b="1" dirty="0"/>
              <a:t>FA</a:t>
            </a:r>
            <a:r>
              <a:rPr lang="en-US" dirty="0"/>
              <a:t>), Alec Bohm, and Trea Turner.</a:t>
            </a:r>
            <a:endParaRPr lang="en-US" b="1" u="sng" dirty="0"/>
          </a:p>
          <a:p>
            <a:pPr marL="285750" indent="-285750">
              <a:buFont typeface="Wingdings" pitchFamily="2" charset="2"/>
              <a:buChar char="q"/>
            </a:pPr>
            <a:r>
              <a:rPr lang="en-US" b="1" u="sng" dirty="0"/>
              <a:t>Data Inputs: </a:t>
            </a:r>
            <a:r>
              <a:rPr lang="en-US" dirty="0"/>
              <a:t>The data inserted into our model includes player-level advanced batting stats, such as K%, </a:t>
            </a:r>
            <a:r>
              <a:rPr lang="en-US" dirty="0" err="1"/>
              <a:t>xBA</a:t>
            </a:r>
            <a:r>
              <a:rPr lang="en-US" dirty="0"/>
              <a:t>, </a:t>
            </a:r>
            <a:r>
              <a:rPr lang="en-US" dirty="0" err="1"/>
              <a:t>xOBP</a:t>
            </a:r>
            <a:r>
              <a:rPr lang="en-US" dirty="0"/>
              <a:t>, barrel rate, hard hit%, sweet spot%, Age, </a:t>
            </a:r>
            <a:r>
              <a:rPr lang="en-US" dirty="0" err="1"/>
              <a:t>xISO</a:t>
            </a:r>
            <a:r>
              <a:rPr lang="en-US" dirty="0"/>
              <a:t>, etc. The target variables are hitting metrics including AVG, OBP, SLG, OPS, xwOBA, and xSLG.</a:t>
            </a:r>
            <a:endParaRPr lang="en-US" b="1" u="sng" dirty="0"/>
          </a:p>
          <a:p>
            <a:pPr marL="285750" indent="-285750">
              <a:buFont typeface="Wingdings" pitchFamily="2" charset="2"/>
              <a:buChar char="q"/>
            </a:pPr>
            <a:r>
              <a:rPr lang="en-US" b="1" u="sng" dirty="0"/>
              <a:t>Modeling: </a:t>
            </a:r>
            <a:r>
              <a:rPr lang="en-US" dirty="0"/>
              <a:t>A multioutput linear regression model was used to predict each player’s current/future performance using the feature inputs. The input features were normalized and scaled for standardization purposes. </a:t>
            </a:r>
            <a:endParaRPr lang="en-US" b="1" u="sng" dirty="0"/>
          </a:p>
          <a:p>
            <a:pPr marL="285750" indent="-285750">
              <a:buFont typeface="Wingdings" pitchFamily="2" charset="2"/>
              <a:buChar char="q"/>
            </a:pPr>
            <a:r>
              <a:rPr lang="en-US" b="1" u="sng" dirty="0"/>
              <a:t>Trend Estimation and Monte Carlo Simulation: </a:t>
            </a:r>
            <a:r>
              <a:rPr lang="en-US" dirty="0"/>
              <a:t>To best calculate and estimate yearly improvement/decline, I calculated a trend score using a regression slope and recent player performance stats. A positive slope indicated a player whose performance was improving while a negative slope indicated a declining player. Moreover, I used a Monte Carlo simulation to project each player’s performance over the next 5 seasons. About 2000 simulations were used and each simulation would build off the yearly trend and as well as ‘noise’ (random variance in performance year-to-year). From this, a mean projection and 99% confidence interval was created. </a:t>
            </a:r>
          </a:p>
          <a:p>
            <a:pPr marL="285750" indent="-285750">
              <a:buFont typeface="Wingdings" pitchFamily="2" charset="2"/>
              <a:buChar char="q"/>
            </a:pPr>
            <a:r>
              <a:rPr lang="en-US" b="1" u="sng" dirty="0"/>
              <a:t>Visualization: </a:t>
            </a:r>
            <a:r>
              <a:rPr lang="en-US" dirty="0"/>
              <a:t>A line chart depicting each player’s predicted low, high, and average statistics for the next 5 seasons was produced. The chart combines each player’s historical data with future projections and was benchmarked against other MLB players (using percentiles). </a:t>
            </a:r>
            <a:endParaRPr lang="en-US" b="1" u="sng" dirty="0"/>
          </a:p>
          <a:p>
            <a:pPr marL="285750" indent="-285750">
              <a:buFont typeface="Wingdings" pitchFamily="2" charset="2"/>
              <a:buChar char="q"/>
            </a:pPr>
            <a:r>
              <a:rPr lang="en-US" b="1" u="sng" dirty="0"/>
              <a:t>Next Steps: </a:t>
            </a:r>
            <a:r>
              <a:rPr lang="en-US" dirty="0"/>
              <a:t>As all models do, this will need to be improved daily and hopefully continue building off </a:t>
            </a:r>
          </a:p>
          <a:p>
            <a:r>
              <a:rPr lang="en-US" dirty="0"/>
              <a:t>     each other. The purpose of this project is to help contract evaluation and team performance in the future.</a:t>
            </a:r>
            <a:endParaRPr lang="en-US" b="1" u="sng" dirty="0"/>
          </a:p>
        </p:txBody>
      </p:sp>
    </p:spTree>
    <p:extLst>
      <p:ext uri="{BB962C8B-B14F-4D97-AF65-F5344CB8AC3E}">
        <p14:creationId xmlns:p14="http://schemas.microsoft.com/office/powerpoint/2010/main" val="1504052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D5306-7A81-B5CC-53D6-08E3440328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928AF2-2A32-8760-C6F5-4385B62670D8}"/>
              </a:ext>
            </a:extLst>
          </p:cNvPr>
          <p:cNvSpPr txBox="1"/>
          <p:nvPr/>
        </p:nvSpPr>
        <p:spPr>
          <a:xfrm>
            <a:off x="0" y="0"/>
            <a:ext cx="12192000" cy="1169551"/>
          </a:xfrm>
          <a:prstGeom prst="rect">
            <a:avLst/>
          </a:prstGeom>
          <a:solidFill>
            <a:srgbClr val="F81C00"/>
          </a:solidFill>
        </p:spPr>
        <p:txBody>
          <a:bodyPr wrap="square" rtlCol="0">
            <a:spAutoFit/>
          </a:bodyPr>
          <a:lstStyle/>
          <a:p>
            <a:pPr algn="ctr"/>
            <a:r>
              <a:rPr lang="en-US" sz="7000" dirty="0">
                <a:solidFill>
                  <a:schemeClr val="bg1"/>
                </a:solidFill>
                <a:latin typeface="Tw Cen MT" panose="020B0602020104020603" pitchFamily="34" charset="77"/>
              </a:rPr>
              <a:t>Metric Definitions</a:t>
            </a:r>
          </a:p>
        </p:txBody>
      </p:sp>
      <p:graphicFrame>
        <p:nvGraphicFramePr>
          <p:cNvPr id="3" name="Table 2">
            <a:extLst>
              <a:ext uri="{FF2B5EF4-FFF2-40B4-BE49-F238E27FC236}">
                <a16:creationId xmlns:a16="http://schemas.microsoft.com/office/drawing/2014/main" id="{393422D9-B234-FE5A-39C5-597932F33F04}"/>
              </a:ext>
            </a:extLst>
          </p:cNvPr>
          <p:cNvGraphicFramePr>
            <a:graphicFrameLocks noGrp="1"/>
          </p:cNvGraphicFramePr>
          <p:nvPr>
            <p:extLst>
              <p:ext uri="{D42A27DB-BD31-4B8C-83A1-F6EECF244321}">
                <p14:modId xmlns:p14="http://schemas.microsoft.com/office/powerpoint/2010/main" val="918971857"/>
              </p:ext>
            </p:extLst>
          </p:nvPr>
        </p:nvGraphicFramePr>
        <p:xfrm>
          <a:off x="198303" y="1182791"/>
          <a:ext cx="5133860" cy="5482130"/>
        </p:xfrm>
        <a:graphic>
          <a:graphicData uri="http://schemas.openxmlformats.org/drawingml/2006/table">
            <a:tbl>
              <a:tblPr firstRow="1" bandRow="1">
                <a:tableStyleId>{073A0DAA-6AF3-43AB-8588-CEC1D06C72B9}</a:tableStyleId>
              </a:tblPr>
              <a:tblGrid>
                <a:gridCol w="1730352">
                  <a:extLst>
                    <a:ext uri="{9D8B030D-6E8A-4147-A177-3AD203B41FA5}">
                      <a16:colId xmlns:a16="http://schemas.microsoft.com/office/drawing/2014/main" val="912670014"/>
                    </a:ext>
                  </a:extLst>
                </a:gridCol>
                <a:gridCol w="3403508">
                  <a:extLst>
                    <a:ext uri="{9D8B030D-6E8A-4147-A177-3AD203B41FA5}">
                      <a16:colId xmlns:a16="http://schemas.microsoft.com/office/drawing/2014/main" val="2179886396"/>
                    </a:ext>
                  </a:extLst>
                </a:gridCol>
              </a:tblGrid>
              <a:tr h="259245">
                <a:tc>
                  <a:txBody>
                    <a:bodyPr/>
                    <a:lstStyle/>
                    <a:p>
                      <a:r>
                        <a:rPr lang="en-US" sz="1000" dirty="0"/>
                        <a:t>Metric</a:t>
                      </a:r>
                    </a:p>
                  </a:txBody>
                  <a:tcPr/>
                </a:tc>
                <a:tc>
                  <a:txBody>
                    <a:bodyPr/>
                    <a:lstStyle/>
                    <a:p>
                      <a:r>
                        <a:rPr lang="en-US" sz="1000" dirty="0"/>
                        <a:t>Definition</a:t>
                      </a:r>
                    </a:p>
                  </a:txBody>
                  <a:tcPr/>
                </a:tc>
                <a:extLst>
                  <a:ext uri="{0D108BD9-81ED-4DB2-BD59-A6C34878D82A}">
                    <a16:rowId xmlns:a16="http://schemas.microsoft.com/office/drawing/2014/main" val="752225175"/>
                  </a:ext>
                </a:extLst>
              </a:tr>
              <a:tr h="259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k_percent</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Percentage of at-bats that resulted in a strikeout.</a:t>
                      </a:r>
                    </a:p>
                  </a:txBody>
                  <a:tcPr/>
                </a:tc>
                <a:extLst>
                  <a:ext uri="{0D108BD9-81ED-4DB2-BD59-A6C34878D82A}">
                    <a16:rowId xmlns:a16="http://schemas.microsoft.com/office/drawing/2014/main" val="3639339685"/>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bb_percent</a:t>
                      </a:r>
                      <a:endParaRPr lang="en-US" sz="1000" b="0" i="0" u="none" strike="noStrike"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Percentage of at-bats that resulted in a walk.</a:t>
                      </a:r>
                    </a:p>
                    <a:p>
                      <a:endParaRPr lang="en-US" sz="1000" dirty="0"/>
                    </a:p>
                  </a:txBody>
                  <a:tcPr/>
                </a:tc>
                <a:extLst>
                  <a:ext uri="{0D108BD9-81ED-4DB2-BD59-A6C34878D82A}">
                    <a16:rowId xmlns:a16="http://schemas.microsoft.com/office/drawing/2014/main" val="697988201"/>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swing_percent</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Percentage of pitches faced that resulted in a swing.</a:t>
                      </a:r>
                    </a:p>
                  </a:txBody>
                  <a:tcPr/>
                </a:tc>
                <a:extLst>
                  <a:ext uri="{0D108BD9-81ED-4DB2-BD59-A6C34878D82A}">
                    <a16:rowId xmlns:a16="http://schemas.microsoft.com/office/drawing/2014/main" val="3591258109"/>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whiff_percent</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Percentage of  swings that did not make contact with the incoming pitch.</a:t>
                      </a:r>
                    </a:p>
                  </a:txBody>
                  <a:tcPr/>
                </a:tc>
                <a:extLst>
                  <a:ext uri="{0D108BD9-81ED-4DB2-BD59-A6C34878D82A}">
                    <a16:rowId xmlns:a16="http://schemas.microsoft.com/office/drawing/2014/main" val="2474670302"/>
                  </a:ext>
                </a:extLst>
              </a:tr>
              <a:tr h="583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barrel_batted_rate</a:t>
                      </a:r>
                      <a:endParaRPr lang="en-US" sz="1000" b="0" i="0" u="none" strike="noStrike"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Percent of batted balls that resulted with the perfect combination of exit velocity and launch angle</a:t>
                      </a:r>
                    </a:p>
                  </a:txBody>
                  <a:tcPr/>
                </a:tc>
                <a:extLst>
                  <a:ext uri="{0D108BD9-81ED-4DB2-BD59-A6C34878D82A}">
                    <a16:rowId xmlns:a16="http://schemas.microsoft.com/office/drawing/2014/main" val="1620427842"/>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hard_hit_percent</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Percent of batted balls that were hit with an exit velocity of 95 mph or higher.</a:t>
                      </a:r>
                    </a:p>
                  </a:txBody>
                  <a:tcPr/>
                </a:tc>
                <a:extLst>
                  <a:ext uri="{0D108BD9-81ED-4DB2-BD59-A6C34878D82A}">
                    <a16:rowId xmlns:a16="http://schemas.microsoft.com/office/drawing/2014/main" val="2767050988"/>
                  </a:ext>
                </a:extLst>
              </a:tr>
              <a:tr h="2653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sweet_spot_percent</a:t>
                      </a:r>
                      <a:endParaRPr lang="en-US" sz="1000" b="0" i="0" u="none" strike="noStrike"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Percent of batted balls that resulted in being hit in the sweet spot of the bat, The sweet spot is classified as a launch angle ranging from 8 to 32 degrees.</a:t>
                      </a:r>
                    </a:p>
                    <a:p>
                      <a:endParaRPr lang="en-US" sz="1000" dirty="0"/>
                    </a:p>
                  </a:txBody>
                  <a:tcPr/>
                </a:tc>
                <a:extLst>
                  <a:ext uri="{0D108BD9-81ED-4DB2-BD59-A6C34878D82A}">
                    <a16:rowId xmlns:a16="http://schemas.microsoft.com/office/drawing/2014/main" val="3558185459"/>
                  </a:ext>
                </a:extLst>
              </a:tr>
              <a:tr h="309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err="1">
                          <a:solidFill>
                            <a:schemeClr val="dk1"/>
                          </a:solidFill>
                          <a:effectLst/>
                        </a:rPr>
                        <a:t>solidcontact_percent</a:t>
                      </a:r>
                      <a:endParaRPr lang="en-US" sz="1000" b="0" i="0" u="none" strike="noStrike"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Percent of batted balls that made “solid” contact.</a:t>
                      </a:r>
                    </a:p>
                  </a:txBody>
                  <a:tcPr/>
                </a:tc>
                <a:extLst>
                  <a:ext uri="{0D108BD9-81ED-4DB2-BD59-A6C34878D82A}">
                    <a16:rowId xmlns:a16="http://schemas.microsoft.com/office/drawing/2014/main" val="3881560150"/>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poorlyweak_percent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Percent of batted balls that made “weak” contact.</a:t>
                      </a:r>
                    </a:p>
                  </a:txBody>
                  <a:tcPr/>
                </a:tc>
                <a:extLst>
                  <a:ext uri="{0D108BD9-81ED-4DB2-BD59-A6C34878D82A}">
                    <a16:rowId xmlns:a16="http://schemas.microsoft.com/office/drawing/2014/main" val="3603161147"/>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avg_bat_speed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chemeClr val="dk1"/>
                        </a:solidFill>
                        <a:effectLst/>
                        <a:latin typeface="+mn-lt"/>
                        <a:ea typeface="+mn-ea"/>
                        <a:cs typeface="+mn-cs"/>
                      </a:endParaRPr>
                    </a:p>
                  </a:txBody>
                  <a:tcPr/>
                </a:tc>
                <a:tc>
                  <a:txBody>
                    <a:bodyPr/>
                    <a:lstStyle/>
                    <a:p>
                      <a:r>
                        <a:rPr lang="en-US" sz="1000" dirty="0"/>
                        <a:t>Average bat speed of the top 90% of a players’ swing.</a:t>
                      </a:r>
                    </a:p>
                  </a:txBody>
                  <a:tcPr/>
                </a:tc>
                <a:extLst>
                  <a:ext uri="{0D108BD9-81ED-4DB2-BD59-A6C34878D82A}">
                    <a16:rowId xmlns:a16="http://schemas.microsoft.com/office/drawing/2014/main" val="1997092077"/>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flareburner_percent</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Percent of batted balls that are “flared” or hit with a low launch angle.</a:t>
                      </a:r>
                    </a:p>
                  </a:txBody>
                  <a:tcPr/>
                </a:tc>
                <a:extLst>
                  <a:ext uri="{0D108BD9-81ED-4DB2-BD59-A6C34878D82A}">
                    <a16:rowId xmlns:a16="http://schemas.microsoft.com/office/drawing/2014/main" val="3876920229"/>
                  </a:ext>
                </a:extLst>
              </a:tr>
              <a:tr h="4212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groundballs_percent</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Percentage of batted balls that resulted in a groundball.</a:t>
                      </a:r>
                    </a:p>
                  </a:txBody>
                  <a:tcPr/>
                </a:tc>
                <a:extLst>
                  <a:ext uri="{0D108BD9-81ED-4DB2-BD59-A6C34878D82A}">
                    <a16:rowId xmlns:a16="http://schemas.microsoft.com/office/drawing/2014/main" val="4228888065"/>
                  </a:ext>
                </a:extLst>
              </a:tr>
            </a:tbl>
          </a:graphicData>
        </a:graphic>
      </p:graphicFrame>
      <p:graphicFrame>
        <p:nvGraphicFramePr>
          <p:cNvPr id="5" name="Table 4">
            <a:extLst>
              <a:ext uri="{FF2B5EF4-FFF2-40B4-BE49-F238E27FC236}">
                <a16:creationId xmlns:a16="http://schemas.microsoft.com/office/drawing/2014/main" id="{3B358698-D5D6-723B-E67D-BAE1BF704E54}"/>
              </a:ext>
            </a:extLst>
          </p:cNvPr>
          <p:cNvGraphicFramePr>
            <a:graphicFrameLocks noGrp="1"/>
          </p:cNvGraphicFramePr>
          <p:nvPr>
            <p:extLst>
              <p:ext uri="{D42A27DB-BD31-4B8C-83A1-F6EECF244321}">
                <p14:modId xmlns:p14="http://schemas.microsoft.com/office/powerpoint/2010/main" val="4036923009"/>
              </p:ext>
            </p:extLst>
          </p:nvPr>
        </p:nvGraphicFramePr>
        <p:xfrm>
          <a:off x="5530466" y="1182790"/>
          <a:ext cx="6661534" cy="5482127"/>
        </p:xfrm>
        <a:graphic>
          <a:graphicData uri="http://schemas.openxmlformats.org/drawingml/2006/table">
            <a:tbl>
              <a:tblPr firstRow="1" bandRow="1">
                <a:tableStyleId>{073A0DAA-6AF3-43AB-8588-CEC1D06C72B9}</a:tableStyleId>
              </a:tblPr>
              <a:tblGrid>
                <a:gridCol w="761253">
                  <a:extLst>
                    <a:ext uri="{9D8B030D-6E8A-4147-A177-3AD203B41FA5}">
                      <a16:colId xmlns:a16="http://schemas.microsoft.com/office/drawing/2014/main" val="912670014"/>
                    </a:ext>
                  </a:extLst>
                </a:gridCol>
                <a:gridCol w="5900281">
                  <a:extLst>
                    <a:ext uri="{9D8B030D-6E8A-4147-A177-3AD203B41FA5}">
                      <a16:colId xmlns:a16="http://schemas.microsoft.com/office/drawing/2014/main" val="2179886396"/>
                    </a:ext>
                  </a:extLst>
                </a:gridCol>
              </a:tblGrid>
              <a:tr h="259228">
                <a:tc>
                  <a:txBody>
                    <a:bodyPr/>
                    <a:lstStyle/>
                    <a:p>
                      <a:r>
                        <a:rPr lang="en-US" sz="1000" dirty="0"/>
                        <a:t>Metric</a:t>
                      </a:r>
                    </a:p>
                  </a:txBody>
                  <a:tcPr/>
                </a:tc>
                <a:tc>
                  <a:txBody>
                    <a:bodyPr/>
                    <a:lstStyle/>
                    <a:p>
                      <a:r>
                        <a:rPr lang="en-US" sz="1000" dirty="0"/>
                        <a:t>Definition</a:t>
                      </a:r>
                    </a:p>
                  </a:txBody>
                  <a:tcPr/>
                </a:tc>
                <a:extLst>
                  <a:ext uri="{0D108BD9-81ED-4DB2-BD59-A6C34878D82A}">
                    <a16:rowId xmlns:a16="http://schemas.microsoft.com/office/drawing/2014/main" val="752225175"/>
                  </a:ext>
                </a:extLst>
              </a:tr>
              <a:tr h="259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mn-cs"/>
                        </a:rPr>
                        <a:t>AVG</a:t>
                      </a:r>
                    </a:p>
                  </a:txBody>
                  <a:tcPr/>
                </a:tc>
                <a:tc>
                  <a:txBody>
                    <a:bodyPr/>
                    <a:lstStyle/>
                    <a:p>
                      <a:r>
                        <a:rPr lang="en-US" sz="1000" dirty="0"/>
                        <a:t>Number of hits / number of at-bats</a:t>
                      </a:r>
                    </a:p>
                  </a:txBody>
                  <a:tcPr/>
                </a:tc>
                <a:extLst>
                  <a:ext uri="{0D108BD9-81ED-4DB2-BD59-A6C34878D82A}">
                    <a16:rowId xmlns:a16="http://schemas.microsoft.com/office/drawing/2014/main" val="2588029486"/>
                  </a:ext>
                </a:extLst>
              </a:tr>
              <a:tr h="401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mn-cs"/>
                        </a:rPr>
                        <a:t>OBS</a:t>
                      </a:r>
                    </a:p>
                  </a:txBody>
                  <a:tcPr/>
                </a:tc>
                <a:tc>
                  <a:txBody>
                    <a:bodyPr/>
                    <a:lstStyle/>
                    <a:p>
                      <a:r>
                        <a:rPr lang="en-US" sz="1000" dirty="0"/>
                        <a:t>Number of times the batter reaches base / number of at-bats</a:t>
                      </a:r>
                    </a:p>
                  </a:txBody>
                  <a:tcPr/>
                </a:tc>
                <a:extLst>
                  <a:ext uri="{0D108BD9-81ED-4DB2-BD59-A6C34878D82A}">
                    <a16:rowId xmlns:a16="http://schemas.microsoft.com/office/drawing/2014/main" val="1058686523"/>
                  </a:ext>
                </a:extLst>
              </a:tr>
              <a:tr h="583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mn-cs"/>
                        </a:rPr>
                        <a:t>SLG</a:t>
                      </a:r>
                    </a:p>
                  </a:txBody>
                  <a:tcPr/>
                </a:tc>
                <a:tc>
                  <a:txBody>
                    <a:bodyPr/>
                    <a:lstStyle/>
                    <a:p>
                      <a:r>
                        <a:rPr lang="en-US" sz="1000" dirty="0"/>
                        <a:t>Measures a player's batting power. Equal to (1*# of singles + 2* # of doubles + 3*# of triples + 4* # of homeruns) / at-bats</a:t>
                      </a:r>
                    </a:p>
                    <a:p>
                      <a:endParaRPr lang="en-US" sz="1000" dirty="0"/>
                    </a:p>
                  </a:txBody>
                  <a:tcPr/>
                </a:tc>
                <a:extLst>
                  <a:ext uri="{0D108BD9-81ED-4DB2-BD59-A6C34878D82A}">
                    <a16:rowId xmlns:a16="http://schemas.microsoft.com/office/drawing/2014/main" val="498215162"/>
                  </a:ext>
                </a:extLst>
              </a:tr>
              <a:tr h="259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mn-cs"/>
                        </a:rPr>
                        <a:t>OPS</a:t>
                      </a:r>
                    </a:p>
                  </a:txBody>
                  <a:tcPr/>
                </a:tc>
                <a:tc>
                  <a:txBody>
                    <a:bodyPr/>
                    <a:lstStyle/>
                    <a:p>
                      <a:r>
                        <a:rPr lang="en-US" sz="1000" dirty="0"/>
                        <a:t>OBS + SLG</a:t>
                      </a:r>
                    </a:p>
                  </a:txBody>
                  <a:tcPr/>
                </a:tc>
                <a:extLst>
                  <a:ext uri="{0D108BD9-81ED-4DB2-BD59-A6C34878D82A}">
                    <a16:rowId xmlns:a16="http://schemas.microsoft.com/office/drawing/2014/main" val="113478801"/>
                  </a:ext>
                </a:extLst>
              </a:tr>
              <a:tr h="259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xobp</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Expected on-base percentage,</a:t>
                      </a:r>
                    </a:p>
                  </a:txBody>
                  <a:tcPr/>
                </a:tc>
                <a:extLst>
                  <a:ext uri="{0D108BD9-81ED-4DB2-BD59-A6C34878D82A}">
                    <a16:rowId xmlns:a16="http://schemas.microsoft.com/office/drawing/2014/main" val="3639339685"/>
                  </a:ext>
                </a:extLst>
              </a:tr>
              <a:tr h="401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xba</a:t>
                      </a:r>
                      <a:endParaRPr lang="en-US" sz="1000" b="0" i="0" u="none" strike="noStrike" kern="1200" dirty="0">
                        <a:solidFill>
                          <a:schemeClr val="dk1"/>
                        </a:solidFill>
                        <a:effectLst/>
                        <a:latin typeface="+mn-lt"/>
                        <a:ea typeface="+mn-ea"/>
                        <a:cs typeface="+mn-cs"/>
                      </a:endParaRPr>
                    </a:p>
                  </a:txBody>
                  <a:tcPr/>
                </a:tc>
                <a:tc>
                  <a:txBody>
                    <a:bodyPr/>
                    <a:lstStyle/>
                    <a:p>
                      <a:r>
                        <a:rPr lang="en-US" sz="1000" b="0" i="0" u="none" strike="noStrike" kern="1200" dirty="0">
                          <a:solidFill>
                            <a:schemeClr val="dk1"/>
                          </a:solidFill>
                          <a:effectLst/>
                          <a:latin typeface="+mn-lt"/>
                          <a:ea typeface="+mn-ea"/>
                          <a:cs typeface="+mn-cs"/>
                        </a:rPr>
                        <a:t>Expected batting average. Measures the likelihood that a batted ball will become a hit.</a:t>
                      </a:r>
                      <a:endParaRPr lang="en-US" sz="1000" dirty="0"/>
                    </a:p>
                  </a:txBody>
                  <a:tcPr/>
                </a:tc>
                <a:extLst>
                  <a:ext uri="{0D108BD9-81ED-4DB2-BD59-A6C34878D82A}">
                    <a16:rowId xmlns:a16="http://schemas.microsoft.com/office/drawing/2014/main" val="697988201"/>
                  </a:ext>
                </a:extLst>
              </a:tr>
              <a:tr h="5735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xiso</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Expected isolate power. Isolated Power (ISO) measures the raw power of a hitter by only taking extra base hits into account. </a:t>
                      </a:r>
                    </a:p>
                  </a:txBody>
                  <a:tcPr/>
                </a:tc>
                <a:extLst>
                  <a:ext uri="{0D108BD9-81ED-4DB2-BD59-A6C34878D82A}">
                    <a16:rowId xmlns:a16="http://schemas.microsoft.com/office/drawing/2014/main" val="3591258109"/>
                  </a:ext>
                </a:extLst>
              </a:tr>
              <a:tr h="555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mn-cs"/>
                        </a:rPr>
                        <a:t>xSLG</a:t>
                      </a:r>
                    </a:p>
                  </a:txBody>
                  <a:tcPr/>
                </a:tc>
                <a:tc>
                  <a:txBody>
                    <a:bodyPr/>
                    <a:lstStyle/>
                    <a:p>
                      <a:r>
                        <a:rPr lang="en-US" sz="1000" dirty="0"/>
                        <a:t>Expected slug percentage. Formulated using exit velocity, launch angle, and sprint speed. </a:t>
                      </a:r>
                    </a:p>
                  </a:txBody>
                  <a:tcPr/>
                </a:tc>
                <a:extLst>
                  <a:ext uri="{0D108BD9-81ED-4DB2-BD59-A6C34878D82A}">
                    <a16:rowId xmlns:a16="http://schemas.microsoft.com/office/drawing/2014/main" val="2474670302"/>
                  </a:ext>
                </a:extLst>
              </a:tr>
              <a:tr h="558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woba</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Weighted on-base average. Accounts for how a player reached a base. The value for each base is determined by how much the event was worth in relation to projected runs scored. </a:t>
                      </a:r>
                    </a:p>
                  </a:txBody>
                  <a:tcPr/>
                </a:tc>
                <a:extLst>
                  <a:ext uri="{0D108BD9-81ED-4DB2-BD59-A6C34878D82A}">
                    <a16:rowId xmlns:a16="http://schemas.microsoft.com/office/drawing/2014/main" val="1620427842"/>
                  </a:ext>
                </a:extLst>
              </a:tr>
              <a:tr h="7102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chemeClr val="dk1"/>
                          </a:solidFill>
                          <a:effectLst/>
                          <a:latin typeface="+mn-lt"/>
                          <a:ea typeface="+mn-ea"/>
                          <a:cs typeface="+mn-cs"/>
                        </a:rPr>
                        <a:t>xwoba</a:t>
                      </a:r>
                    </a:p>
                  </a:txBody>
                  <a:tcPr/>
                </a:tc>
                <a:tc>
                  <a:txBody>
                    <a:bodyPr/>
                    <a:lstStyle/>
                    <a:p>
                      <a:r>
                        <a:rPr lang="en-US" sz="1000" dirty="0"/>
                        <a:t>Expected weighted on-base average. Factors into account weighted on-base average with exit velocity, launch angle, and sprint speed.</a:t>
                      </a:r>
                    </a:p>
                  </a:txBody>
                  <a:tcPr/>
                </a:tc>
                <a:extLst>
                  <a:ext uri="{0D108BD9-81ED-4DB2-BD59-A6C34878D82A}">
                    <a16:rowId xmlns:a16="http://schemas.microsoft.com/office/drawing/2014/main" val="1916804846"/>
                  </a:ext>
                </a:extLst>
              </a:tr>
              <a:tr h="401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babip</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Batting average of balls in play. How often a batted ball resulted in a hit (excludes HRs).</a:t>
                      </a:r>
                    </a:p>
                  </a:txBody>
                  <a:tcPr/>
                </a:tc>
                <a:extLst>
                  <a:ext uri="{0D108BD9-81ED-4DB2-BD59-A6C34878D82A}">
                    <a16:rowId xmlns:a16="http://schemas.microsoft.com/office/drawing/2014/main" val="2767050988"/>
                  </a:ext>
                </a:extLst>
              </a:tr>
              <a:tr h="259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none" strike="noStrike" kern="1200" dirty="0">
                          <a:solidFill>
                            <a:schemeClr val="dk1"/>
                          </a:solidFill>
                          <a:effectLst/>
                        </a:rPr>
                        <a:t>Age</a:t>
                      </a:r>
                      <a:endParaRPr lang="en-US" sz="1000" b="0" i="0" u="none" strike="noStrike" kern="1200" dirty="0">
                        <a:solidFill>
                          <a:schemeClr val="dk1"/>
                        </a:solidFill>
                        <a:effectLst/>
                        <a:latin typeface="+mn-lt"/>
                        <a:ea typeface="+mn-ea"/>
                        <a:cs typeface="+mn-cs"/>
                      </a:endParaRPr>
                    </a:p>
                  </a:txBody>
                  <a:tcPr/>
                </a:tc>
                <a:tc>
                  <a:txBody>
                    <a:bodyPr/>
                    <a:lstStyle/>
                    <a:p>
                      <a:r>
                        <a:rPr lang="en-US" sz="1000" dirty="0"/>
                        <a:t>The age of the player.</a:t>
                      </a:r>
                    </a:p>
                  </a:txBody>
                  <a:tcPr/>
                </a:tc>
                <a:extLst>
                  <a:ext uri="{0D108BD9-81ED-4DB2-BD59-A6C34878D82A}">
                    <a16:rowId xmlns:a16="http://schemas.microsoft.com/office/drawing/2014/main" val="3558185459"/>
                  </a:ext>
                </a:extLst>
              </a:tr>
            </a:tbl>
          </a:graphicData>
        </a:graphic>
      </p:graphicFrame>
      <p:sp>
        <p:nvSpPr>
          <p:cNvPr id="8" name="TextBox 7">
            <a:extLst>
              <a:ext uri="{FF2B5EF4-FFF2-40B4-BE49-F238E27FC236}">
                <a16:creationId xmlns:a16="http://schemas.microsoft.com/office/drawing/2014/main" id="{C58182A2-AE16-085E-1D75-026F426A0B86}"/>
              </a:ext>
            </a:extLst>
          </p:cNvPr>
          <p:cNvSpPr txBox="1"/>
          <p:nvPr/>
        </p:nvSpPr>
        <p:spPr>
          <a:xfrm>
            <a:off x="198303" y="6611779"/>
            <a:ext cx="8135234" cy="246221"/>
          </a:xfrm>
          <a:prstGeom prst="rect">
            <a:avLst/>
          </a:prstGeom>
          <a:noFill/>
        </p:spPr>
        <p:txBody>
          <a:bodyPr wrap="square">
            <a:spAutoFit/>
          </a:bodyPr>
          <a:lstStyle/>
          <a:p>
            <a:r>
              <a:rPr lang="en-US" sz="1000" dirty="0"/>
              <a:t>Metric Information and Data is from Baseball Savant and </a:t>
            </a:r>
            <a:r>
              <a:rPr lang="en-US" sz="1000" dirty="0" err="1"/>
              <a:t>Statcast</a:t>
            </a:r>
            <a:endParaRPr lang="en-US" sz="1000" dirty="0"/>
          </a:p>
        </p:txBody>
      </p:sp>
    </p:spTree>
    <p:extLst>
      <p:ext uri="{BB962C8B-B14F-4D97-AF65-F5344CB8AC3E}">
        <p14:creationId xmlns:p14="http://schemas.microsoft.com/office/powerpoint/2010/main" val="415214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C8B52-BE50-4226-017C-04E6688C6D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08D25C-C189-5DB4-C8C5-0F5EDA871FA9}"/>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Bryce Harper</a:t>
            </a:r>
          </a:p>
        </p:txBody>
      </p:sp>
      <p:pic>
        <p:nvPicPr>
          <p:cNvPr id="4" name="Picture 3" descr="A red letter p on a black background&#10;&#10;AI-generated content may be incorrect.">
            <a:extLst>
              <a:ext uri="{FF2B5EF4-FFF2-40B4-BE49-F238E27FC236}">
                <a16:creationId xmlns:a16="http://schemas.microsoft.com/office/drawing/2014/main" id="{5D2E4823-04A5-D876-6F4B-56751CDAA246}"/>
              </a:ext>
            </a:extLst>
          </p:cNvPr>
          <p:cNvPicPr>
            <a:picLocks noChangeAspect="1"/>
          </p:cNvPicPr>
          <p:nvPr/>
        </p:nvPicPr>
        <p:blipFill>
          <a:blip r:embed="rId2"/>
          <a:stretch>
            <a:fillRect/>
          </a:stretch>
        </p:blipFill>
        <p:spPr>
          <a:xfrm>
            <a:off x="11485605" y="6151605"/>
            <a:ext cx="706395" cy="706395"/>
          </a:xfrm>
          <a:prstGeom prst="rect">
            <a:avLst/>
          </a:prstGeom>
        </p:spPr>
      </p:pic>
      <p:graphicFrame>
        <p:nvGraphicFramePr>
          <p:cNvPr id="3" name="Table 2">
            <a:extLst>
              <a:ext uri="{FF2B5EF4-FFF2-40B4-BE49-F238E27FC236}">
                <a16:creationId xmlns:a16="http://schemas.microsoft.com/office/drawing/2014/main" id="{0F7D6556-8D10-60E0-38A9-CDC68A420852}"/>
              </a:ext>
            </a:extLst>
          </p:cNvPr>
          <p:cNvGraphicFramePr>
            <a:graphicFrameLocks noGrp="1"/>
          </p:cNvGraphicFramePr>
          <p:nvPr>
            <p:extLst>
              <p:ext uri="{D42A27DB-BD31-4B8C-83A1-F6EECF244321}">
                <p14:modId xmlns:p14="http://schemas.microsoft.com/office/powerpoint/2010/main" val="1538478583"/>
              </p:ext>
            </p:extLst>
          </p:nvPr>
        </p:nvGraphicFramePr>
        <p:xfrm>
          <a:off x="2156372" y="1481274"/>
          <a:ext cx="7879256" cy="2595880"/>
        </p:xfrm>
        <a:graphic>
          <a:graphicData uri="http://schemas.openxmlformats.org/drawingml/2006/table">
            <a:tbl>
              <a:tblPr firstRow="1" bandRow="1">
                <a:tableStyleId>{073A0DAA-6AF3-43AB-8588-CEC1D06C72B9}</a:tableStyleId>
              </a:tblPr>
              <a:tblGrid>
                <a:gridCol w="1125608">
                  <a:extLst>
                    <a:ext uri="{9D8B030D-6E8A-4147-A177-3AD203B41FA5}">
                      <a16:colId xmlns:a16="http://schemas.microsoft.com/office/drawing/2014/main" val="4146166191"/>
                    </a:ext>
                  </a:extLst>
                </a:gridCol>
                <a:gridCol w="1125608">
                  <a:extLst>
                    <a:ext uri="{9D8B030D-6E8A-4147-A177-3AD203B41FA5}">
                      <a16:colId xmlns:a16="http://schemas.microsoft.com/office/drawing/2014/main" val="3937957260"/>
                    </a:ext>
                  </a:extLst>
                </a:gridCol>
                <a:gridCol w="1125608">
                  <a:extLst>
                    <a:ext uri="{9D8B030D-6E8A-4147-A177-3AD203B41FA5}">
                      <a16:colId xmlns:a16="http://schemas.microsoft.com/office/drawing/2014/main" val="3164863238"/>
                    </a:ext>
                  </a:extLst>
                </a:gridCol>
                <a:gridCol w="1125608">
                  <a:extLst>
                    <a:ext uri="{9D8B030D-6E8A-4147-A177-3AD203B41FA5}">
                      <a16:colId xmlns:a16="http://schemas.microsoft.com/office/drawing/2014/main" val="2708233520"/>
                    </a:ext>
                  </a:extLst>
                </a:gridCol>
                <a:gridCol w="1125608">
                  <a:extLst>
                    <a:ext uri="{9D8B030D-6E8A-4147-A177-3AD203B41FA5}">
                      <a16:colId xmlns:a16="http://schemas.microsoft.com/office/drawing/2014/main" val="529541264"/>
                    </a:ext>
                  </a:extLst>
                </a:gridCol>
                <a:gridCol w="1125608">
                  <a:extLst>
                    <a:ext uri="{9D8B030D-6E8A-4147-A177-3AD203B41FA5}">
                      <a16:colId xmlns:a16="http://schemas.microsoft.com/office/drawing/2014/main" val="3966674631"/>
                    </a:ext>
                  </a:extLst>
                </a:gridCol>
                <a:gridCol w="1125608">
                  <a:extLst>
                    <a:ext uri="{9D8B030D-6E8A-4147-A177-3AD203B41FA5}">
                      <a16:colId xmlns:a16="http://schemas.microsoft.com/office/drawing/2014/main" val="65403372"/>
                    </a:ext>
                  </a:extLst>
                </a:gridCol>
              </a:tblGrid>
              <a:tr h="370840">
                <a:tc>
                  <a:txBody>
                    <a:bodyPr/>
                    <a:lstStyle/>
                    <a:p>
                      <a:r>
                        <a:rPr lang="en-US" dirty="0"/>
                        <a:t>Season</a:t>
                      </a:r>
                    </a:p>
                  </a:txBody>
                  <a:tcPr/>
                </a:tc>
                <a:tc>
                  <a:txBody>
                    <a:bodyPr/>
                    <a:lstStyle/>
                    <a:p>
                      <a:r>
                        <a:rPr lang="en-US" dirty="0"/>
                        <a:t>AVG</a:t>
                      </a:r>
                    </a:p>
                  </a:txBody>
                  <a:tcPr/>
                </a:tc>
                <a:tc>
                  <a:txBody>
                    <a:bodyPr/>
                    <a:lstStyle/>
                    <a:p>
                      <a:r>
                        <a:rPr lang="en-US" dirty="0"/>
                        <a:t>OBP</a:t>
                      </a:r>
                    </a:p>
                  </a:txBody>
                  <a:tcPr/>
                </a:tc>
                <a:tc>
                  <a:txBody>
                    <a:bodyPr/>
                    <a:lstStyle/>
                    <a:p>
                      <a:r>
                        <a:rPr lang="en-US" dirty="0"/>
                        <a:t>SLG</a:t>
                      </a:r>
                    </a:p>
                  </a:txBody>
                  <a:tcPr/>
                </a:tc>
                <a:tc>
                  <a:txBody>
                    <a:bodyPr/>
                    <a:lstStyle/>
                    <a:p>
                      <a:r>
                        <a:rPr lang="en-US" dirty="0"/>
                        <a:t>OPS</a:t>
                      </a:r>
                    </a:p>
                  </a:txBody>
                  <a:tcPr/>
                </a:tc>
                <a:tc>
                  <a:txBody>
                    <a:bodyPr/>
                    <a:lstStyle/>
                    <a:p>
                      <a:r>
                        <a:rPr lang="en-US" dirty="0"/>
                        <a:t>xSLG</a:t>
                      </a:r>
                    </a:p>
                  </a:txBody>
                  <a:tcPr/>
                </a:tc>
                <a:tc>
                  <a:txBody>
                    <a:bodyPr/>
                    <a:lstStyle/>
                    <a:p>
                      <a:r>
                        <a:rPr lang="en-US" dirty="0"/>
                        <a:t>xwOBA</a:t>
                      </a:r>
                    </a:p>
                  </a:txBody>
                  <a:tcPr/>
                </a:tc>
                <a:extLst>
                  <a:ext uri="{0D108BD9-81ED-4DB2-BD59-A6C34878D82A}">
                    <a16:rowId xmlns:a16="http://schemas.microsoft.com/office/drawing/2014/main" val="720208137"/>
                  </a:ext>
                </a:extLst>
              </a:tr>
              <a:tr h="370840">
                <a:tc>
                  <a:txBody>
                    <a:bodyPr/>
                    <a:lstStyle/>
                    <a:p>
                      <a:r>
                        <a:rPr lang="en-US" b="1" u="sng" dirty="0"/>
                        <a:t>2025</a:t>
                      </a:r>
                    </a:p>
                  </a:txBody>
                  <a:tcPr/>
                </a:tc>
                <a:tc>
                  <a:txBody>
                    <a:bodyPr/>
                    <a:lstStyle/>
                    <a:p>
                      <a:pPr algn="ctr"/>
                      <a:r>
                        <a:rPr lang="en-US" sz="1800" b="1" u="sng" dirty="0">
                          <a:latin typeface="+mn-lt"/>
                        </a:rPr>
                        <a:t>0.261</a:t>
                      </a:r>
                    </a:p>
                  </a:txBody>
                  <a:tcPr/>
                </a:tc>
                <a:tc>
                  <a:txBody>
                    <a:bodyPr/>
                    <a:lstStyle/>
                    <a:p>
                      <a:pPr algn="ctr"/>
                      <a:r>
                        <a:rPr lang="en-US" sz="1800" b="1" u="sng" dirty="0">
                          <a:latin typeface="+mn-lt"/>
                        </a:rPr>
                        <a:t>0.357</a:t>
                      </a:r>
                    </a:p>
                  </a:txBody>
                  <a:tcPr/>
                </a:tc>
                <a:tc>
                  <a:txBody>
                    <a:bodyPr/>
                    <a:lstStyle/>
                    <a:p>
                      <a:pPr algn="ctr"/>
                      <a:r>
                        <a:rPr lang="en-US" sz="1800" b="1" u="sng" dirty="0">
                          <a:latin typeface="+mn-lt"/>
                        </a:rPr>
                        <a:t>0.487</a:t>
                      </a:r>
                    </a:p>
                  </a:txBody>
                  <a:tcPr/>
                </a:tc>
                <a:tc>
                  <a:txBody>
                    <a:bodyPr/>
                    <a:lstStyle/>
                    <a:p>
                      <a:pPr algn="ctr"/>
                      <a:r>
                        <a:rPr lang="en-US" sz="1800" b="1" u="sng" dirty="0">
                          <a:latin typeface="+mn-lt"/>
                        </a:rPr>
                        <a:t>0.844</a:t>
                      </a:r>
                    </a:p>
                  </a:txBody>
                  <a:tcPr/>
                </a:tc>
                <a:tc>
                  <a:txBody>
                    <a:bodyPr/>
                    <a:lstStyle/>
                    <a:p>
                      <a:pPr algn="ctr"/>
                      <a:r>
                        <a:rPr lang="en-US" sz="1800" b="1" u="sng" dirty="0">
                          <a:latin typeface="+mn-lt"/>
                        </a:rPr>
                        <a:t>0.512</a:t>
                      </a:r>
                    </a:p>
                  </a:txBody>
                  <a:tcPr/>
                </a:tc>
                <a:tc>
                  <a:txBody>
                    <a:bodyPr/>
                    <a:lstStyle/>
                    <a:p>
                      <a:pPr algn="ctr"/>
                      <a:r>
                        <a:rPr lang="en-US" sz="1800" b="1" u="sng" dirty="0">
                          <a:latin typeface="+mn-lt"/>
                        </a:rPr>
                        <a:t>0.379</a:t>
                      </a:r>
                    </a:p>
                  </a:txBody>
                  <a:tcPr/>
                </a:tc>
                <a:extLst>
                  <a:ext uri="{0D108BD9-81ED-4DB2-BD59-A6C34878D82A}">
                    <a16:rowId xmlns:a16="http://schemas.microsoft.com/office/drawing/2014/main" val="3198095503"/>
                  </a:ext>
                </a:extLst>
              </a:tr>
              <a:tr h="370840">
                <a:tc>
                  <a:txBody>
                    <a:bodyPr/>
                    <a:lstStyle/>
                    <a:p>
                      <a:r>
                        <a:rPr lang="en-US" dirty="0"/>
                        <a:t>2026</a:t>
                      </a:r>
                    </a:p>
                  </a:txBody>
                  <a:tcPr/>
                </a:tc>
                <a:tc>
                  <a:txBody>
                    <a:bodyPr/>
                    <a:lstStyle/>
                    <a:p>
                      <a:pPr algn="ctr">
                        <a:buNone/>
                      </a:pPr>
                      <a:r>
                        <a:rPr lang="en-US" sz="1800" dirty="0">
                          <a:solidFill>
                            <a:srgbClr val="000000"/>
                          </a:solidFill>
                          <a:effectLst/>
                          <a:latin typeface="+mn-lt"/>
                        </a:rPr>
                        <a:t>0.261</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0.356</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0.485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0.845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0.512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0.379</a:t>
                      </a:r>
                      <a:endParaRPr lang="en-US" sz="1800" dirty="0">
                        <a:effectLst/>
                        <a:latin typeface="+mn-lt"/>
                      </a:endParaRPr>
                    </a:p>
                  </a:txBody>
                  <a:tcPr marL="38100" marR="38100" marT="38100" marB="38100"/>
                </a:tc>
                <a:extLst>
                  <a:ext uri="{0D108BD9-81ED-4DB2-BD59-A6C34878D82A}">
                    <a16:rowId xmlns:a16="http://schemas.microsoft.com/office/drawing/2014/main" val="4293680123"/>
                  </a:ext>
                </a:extLst>
              </a:tr>
              <a:tr h="370840">
                <a:tc>
                  <a:txBody>
                    <a:bodyPr/>
                    <a:lstStyle/>
                    <a:p>
                      <a:r>
                        <a:rPr lang="en-US" dirty="0"/>
                        <a:t>2027</a:t>
                      </a:r>
                    </a:p>
                  </a:txBody>
                  <a:tcPr/>
                </a:tc>
                <a:tc>
                  <a:txBody>
                    <a:bodyPr/>
                    <a:lstStyle/>
                    <a:p>
                      <a:pPr algn="ctr">
                        <a:buNone/>
                      </a:pPr>
                      <a:r>
                        <a:rPr lang="en-US" sz="1800" dirty="0">
                          <a:solidFill>
                            <a:srgbClr val="000000"/>
                          </a:solidFill>
                          <a:effectLst/>
                          <a:latin typeface="+mn-lt"/>
                        </a:rPr>
                        <a:t>0.257</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0.350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0.477</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0.829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0.502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0.371</a:t>
                      </a:r>
                      <a:endParaRPr lang="en-US" sz="1800" dirty="0">
                        <a:effectLst/>
                        <a:latin typeface="+mn-lt"/>
                      </a:endParaRPr>
                    </a:p>
                  </a:txBody>
                  <a:tcPr marL="38100" marR="38100" marT="38100" marB="38100"/>
                </a:tc>
                <a:extLst>
                  <a:ext uri="{0D108BD9-81ED-4DB2-BD59-A6C34878D82A}">
                    <a16:rowId xmlns:a16="http://schemas.microsoft.com/office/drawing/2014/main" val="1643148760"/>
                  </a:ext>
                </a:extLst>
              </a:tr>
              <a:tr h="370840">
                <a:tc>
                  <a:txBody>
                    <a:bodyPr/>
                    <a:lstStyle/>
                    <a:p>
                      <a:r>
                        <a:rPr lang="en-US" dirty="0"/>
                        <a:t>2028</a:t>
                      </a:r>
                    </a:p>
                  </a:txBody>
                  <a:tcPr/>
                </a:tc>
                <a:tc>
                  <a:txBody>
                    <a:bodyPr/>
                    <a:lstStyle/>
                    <a:p>
                      <a:pPr algn="ctr">
                        <a:buNone/>
                      </a:pPr>
                      <a:r>
                        <a:rPr lang="en-US" sz="1800" dirty="0">
                          <a:solidFill>
                            <a:srgbClr val="000000"/>
                          </a:solidFill>
                          <a:effectLst/>
                          <a:latin typeface="+mn-lt"/>
                        </a:rPr>
                        <a:t>0.242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0.449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0.782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0.472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0.349</a:t>
                      </a:r>
                      <a:endParaRPr lang="en-US" sz="1800" dirty="0">
                        <a:effectLst/>
                        <a:latin typeface="+mn-lt"/>
                      </a:endParaRPr>
                    </a:p>
                  </a:txBody>
                  <a:tcPr marL="38100" marR="38100" marT="38100" marB="38100"/>
                </a:tc>
                <a:extLst>
                  <a:ext uri="{0D108BD9-81ED-4DB2-BD59-A6C34878D82A}">
                    <a16:rowId xmlns:a16="http://schemas.microsoft.com/office/drawing/2014/main" val="16692748"/>
                  </a:ext>
                </a:extLst>
              </a:tr>
              <a:tr h="370840">
                <a:tc>
                  <a:txBody>
                    <a:bodyPr/>
                    <a:lstStyle/>
                    <a:p>
                      <a:r>
                        <a:rPr lang="en-US" dirty="0"/>
                        <a:t>2029</a:t>
                      </a:r>
                    </a:p>
                  </a:txBody>
                  <a:tcPr/>
                </a:tc>
                <a:tc>
                  <a:txBody>
                    <a:bodyPr/>
                    <a:lstStyle/>
                    <a:p>
                      <a:pPr algn="ctr">
                        <a:buNone/>
                      </a:pPr>
                      <a:r>
                        <a:rPr lang="en-US" sz="1800" dirty="0">
                          <a:solidFill>
                            <a:srgbClr val="000000"/>
                          </a:solidFill>
                          <a:effectLst/>
                          <a:latin typeface="+mn-lt"/>
                        </a:rPr>
                        <a:t>0.218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0.299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0.406</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0.705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0.428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0.316</a:t>
                      </a:r>
                      <a:endParaRPr lang="en-US" sz="1800" dirty="0">
                        <a:effectLst/>
                        <a:latin typeface="+mn-lt"/>
                      </a:endParaRPr>
                    </a:p>
                  </a:txBody>
                  <a:tcPr marL="38100" marR="38100" marT="38100" marB="38100"/>
                </a:tc>
                <a:extLst>
                  <a:ext uri="{0D108BD9-81ED-4DB2-BD59-A6C34878D82A}">
                    <a16:rowId xmlns:a16="http://schemas.microsoft.com/office/drawing/2014/main" val="1540997284"/>
                  </a:ext>
                </a:extLst>
              </a:tr>
              <a:tr h="370840">
                <a:tc>
                  <a:txBody>
                    <a:bodyPr/>
                    <a:lstStyle/>
                    <a:p>
                      <a:r>
                        <a:rPr lang="en-US" dirty="0"/>
                        <a:t>2030</a:t>
                      </a:r>
                    </a:p>
                  </a:txBody>
                  <a:tcPr/>
                </a:tc>
                <a:tc>
                  <a:txBody>
                    <a:bodyPr/>
                    <a:lstStyle/>
                    <a:p>
                      <a:pPr algn="ctr">
                        <a:buNone/>
                      </a:pPr>
                      <a:r>
                        <a:rPr lang="en-US" sz="1800" dirty="0">
                          <a:solidFill>
                            <a:srgbClr val="000000"/>
                          </a:solidFill>
                          <a:effectLst/>
                          <a:latin typeface="+mn-lt"/>
                        </a:rPr>
                        <a:t>0.189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0.258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0.352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0.612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0.369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0.273</a:t>
                      </a:r>
                      <a:endParaRPr lang="en-US" sz="1800" dirty="0">
                        <a:effectLst/>
                        <a:latin typeface="+mn-lt"/>
                      </a:endParaRPr>
                    </a:p>
                  </a:txBody>
                  <a:tcPr marL="38100" marR="38100" marT="38100" marB="38100"/>
                </a:tc>
                <a:extLst>
                  <a:ext uri="{0D108BD9-81ED-4DB2-BD59-A6C34878D82A}">
                    <a16:rowId xmlns:a16="http://schemas.microsoft.com/office/drawing/2014/main" val="3516516365"/>
                  </a:ext>
                </a:extLst>
              </a:tr>
            </a:tbl>
          </a:graphicData>
        </a:graphic>
      </p:graphicFrame>
      <p:sp>
        <p:nvSpPr>
          <p:cNvPr id="5" name="TextBox 4">
            <a:extLst>
              <a:ext uri="{FF2B5EF4-FFF2-40B4-BE49-F238E27FC236}">
                <a16:creationId xmlns:a16="http://schemas.microsoft.com/office/drawing/2014/main" id="{BA826FE2-884B-7CB7-CCD5-ED5995ECE5E5}"/>
              </a:ext>
            </a:extLst>
          </p:cNvPr>
          <p:cNvSpPr txBox="1"/>
          <p:nvPr/>
        </p:nvSpPr>
        <p:spPr>
          <a:xfrm>
            <a:off x="1000897" y="4609071"/>
            <a:ext cx="10935730"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Consistent Peak Years (2026-2027): </a:t>
            </a:r>
            <a:r>
              <a:rPr lang="en-US" dirty="0"/>
              <a:t>He still has the ability for top-tier production, as he continues to show great plate discipline and power (high OPS, xSLG, and xwOBA).</a:t>
            </a:r>
          </a:p>
          <a:p>
            <a:pPr marL="285750" indent="-285750">
              <a:buFont typeface="Arial" panose="020B0604020202020204" pitchFamily="34" charset="0"/>
              <a:buChar char="•"/>
            </a:pPr>
            <a:r>
              <a:rPr lang="en-US" b="1" dirty="0"/>
              <a:t>Mid-Decade Dip (2028-2029): </a:t>
            </a:r>
            <a:r>
              <a:rPr lang="en-US" dirty="0"/>
              <a:t>Expected stats (xSLG and xwOBA) begin to show glimpses of decline combined with ability to slug. </a:t>
            </a:r>
            <a:endParaRPr lang="en-US" b="1" dirty="0"/>
          </a:p>
          <a:p>
            <a:pPr marL="285750" indent="-285750">
              <a:buFont typeface="Arial" panose="020B0604020202020204" pitchFamily="34" charset="0"/>
              <a:buChar char="•"/>
            </a:pPr>
            <a:r>
              <a:rPr lang="en-US" b="1" dirty="0"/>
              <a:t>Area for Growth (2030+): </a:t>
            </a:r>
            <a:r>
              <a:rPr lang="en-US" dirty="0"/>
              <a:t>While Bryce’s numbers are expected to dip by 2030, his prior track record and natural ability indicate the potential for him to make the necessary changes to prevent this from occurring.</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3186535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6B9F9-6A9C-E553-4369-770800DE17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2C3B5D-F8C3-C249-6D1C-6825DF1C68EA}"/>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Kyle Schwarber</a:t>
            </a:r>
          </a:p>
        </p:txBody>
      </p:sp>
      <p:pic>
        <p:nvPicPr>
          <p:cNvPr id="4" name="Picture 3" descr="A red letter p on a black background&#10;&#10;AI-generated content may be incorrect.">
            <a:extLst>
              <a:ext uri="{FF2B5EF4-FFF2-40B4-BE49-F238E27FC236}">
                <a16:creationId xmlns:a16="http://schemas.microsoft.com/office/drawing/2014/main" id="{A6931270-9342-BE54-1258-D28F28BCE19D}"/>
              </a:ext>
            </a:extLst>
          </p:cNvPr>
          <p:cNvPicPr>
            <a:picLocks noChangeAspect="1"/>
          </p:cNvPicPr>
          <p:nvPr/>
        </p:nvPicPr>
        <p:blipFill>
          <a:blip r:embed="rId2"/>
          <a:stretch>
            <a:fillRect/>
          </a:stretch>
        </p:blipFill>
        <p:spPr>
          <a:xfrm>
            <a:off x="11485605" y="6151605"/>
            <a:ext cx="706395" cy="706395"/>
          </a:xfrm>
          <a:prstGeom prst="rect">
            <a:avLst/>
          </a:prstGeom>
        </p:spPr>
      </p:pic>
      <p:graphicFrame>
        <p:nvGraphicFramePr>
          <p:cNvPr id="6" name="Table 5">
            <a:extLst>
              <a:ext uri="{FF2B5EF4-FFF2-40B4-BE49-F238E27FC236}">
                <a16:creationId xmlns:a16="http://schemas.microsoft.com/office/drawing/2014/main" id="{49E8E0FE-1DA6-185C-C443-75BB1035BCC0}"/>
              </a:ext>
            </a:extLst>
          </p:cNvPr>
          <p:cNvGraphicFramePr>
            <a:graphicFrameLocks noGrp="1"/>
          </p:cNvGraphicFramePr>
          <p:nvPr>
            <p:extLst>
              <p:ext uri="{D42A27DB-BD31-4B8C-83A1-F6EECF244321}">
                <p14:modId xmlns:p14="http://schemas.microsoft.com/office/powerpoint/2010/main" val="591129370"/>
              </p:ext>
            </p:extLst>
          </p:nvPr>
        </p:nvGraphicFramePr>
        <p:xfrm>
          <a:off x="2156372" y="1567770"/>
          <a:ext cx="7879256" cy="2595880"/>
        </p:xfrm>
        <a:graphic>
          <a:graphicData uri="http://schemas.openxmlformats.org/drawingml/2006/table">
            <a:tbl>
              <a:tblPr firstRow="1" bandRow="1">
                <a:tableStyleId>{073A0DAA-6AF3-43AB-8588-CEC1D06C72B9}</a:tableStyleId>
              </a:tblPr>
              <a:tblGrid>
                <a:gridCol w="1125608">
                  <a:extLst>
                    <a:ext uri="{9D8B030D-6E8A-4147-A177-3AD203B41FA5}">
                      <a16:colId xmlns:a16="http://schemas.microsoft.com/office/drawing/2014/main" val="4146166191"/>
                    </a:ext>
                  </a:extLst>
                </a:gridCol>
                <a:gridCol w="1125608">
                  <a:extLst>
                    <a:ext uri="{9D8B030D-6E8A-4147-A177-3AD203B41FA5}">
                      <a16:colId xmlns:a16="http://schemas.microsoft.com/office/drawing/2014/main" val="3937957260"/>
                    </a:ext>
                  </a:extLst>
                </a:gridCol>
                <a:gridCol w="1125608">
                  <a:extLst>
                    <a:ext uri="{9D8B030D-6E8A-4147-A177-3AD203B41FA5}">
                      <a16:colId xmlns:a16="http://schemas.microsoft.com/office/drawing/2014/main" val="3164863238"/>
                    </a:ext>
                  </a:extLst>
                </a:gridCol>
                <a:gridCol w="1125608">
                  <a:extLst>
                    <a:ext uri="{9D8B030D-6E8A-4147-A177-3AD203B41FA5}">
                      <a16:colId xmlns:a16="http://schemas.microsoft.com/office/drawing/2014/main" val="2708233520"/>
                    </a:ext>
                  </a:extLst>
                </a:gridCol>
                <a:gridCol w="1125608">
                  <a:extLst>
                    <a:ext uri="{9D8B030D-6E8A-4147-A177-3AD203B41FA5}">
                      <a16:colId xmlns:a16="http://schemas.microsoft.com/office/drawing/2014/main" val="529541264"/>
                    </a:ext>
                  </a:extLst>
                </a:gridCol>
                <a:gridCol w="1125608">
                  <a:extLst>
                    <a:ext uri="{9D8B030D-6E8A-4147-A177-3AD203B41FA5}">
                      <a16:colId xmlns:a16="http://schemas.microsoft.com/office/drawing/2014/main" val="3966674631"/>
                    </a:ext>
                  </a:extLst>
                </a:gridCol>
                <a:gridCol w="1125608">
                  <a:extLst>
                    <a:ext uri="{9D8B030D-6E8A-4147-A177-3AD203B41FA5}">
                      <a16:colId xmlns:a16="http://schemas.microsoft.com/office/drawing/2014/main" val="65403372"/>
                    </a:ext>
                  </a:extLst>
                </a:gridCol>
              </a:tblGrid>
              <a:tr h="370840">
                <a:tc>
                  <a:txBody>
                    <a:bodyPr/>
                    <a:lstStyle/>
                    <a:p>
                      <a:pPr algn="ctr"/>
                      <a:r>
                        <a:rPr lang="en-US" dirty="0"/>
                        <a:t>Season</a:t>
                      </a:r>
                    </a:p>
                  </a:txBody>
                  <a:tcPr/>
                </a:tc>
                <a:tc>
                  <a:txBody>
                    <a:bodyPr/>
                    <a:lstStyle/>
                    <a:p>
                      <a:pPr algn="ctr"/>
                      <a:r>
                        <a:rPr lang="en-US" dirty="0"/>
                        <a:t>AVG</a:t>
                      </a:r>
                    </a:p>
                  </a:txBody>
                  <a:tcPr/>
                </a:tc>
                <a:tc>
                  <a:txBody>
                    <a:bodyPr/>
                    <a:lstStyle/>
                    <a:p>
                      <a:pPr algn="ctr"/>
                      <a:r>
                        <a:rPr lang="en-US" dirty="0"/>
                        <a:t>OBP</a:t>
                      </a:r>
                    </a:p>
                  </a:txBody>
                  <a:tcPr/>
                </a:tc>
                <a:tc>
                  <a:txBody>
                    <a:bodyPr/>
                    <a:lstStyle/>
                    <a:p>
                      <a:pPr algn="ctr"/>
                      <a:r>
                        <a:rPr lang="en-US" dirty="0"/>
                        <a:t>SLG</a:t>
                      </a:r>
                    </a:p>
                  </a:txBody>
                  <a:tcPr/>
                </a:tc>
                <a:tc>
                  <a:txBody>
                    <a:bodyPr/>
                    <a:lstStyle/>
                    <a:p>
                      <a:pPr algn="ctr"/>
                      <a:r>
                        <a:rPr lang="en-US" dirty="0"/>
                        <a:t>OPS</a:t>
                      </a:r>
                    </a:p>
                  </a:txBody>
                  <a:tcPr/>
                </a:tc>
                <a:tc>
                  <a:txBody>
                    <a:bodyPr/>
                    <a:lstStyle/>
                    <a:p>
                      <a:pPr algn="ctr"/>
                      <a:r>
                        <a:rPr lang="en-US" dirty="0"/>
                        <a:t>xSLG</a:t>
                      </a:r>
                    </a:p>
                  </a:txBody>
                  <a:tcPr/>
                </a:tc>
                <a:tc>
                  <a:txBody>
                    <a:bodyPr/>
                    <a:lstStyle/>
                    <a:p>
                      <a:pPr algn="ctr"/>
                      <a:r>
                        <a:rPr lang="en-US" dirty="0"/>
                        <a:t>xwOBA</a:t>
                      </a:r>
                    </a:p>
                  </a:txBody>
                  <a:tcPr/>
                </a:tc>
                <a:extLst>
                  <a:ext uri="{0D108BD9-81ED-4DB2-BD59-A6C34878D82A}">
                    <a16:rowId xmlns:a16="http://schemas.microsoft.com/office/drawing/2014/main" val="720208137"/>
                  </a:ext>
                </a:extLst>
              </a:tr>
              <a:tr h="370840">
                <a:tc>
                  <a:txBody>
                    <a:bodyPr/>
                    <a:lstStyle/>
                    <a:p>
                      <a:pPr algn="ctr"/>
                      <a:r>
                        <a:rPr lang="en-US" sz="1800" b="1" u="sng" dirty="0">
                          <a:latin typeface="+mn-lt"/>
                        </a:rPr>
                        <a:t>2025</a:t>
                      </a:r>
                    </a:p>
                  </a:txBody>
                  <a:tcPr/>
                </a:tc>
                <a:tc>
                  <a:txBody>
                    <a:bodyPr/>
                    <a:lstStyle/>
                    <a:p>
                      <a:pPr algn="ctr"/>
                      <a:r>
                        <a:rPr lang="en-US" sz="1800" b="1" u="sng" dirty="0">
                          <a:latin typeface="+mn-lt"/>
                        </a:rPr>
                        <a:t>0.240</a:t>
                      </a:r>
                    </a:p>
                  </a:txBody>
                  <a:tcPr/>
                </a:tc>
                <a:tc>
                  <a:txBody>
                    <a:bodyPr/>
                    <a:lstStyle/>
                    <a:p>
                      <a:pPr algn="ctr"/>
                      <a:r>
                        <a:rPr lang="en-US" sz="1800" b="1" u="sng" dirty="0">
                          <a:latin typeface="+mn-lt"/>
                        </a:rPr>
                        <a:t>0.365</a:t>
                      </a:r>
                    </a:p>
                  </a:txBody>
                  <a:tcPr/>
                </a:tc>
                <a:tc>
                  <a:txBody>
                    <a:bodyPr/>
                    <a:lstStyle/>
                    <a:p>
                      <a:pPr algn="ctr"/>
                      <a:r>
                        <a:rPr lang="en-US" sz="1800" b="1" u="sng" dirty="0">
                          <a:latin typeface="+mn-lt"/>
                        </a:rPr>
                        <a:t>0.563</a:t>
                      </a:r>
                    </a:p>
                  </a:txBody>
                  <a:tcPr/>
                </a:tc>
                <a:tc>
                  <a:txBody>
                    <a:bodyPr/>
                    <a:lstStyle/>
                    <a:p>
                      <a:pPr algn="ctr"/>
                      <a:r>
                        <a:rPr lang="en-US" sz="1800" b="1" u="sng" dirty="0">
                          <a:latin typeface="+mn-lt"/>
                        </a:rPr>
                        <a:t>0.928</a:t>
                      </a:r>
                    </a:p>
                  </a:txBody>
                  <a:tcPr/>
                </a:tc>
                <a:tc>
                  <a:txBody>
                    <a:bodyPr/>
                    <a:lstStyle/>
                    <a:p>
                      <a:pPr algn="ctr"/>
                      <a:r>
                        <a:rPr lang="en-US" sz="1800" b="1" u="sng" dirty="0">
                          <a:latin typeface="+mn-lt"/>
                        </a:rPr>
                        <a:t>0.601</a:t>
                      </a:r>
                    </a:p>
                  </a:txBody>
                  <a:tcPr/>
                </a:tc>
                <a:tc>
                  <a:txBody>
                    <a:bodyPr/>
                    <a:lstStyle/>
                    <a:p>
                      <a:pPr algn="ctr"/>
                      <a:r>
                        <a:rPr lang="en-US" sz="1800" b="1" u="sng" dirty="0">
                          <a:latin typeface="+mn-lt"/>
                        </a:rPr>
                        <a:t>0.414</a:t>
                      </a:r>
                    </a:p>
                  </a:txBody>
                  <a:tcPr/>
                </a:tc>
                <a:extLst>
                  <a:ext uri="{0D108BD9-81ED-4DB2-BD59-A6C34878D82A}">
                    <a16:rowId xmlns:a16="http://schemas.microsoft.com/office/drawing/2014/main" val="3198095503"/>
                  </a:ext>
                </a:extLst>
              </a:tr>
              <a:tr h="370840">
                <a:tc>
                  <a:txBody>
                    <a:bodyPr/>
                    <a:lstStyle/>
                    <a:p>
                      <a:pPr algn="ctr"/>
                      <a:r>
                        <a:rPr lang="en-US" sz="1800" dirty="0">
                          <a:latin typeface="+mn-lt"/>
                        </a:rPr>
                        <a:t>2026</a:t>
                      </a:r>
                    </a:p>
                  </a:txBody>
                  <a:tcPr/>
                </a:tc>
                <a:tc>
                  <a:txBody>
                    <a:bodyPr/>
                    <a:lstStyle/>
                    <a:p>
                      <a:pPr algn="ctr">
                        <a:buNone/>
                      </a:pPr>
                      <a:r>
                        <a:rPr lang="en-US" sz="1800" dirty="0">
                          <a:solidFill>
                            <a:srgbClr val="000000"/>
                          </a:solidFill>
                          <a:effectLst/>
                          <a:latin typeface="+mn-lt"/>
                        </a:rPr>
                        <a:t>0.239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0.365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0.562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0.927</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0.601</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0.414</a:t>
                      </a:r>
                      <a:endParaRPr lang="en-US" sz="1800" dirty="0">
                        <a:effectLst/>
                        <a:latin typeface="+mn-lt"/>
                      </a:endParaRPr>
                    </a:p>
                  </a:txBody>
                  <a:tcPr marL="38100" marR="38100" marT="38100" marB="38100"/>
                </a:tc>
                <a:extLst>
                  <a:ext uri="{0D108BD9-81ED-4DB2-BD59-A6C34878D82A}">
                    <a16:rowId xmlns:a16="http://schemas.microsoft.com/office/drawing/2014/main" val="4293680123"/>
                  </a:ext>
                </a:extLst>
              </a:tr>
              <a:tr h="370840">
                <a:tc>
                  <a:txBody>
                    <a:bodyPr/>
                    <a:lstStyle/>
                    <a:p>
                      <a:pPr algn="ctr"/>
                      <a:r>
                        <a:rPr lang="en-US" sz="1800" dirty="0">
                          <a:latin typeface="+mn-lt"/>
                        </a:rPr>
                        <a:t>2027</a:t>
                      </a:r>
                    </a:p>
                  </a:txBody>
                  <a:tcPr/>
                </a:tc>
                <a:tc>
                  <a:txBody>
                    <a:bodyPr/>
                    <a:lstStyle/>
                    <a:p>
                      <a:pPr algn="ctr">
                        <a:buNone/>
                      </a:pPr>
                      <a:r>
                        <a:rPr lang="en-US" sz="1800" dirty="0">
                          <a:solidFill>
                            <a:srgbClr val="000000"/>
                          </a:solidFill>
                          <a:effectLst/>
                          <a:latin typeface="+mn-lt"/>
                        </a:rPr>
                        <a:t>0.235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0.358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0.554</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0.913</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0.590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0.407</a:t>
                      </a:r>
                      <a:endParaRPr lang="en-US" sz="1800" dirty="0">
                        <a:effectLst/>
                        <a:latin typeface="+mn-lt"/>
                      </a:endParaRPr>
                    </a:p>
                  </a:txBody>
                  <a:tcPr marL="38100" marR="38100" marT="38100" marB="38100"/>
                </a:tc>
                <a:extLst>
                  <a:ext uri="{0D108BD9-81ED-4DB2-BD59-A6C34878D82A}">
                    <a16:rowId xmlns:a16="http://schemas.microsoft.com/office/drawing/2014/main" val="1643148760"/>
                  </a:ext>
                </a:extLst>
              </a:tr>
              <a:tr h="370840">
                <a:tc>
                  <a:txBody>
                    <a:bodyPr/>
                    <a:lstStyle/>
                    <a:p>
                      <a:pPr algn="ctr"/>
                      <a:r>
                        <a:rPr lang="en-US" sz="1800" dirty="0">
                          <a:latin typeface="+mn-lt"/>
                        </a:rPr>
                        <a:t>2028</a:t>
                      </a:r>
                    </a:p>
                  </a:txBody>
                  <a:tcPr/>
                </a:tc>
                <a:tc>
                  <a:txBody>
                    <a:bodyPr/>
                    <a:lstStyle/>
                    <a:p>
                      <a:pPr algn="ctr">
                        <a:buNone/>
                      </a:pPr>
                      <a:r>
                        <a:rPr lang="en-US" sz="1800" dirty="0">
                          <a:solidFill>
                            <a:srgbClr val="000000"/>
                          </a:solidFill>
                          <a:effectLst/>
                          <a:latin typeface="+mn-lt"/>
                        </a:rPr>
                        <a:t>0.222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0.524</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0.862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0.557</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0.385</a:t>
                      </a:r>
                      <a:endParaRPr lang="en-US" sz="1800" dirty="0">
                        <a:effectLst/>
                        <a:latin typeface="+mn-lt"/>
                      </a:endParaRPr>
                    </a:p>
                  </a:txBody>
                  <a:tcPr marL="38100" marR="38100" marT="38100" marB="38100"/>
                </a:tc>
                <a:extLst>
                  <a:ext uri="{0D108BD9-81ED-4DB2-BD59-A6C34878D82A}">
                    <a16:rowId xmlns:a16="http://schemas.microsoft.com/office/drawing/2014/main" val="16692748"/>
                  </a:ext>
                </a:extLst>
              </a:tr>
              <a:tr h="370840">
                <a:tc>
                  <a:txBody>
                    <a:bodyPr/>
                    <a:lstStyle/>
                    <a:p>
                      <a:pPr algn="ctr"/>
                      <a:r>
                        <a:rPr lang="en-US" sz="1800" dirty="0">
                          <a:latin typeface="+mn-lt"/>
                        </a:rPr>
                        <a:t>2029</a:t>
                      </a:r>
                    </a:p>
                  </a:txBody>
                  <a:tcPr/>
                </a:tc>
                <a:tc>
                  <a:txBody>
                    <a:bodyPr/>
                    <a:lstStyle/>
                    <a:p>
                      <a:pPr algn="ctr">
                        <a:buNone/>
                      </a:pPr>
                      <a:r>
                        <a:rPr lang="en-US" sz="1800" dirty="0">
                          <a:solidFill>
                            <a:srgbClr val="000000"/>
                          </a:solidFill>
                          <a:effectLst/>
                          <a:latin typeface="+mn-lt"/>
                        </a:rPr>
                        <a:t>0.201</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0.307</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0.475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0.780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0.505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0.348</a:t>
                      </a:r>
                      <a:endParaRPr lang="en-US" sz="1800" dirty="0">
                        <a:effectLst/>
                        <a:latin typeface="+mn-lt"/>
                      </a:endParaRPr>
                    </a:p>
                  </a:txBody>
                  <a:tcPr marL="38100" marR="38100" marT="38100" marB="38100"/>
                </a:tc>
                <a:extLst>
                  <a:ext uri="{0D108BD9-81ED-4DB2-BD59-A6C34878D82A}">
                    <a16:rowId xmlns:a16="http://schemas.microsoft.com/office/drawing/2014/main" val="1540997284"/>
                  </a:ext>
                </a:extLst>
              </a:tr>
              <a:tr h="370840">
                <a:tc>
                  <a:txBody>
                    <a:bodyPr/>
                    <a:lstStyle/>
                    <a:p>
                      <a:pPr algn="ctr"/>
                      <a:r>
                        <a:rPr lang="en-US" sz="1800" dirty="0">
                          <a:latin typeface="+mn-lt"/>
                        </a:rPr>
                        <a:t>2030</a:t>
                      </a:r>
                    </a:p>
                  </a:txBody>
                  <a:tcPr/>
                </a:tc>
                <a:tc>
                  <a:txBody>
                    <a:bodyPr/>
                    <a:lstStyle/>
                    <a:p>
                      <a:pPr algn="ctr">
                        <a:buNone/>
                      </a:pPr>
                      <a:r>
                        <a:rPr lang="en-US" sz="1800" dirty="0">
                          <a:solidFill>
                            <a:srgbClr val="000000"/>
                          </a:solidFill>
                          <a:effectLst/>
                          <a:latin typeface="+mn-lt"/>
                        </a:rPr>
                        <a:t>0.174</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0.266</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0.411</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0.678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0.438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0.302</a:t>
                      </a:r>
                      <a:endParaRPr lang="en-US" sz="1800" dirty="0">
                        <a:effectLst/>
                        <a:latin typeface="+mn-lt"/>
                      </a:endParaRPr>
                    </a:p>
                  </a:txBody>
                  <a:tcPr marL="38100" marR="38100" marT="38100" marB="38100"/>
                </a:tc>
                <a:extLst>
                  <a:ext uri="{0D108BD9-81ED-4DB2-BD59-A6C34878D82A}">
                    <a16:rowId xmlns:a16="http://schemas.microsoft.com/office/drawing/2014/main" val="3516516365"/>
                  </a:ext>
                </a:extLst>
              </a:tr>
            </a:tbl>
          </a:graphicData>
        </a:graphic>
      </p:graphicFrame>
      <p:sp>
        <p:nvSpPr>
          <p:cNvPr id="5" name="TextBox 4">
            <a:extLst>
              <a:ext uri="{FF2B5EF4-FFF2-40B4-BE49-F238E27FC236}">
                <a16:creationId xmlns:a16="http://schemas.microsoft.com/office/drawing/2014/main" id="{D8FCFB73-911D-275D-ACA4-0FAB50A3A03E}"/>
              </a:ext>
            </a:extLst>
          </p:cNvPr>
          <p:cNvSpPr txBox="1"/>
          <p:nvPr/>
        </p:nvSpPr>
        <p:spPr>
          <a:xfrm>
            <a:off x="1195516" y="4484925"/>
            <a:ext cx="10172700" cy="2031325"/>
          </a:xfrm>
          <a:prstGeom prst="rect">
            <a:avLst/>
          </a:prstGeom>
          <a:noFill/>
        </p:spPr>
        <p:txBody>
          <a:bodyPr wrap="square">
            <a:spAutoFit/>
          </a:bodyPr>
          <a:lstStyle/>
          <a:p>
            <a:pPr marL="285750" indent="-285750">
              <a:buFont typeface="Arial" panose="020B0604020202020204" pitchFamily="34" charset="0"/>
              <a:buChar char="•"/>
            </a:pPr>
            <a:r>
              <a:rPr lang="en-US" b="1" dirty="0"/>
              <a:t>Elite Ability to Slug (2026-2028): </a:t>
            </a:r>
            <a:r>
              <a:rPr lang="en-US" dirty="0"/>
              <a:t>Kyle still demonstrates the ability to hit for power, posting high xSLG, xwOBA, and OPS. </a:t>
            </a:r>
            <a:endParaRPr lang="en-US" b="1" dirty="0"/>
          </a:p>
          <a:p>
            <a:pPr marL="285750" indent="-285750">
              <a:buFont typeface="Arial" panose="020B0604020202020204" pitchFamily="34" charset="0"/>
              <a:buChar char="•"/>
            </a:pPr>
            <a:r>
              <a:rPr lang="en-US" b="1" dirty="0"/>
              <a:t>Consistent Power, Decline on the Way (2028-2029): </a:t>
            </a:r>
            <a:r>
              <a:rPr lang="en-US" dirty="0"/>
              <a:t>Still an above-average power hitter with high expected values. Contact and on-base abilities begin to decline.</a:t>
            </a:r>
            <a:endParaRPr lang="en-US" b="1" dirty="0"/>
          </a:p>
          <a:p>
            <a:pPr marL="285750" indent="-285750">
              <a:buFont typeface="Arial" panose="020B0604020202020204" pitchFamily="34" charset="0"/>
              <a:buChar char="•"/>
            </a:pPr>
            <a:r>
              <a:rPr lang="en-US" b="1" dirty="0"/>
              <a:t>Areas for Growth/Retirement Expected (2030+): </a:t>
            </a:r>
            <a:r>
              <a:rPr lang="en-US" dirty="0"/>
              <a:t>Kyle’s numbers are projected to heavily decline in all categories in 2030. This makes sense as he will be 37 years old during the 2030 season.</a:t>
            </a:r>
          </a:p>
        </p:txBody>
      </p:sp>
    </p:spTree>
    <p:extLst>
      <p:ext uri="{BB962C8B-B14F-4D97-AF65-F5344CB8AC3E}">
        <p14:creationId xmlns:p14="http://schemas.microsoft.com/office/powerpoint/2010/main" val="3205887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3C6C2-7934-8896-17B2-9724D93ABD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ED1C45-6700-78EE-6D76-C03BD2A65B29}"/>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J.T. Realmuto</a:t>
            </a:r>
          </a:p>
        </p:txBody>
      </p:sp>
      <p:pic>
        <p:nvPicPr>
          <p:cNvPr id="4" name="Picture 3" descr="A red letter p on a black background&#10;&#10;AI-generated content may be incorrect.">
            <a:extLst>
              <a:ext uri="{FF2B5EF4-FFF2-40B4-BE49-F238E27FC236}">
                <a16:creationId xmlns:a16="http://schemas.microsoft.com/office/drawing/2014/main" id="{E01114D5-73D9-8B47-2A20-9685FFC79EDE}"/>
              </a:ext>
            </a:extLst>
          </p:cNvPr>
          <p:cNvPicPr>
            <a:picLocks noChangeAspect="1"/>
          </p:cNvPicPr>
          <p:nvPr/>
        </p:nvPicPr>
        <p:blipFill>
          <a:blip r:embed="rId2"/>
          <a:stretch>
            <a:fillRect/>
          </a:stretch>
        </p:blipFill>
        <p:spPr>
          <a:xfrm>
            <a:off x="11485605" y="6151605"/>
            <a:ext cx="706395" cy="706395"/>
          </a:xfrm>
          <a:prstGeom prst="rect">
            <a:avLst/>
          </a:prstGeom>
        </p:spPr>
      </p:pic>
      <p:graphicFrame>
        <p:nvGraphicFramePr>
          <p:cNvPr id="3" name="Table 2">
            <a:extLst>
              <a:ext uri="{FF2B5EF4-FFF2-40B4-BE49-F238E27FC236}">
                <a16:creationId xmlns:a16="http://schemas.microsoft.com/office/drawing/2014/main" id="{15B84AB8-7EC4-EBAA-485C-93F90D50DFE4}"/>
              </a:ext>
            </a:extLst>
          </p:cNvPr>
          <p:cNvGraphicFramePr>
            <a:graphicFrameLocks noGrp="1"/>
          </p:cNvGraphicFramePr>
          <p:nvPr>
            <p:extLst>
              <p:ext uri="{D42A27DB-BD31-4B8C-83A1-F6EECF244321}">
                <p14:modId xmlns:p14="http://schemas.microsoft.com/office/powerpoint/2010/main" val="4259109778"/>
              </p:ext>
            </p:extLst>
          </p:nvPr>
        </p:nvGraphicFramePr>
        <p:xfrm>
          <a:off x="2156372" y="1543057"/>
          <a:ext cx="7879256" cy="2595880"/>
        </p:xfrm>
        <a:graphic>
          <a:graphicData uri="http://schemas.openxmlformats.org/drawingml/2006/table">
            <a:tbl>
              <a:tblPr firstRow="1" bandRow="1">
                <a:tableStyleId>{073A0DAA-6AF3-43AB-8588-CEC1D06C72B9}</a:tableStyleId>
              </a:tblPr>
              <a:tblGrid>
                <a:gridCol w="1125608">
                  <a:extLst>
                    <a:ext uri="{9D8B030D-6E8A-4147-A177-3AD203B41FA5}">
                      <a16:colId xmlns:a16="http://schemas.microsoft.com/office/drawing/2014/main" val="4146166191"/>
                    </a:ext>
                  </a:extLst>
                </a:gridCol>
                <a:gridCol w="1125608">
                  <a:extLst>
                    <a:ext uri="{9D8B030D-6E8A-4147-A177-3AD203B41FA5}">
                      <a16:colId xmlns:a16="http://schemas.microsoft.com/office/drawing/2014/main" val="3937957260"/>
                    </a:ext>
                  </a:extLst>
                </a:gridCol>
                <a:gridCol w="1125608">
                  <a:extLst>
                    <a:ext uri="{9D8B030D-6E8A-4147-A177-3AD203B41FA5}">
                      <a16:colId xmlns:a16="http://schemas.microsoft.com/office/drawing/2014/main" val="3164863238"/>
                    </a:ext>
                  </a:extLst>
                </a:gridCol>
                <a:gridCol w="1125608">
                  <a:extLst>
                    <a:ext uri="{9D8B030D-6E8A-4147-A177-3AD203B41FA5}">
                      <a16:colId xmlns:a16="http://schemas.microsoft.com/office/drawing/2014/main" val="2708233520"/>
                    </a:ext>
                  </a:extLst>
                </a:gridCol>
                <a:gridCol w="1125608">
                  <a:extLst>
                    <a:ext uri="{9D8B030D-6E8A-4147-A177-3AD203B41FA5}">
                      <a16:colId xmlns:a16="http://schemas.microsoft.com/office/drawing/2014/main" val="529541264"/>
                    </a:ext>
                  </a:extLst>
                </a:gridCol>
                <a:gridCol w="1125608">
                  <a:extLst>
                    <a:ext uri="{9D8B030D-6E8A-4147-A177-3AD203B41FA5}">
                      <a16:colId xmlns:a16="http://schemas.microsoft.com/office/drawing/2014/main" val="3966674631"/>
                    </a:ext>
                  </a:extLst>
                </a:gridCol>
                <a:gridCol w="1125608">
                  <a:extLst>
                    <a:ext uri="{9D8B030D-6E8A-4147-A177-3AD203B41FA5}">
                      <a16:colId xmlns:a16="http://schemas.microsoft.com/office/drawing/2014/main" val="65403372"/>
                    </a:ext>
                  </a:extLst>
                </a:gridCol>
              </a:tblGrid>
              <a:tr h="370840">
                <a:tc>
                  <a:txBody>
                    <a:bodyPr/>
                    <a:lstStyle/>
                    <a:p>
                      <a:pPr algn="ctr"/>
                      <a:r>
                        <a:rPr lang="en-US" dirty="0"/>
                        <a:t>Season</a:t>
                      </a:r>
                    </a:p>
                  </a:txBody>
                  <a:tcPr/>
                </a:tc>
                <a:tc>
                  <a:txBody>
                    <a:bodyPr/>
                    <a:lstStyle/>
                    <a:p>
                      <a:pPr algn="ctr"/>
                      <a:r>
                        <a:rPr lang="en-US" dirty="0"/>
                        <a:t>AVG</a:t>
                      </a:r>
                    </a:p>
                  </a:txBody>
                  <a:tcPr/>
                </a:tc>
                <a:tc>
                  <a:txBody>
                    <a:bodyPr/>
                    <a:lstStyle/>
                    <a:p>
                      <a:pPr algn="ctr"/>
                      <a:r>
                        <a:rPr lang="en-US" dirty="0"/>
                        <a:t>OBP</a:t>
                      </a:r>
                    </a:p>
                  </a:txBody>
                  <a:tcPr/>
                </a:tc>
                <a:tc>
                  <a:txBody>
                    <a:bodyPr/>
                    <a:lstStyle/>
                    <a:p>
                      <a:pPr algn="ctr"/>
                      <a:r>
                        <a:rPr lang="en-US" dirty="0"/>
                        <a:t>SLG</a:t>
                      </a:r>
                    </a:p>
                  </a:txBody>
                  <a:tcPr/>
                </a:tc>
                <a:tc>
                  <a:txBody>
                    <a:bodyPr/>
                    <a:lstStyle/>
                    <a:p>
                      <a:pPr algn="ctr"/>
                      <a:r>
                        <a:rPr lang="en-US" dirty="0"/>
                        <a:t>OPS</a:t>
                      </a:r>
                    </a:p>
                  </a:txBody>
                  <a:tcPr/>
                </a:tc>
                <a:tc>
                  <a:txBody>
                    <a:bodyPr/>
                    <a:lstStyle/>
                    <a:p>
                      <a:pPr algn="ctr"/>
                      <a:r>
                        <a:rPr lang="en-US" dirty="0"/>
                        <a:t>xSLG</a:t>
                      </a:r>
                    </a:p>
                  </a:txBody>
                  <a:tcPr/>
                </a:tc>
                <a:tc>
                  <a:txBody>
                    <a:bodyPr/>
                    <a:lstStyle/>
                    <a:p>
                      <a:pPr algn="ctr"/>
                      <a:r>
                        <a:rPr lang="en-US" dirty="0"/>
                        <a:t>xwOBA</a:t>
                      </a:r>
                    </a:p>
                  </a:txBody>
                  <a:tcPr/>
                </a:tc>
                <a:extLst>
                  <a:ext uri="{0D108BD9-81ED-4DB2-BD59-A6C34878D82A}">
                    <a16:rowId xmlns:a16="http://schemas.microsoft.com/office/drawing/2014/main" val="720208137"/>
                  </a:ext>
                </a:extLst>
              </a:tr>
              <a:tr h="370840">
                <a:tc>
                  <a:txBody>
                    <a:bodyPr/>
                    <a:lstStyle/>
                    <a:p>
                      <a:pPr algn="ctr"/>
                      <a:r>
                        <a:rPr lang="en-US" b="1" u="sng" dirty="0"/>
                        <a:t>2025</a:t>
                      </a:r>
                    </a:p>
                  </a:txBody>
                  <a:tcPr/>
                </a:tc>
                <a:tc>
                  <a:txBody>
                    <a:bodyPr/>
                    <a:lstStyle/>
                    <a:p>
                      <a:pPr algn="ctr"/>
                      <a:r>
                        <a:rPr lang="en-US" b="1" u="sng" dirty="0">
                          <a:latin typeface="+mn-lt"/>
                        </a:rPr>
                        <a:t>0.257</a:t>
                      </a:r>
                    </a:p>
                  </a:txBody>
                  <a:tcPr/>
                </a:tc>
                <a:tc>
                  <a:txBody>
                    <a:bodyPr/>
                    <a:lstStyle/>
                    <a:p>
                      <a:pPr algn="ctr"/>
                      <a:r>
                        <a:rPr lang="en-US" b="1" u="sng" dirty="0">
                          <a:latin typeface="+mn-lt"/>
                        </a:rPr>
                        <a:t>0.315</a:t>
                      </a:r>
                    </a:p>
                  </a:txBody>
                  <a:tcPr/>
                </a:tc>
                <a:tc>
                  <a:txBody>
                    <a:bodyPr/>
                    <a:lstStyle/>
                    <a:p>
                      <a:pPr algn="ctr"/>
                      <a:r>
                        <a:rPr lang="en-US" b="1" u="sng" dirty="0">
                          <a:latin typeface="+mn-lt"/>
                        </a:rPr>
                        <a:t>0.384</a:t>
                      </a:r>
                    </a:p>
                  </a:txBody>
                  <a:tcPr/>
                </a:tc>
                <a:tc>
                  <a:txBody>
                    <a:bodyPr/>
                    <a:lstStyle/>
                    <a:p>
                      <a:pPr algn="ctr"/>
                      <a:r>
                        <a:rPr lang="en-US" b="1" u="sng" dirty="0">
                          <a:latin typeface="+mn-lt"/>
                        </a:rPr>
                        <a:t>0.700</a:t>
                      </a:r>
                    </a:p>
                  </a:txBody>
                  <a:tcPr/>
                </a:tc>
                <a:tc>
                  <a:txBody>
                    <a:bodyPr/>
                    <a:lstStyle/>
                    <a:p>
                      <a:pPr algn="ctr"/>
                      <a:r>
                        <a:rPr lang="en-US" b="1" u="sng" dirty="0">
                          <a:latin typeface="+mn-lt"/>
                        </a:rPr>
                        <a:t>0.422</a:t>
                      </a:r>
                    </a:p>
                  </a:txBody>
                  <a:tcPr/>
                </a:tc>
                <a:tc>
                  <a:txBody>
                    <a:bodyPr/>
                    <a:lstStyle/>
                    <a:p>
                      <a:pPr algn="ctr"/>
                      <a:r>
                        <a:rPr lang="en-US" b="1" u="sng" dirty="0">
                          <a:latin typeface="+mn-lt"/>
                        </a:rPr>
                        <a:t>0.323</a:t>
                      </a:r>
                    </a:p>
                  </a:txBody>
                  <a:tcPr/>
                </a:tc>
                <a:extLst>
                  <a:ext uri="{0D108BD9-81ED-4DB2-BD59-A6C34878D82A}">
                    <a16:rowId xmlns:a16="http://schemas.microsoft.com/office/drawing/2014/main" val="3198095503"/>
                  </a:ext>
                </a:extLst>
              </a:tr>
              <a:tr h="370840">
                <a:tc>
                  <a:txBody>
                    <a:bodyPr/>
                    <a:lstStyle/>
                    <a:p>
                      <a:pPr algn="ctr"/>
                      <a:r>
                        <a:rPr lang="en-US" dirty="0"/>
                        <a:t>2026</a:t>
                      </a:r>
                    </a:p>
                  </a:txBody>
                  <a:tcPr/>
                </a:tc>
                <a:tc>
                  <a:txBody>
                    <a:bodyPr/>
                    <a:lstStyle/>
                    <a:p>
                      <a:pPr algn="ctr">
                        <a:buNone/>
                      </a:pPr>
                      <a:r>
                        <a:rPr lang="en-US" dirty="0">
                          <a:solidFill>
                            <a:srgbClr val="000000"/>
                          </a:solidFill>
                          <a:effectLst/>
                          <a:latin typeface="+mn-lt"/>
                        </a:rPr>
                        <a:t>0.257</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0.314</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0.383</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0.699</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0.423</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0.323</a:t>
                      </a:r>
                      <a:endParaRPr lang="en-US" dirty="0">
                        <a:effectLst/>
                        <a:latin typeface="+mn-lt"/>
                      </a:endParaRPr>
                    </a:p>
                  </a:txBody>
                  <a:tcPr marL="38100" marR="38100" marT="38100" marB="38100"/>
                </a:tc>
                <a:extLst>
                  <a:ext uri="{0D108BD9-81ED-4DB2-BD59-A6C34878D82A}">
                    <a16:rowId xmlns:a16="http://schemas.microsoft.com/office/drawing/2014/main" val="4293680123"/>
                  </a:ext>
                </a:extLst>
              </a:tr>
              <a:tr h="370840">
                <a:tc>
                  <a:txBody>
                    <a:bodyPr/>
                    <a:lstStyle/>
                    <a:p>
                      <a:pPr algn="ctr"/>
                      <a:r>
                        <a:rPr lang="en-US" dirty="0"/>
                        <a:t>2027</a:t>
                      </a:r>
                    </a:p>
                  </a:txBody>
                  <a:tcPr/>
                </a:tc>
                <a:tc>
                  <a:txBody>
                    <a:bodyPr/>
                    <a:lstStyle/>
                    <a:p>
                      <a:pPr algn="ctr">
                        <a:buNone/>
                      </a:pPr>
                      <a:r>
                        <a:rPr lang="en-US" dirty="0">
                          <a:solidFill>
                            <a:srgbClr val="000000"/>
                          </a:solidFill>
                          <a:effectLst/>
                          <a:latin typeface="+mn-lt"/>
                        </a:rPr>
                        <a:t>0.233</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0.284</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0.346</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0.635</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0.381</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0.292</a:t>
                      </a:r>
                      <a:endParaRPr lang="en-US" dirty="0">
                        <a:effectLst/>
                        <a:latin typeface="+mn-lt"/>
                      </a:endParaRPr>
                    </a:p>
                  </a:txBody>
                  <a:tcPr marL="38100" marR="38100" marT="38100" marB="38100"/>
                </a:tc>
                <a:extLst>
                  <a:ext uri="{0D108BD9-81ED-4DB2-BD59-A6C34878D82A}">
                    <a16:rowId xmlns:a16="http://schemas.microsoft.com/office/drawing/2014/main" val="1643148760"/>
                  </a:ext>
                </a:extLst>
              </a:tr>
              <a:tr h="370840">
                <a:tc>
                  <a:txBody>
                    <a:bodyPr/>
                    <a:lstStyle/>
                    <a:p>
                      <a:pPr algn="ctr"/>
                      <a:r>
                        <a:rPr lang="en-US" dirty="0"/>
                        <a:t>2028</a:t>
                      </a:r>
                    </a:p>
                  </a:txBody>
                  <a:tcPr/>
                </a:tc>
                <a:tc>
                  <a:txBody>
                    <a:bodyPr/>
                    <a:lstStyle/>
                    <a:p>
                      <a:pPr algn="ctr">
                        <a:buNone/>
                      </a:pPr>
                      <a:r>
                        <a:rPr lang="en-US" dirty="0">
                          <a:solidFill>
                            <a:srgbClr val="000000"/>
                          </a:solidFill>
                          <a:effectLst/>
                          <a:latin typeface="+mn-lt"/>
                        </a:rPr>
                        <a:t>0.201</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0.246</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0.301</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0.550</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0.332</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0.253</a:t>
                      </a:r>
                      <a:endParaRPr lang="en-US" dirty="0">
                        <a:effectLst/>
                        <a:latin typeface="+mn-lt"/>
                      </a:endParaRPr>
                    </a:p>
                  </a:txBody>
                  <a:tcPr marL="38100" marR="38100" marT="38100" marB="38100"/>
                </a:tc>
                <a:extLst>
                  <a:ext uri="{0D108BD9-81ED-4DB2-BD59-A6C34878D82A}">
                    <a16:rowId xmlns:a16="http://schemas.microsoft.com/office/drawing/2014/main" val="16692748"/>
                  </a:ext>
                </a:extLst>
              </a:tr>
              <a:tr h="370840">
                <a:tc>
                  <a:txBody>
                    <a:bodyPr/>
                    <a:lstStyle/>
                    <a:p>
                      <a:pPr algn="ctr"/>
                      <a:r>
                        <a:rPr lang="en-US" dirty="0"/>
                        <a:t>2029</a:t>
                      </a:r>
                    </a:p>
                  </a:txBody>
                  <a:tcPr/>
                </a:tc>
                <a:tc>
                  <a:txBody>
                    <a:bodyPr/>
                    <a:lstStyle/>
                    <a:p>
                      <a:pPr algn="ctr">
                        <a:buNone/>
                      </a:pPr>
                      <a:r>
                        <a:rPr lang="en-US" dirty="0">
                          <a:solidFill>
                            <a:srgbClr val="000000"/>
                          </a:solidFill>
                          <a:effectLst/>
                          <a:latin typeface="+mn-lt"/>
                        </a:rPr>
                        <a:t>0.167</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0.204</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0.250</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0.455</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0.274</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0.210</a:t>
                      </a:r>
                      <a:endParaRPr lang="en-US" dirty="0">
                        <a:effectLst/>
                        <a:latin typeface="+mn-lt"/>
                      </a:endParaRPr>
                    </a:p>
                  </a:txBody>
                  <a:tcPr marL="38100" marR="38100" marT="38100" marB="38100"/>
                </a:tc>
                <a:extLst>
                  <a:ext uri="{0D108BD9-81ED-4DB2-BD59-A6C34878D82A}">
                    <a16:rowId xmlns:a16="http://schemas.microsoft.com/office/drawing/2014/main" val="1540997284"/>
                  </a:ext>
                </a:extLst>
              </a:tr>
              <a:tr h="370840">
                <a:tc>
                  <a:txBody>
                    <a:bodyPr/>
                    <a:lstStyle/>
                    <a:p>
                      <a:pPr algn="ctr"/>
                      <a:r>
                        <a:rPr lang="en-US" dirty="0"/>
                        <a:t>2030</a:t>
                      </a:r>
                    </a:p>
                  </a:txBody>
                  <a:tcPr/>
                </a:tc>
                <a:tc>
                  <a:txBody>
                    <a:bodyPr/>
                    <a:lstStyle/>
                    <a:p>
                      <a:pPr algn="ctr">
                        <a:buNone/>
                      </a:pPr>
                      <a:r>
                        <a:rPr lang="en-US" dirty="0">
                          <a:solidFill>
                            <a:srgbClr val="000000"/>
                          </a:solidFill>
                          <a:effectLst/>
                          <a:latin typeface="+mn-lt"/>
                        </a:rPr>
                        <a:t>0.132</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0.162</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0.197</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0.361</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0.217</a:t>
                      </a:r>
                      <a:endParaRPr lang="en-US" dirty="0">
                        <a:effectLst/>
                        <a:latin typeface="+mn-lt"/>
                      </a:endParaRPr>
                    </a:p>
                  </a:txBody>
                  <a:tcPr marL="38100" marR="38100" marT="38100" marB="38100"/>
                </a:tc>
                <a:tc>
                  <a:txBody>
                    <a:bodyPr/>
                    <a:lstStyle/>
                    <a:p>
                      <a:pPr algn="ctr">
                        <a:buNone/>
                      </a:pPr>
                      <a:r>
                        <a:rPr lang="en-US" dirty="0">
                          <a:solidFill>
                            <a:srgbClr val="000000"/>
                          </a:solidFill>
                          <a:effectLst/>
                          <a:latin typeface="+mn-lt"/>
                        </a:rPr>
                        <a:t>0.166</a:t>
                      </a:r>
                      <a:endParaRPr lang="en-US" dirty="0">
                        <a:effectLst/>
                        <a:latin typeface="+mn-lt"/>
                      </a:endParaRPr>
                    </a:p>
                  </a:txBody>
                  <a:tcPr marL="38100" marR="38100" marT="38100" marB="38100"/>
                </a:tc>
                <a:extLst>
                  <a:ext uri="{0D108BD9-81ED-4DB2-BD59-A6C34878D82A}">
                    <a16:rowId xmlns:a16="http://schemas.microsoft.com/office/drawing/2014/main" val="3516516365"/>
                  </a:ext>
                </a:extLst>
              </a:tr>
            </a:tbl>
          </a:graphicData>
        </a:graphic>
      </p:graphicFrame>
      <p:sp>
        <p:nvSpPr>
          <p:cNvPr id="6" name="TextBox 5">
            <a:extLst>
              <a:ext uri="{FF2B5EF4-FFF2-40B4-BE49-F238E27FC236}">
                <a16:creationId xmlns:a16="http://schemas.microsoft.com/office/drawing/2014/main" id="{0153E811-5321-BD02-06FC-33EF153C006C}"/>
              </a:ext>
            </a:extLst>
          </p:cNvPr>
          <p:cNvSpPr txBox="1"/>
          <p:nvPr/>
        </p:nvSpPr>
        <p:spPr>
          <a:xfrm>
            <a:off x="1232585" y="4437780"/>
            <a:ext cx="10407479" cy="1754326"/>
          </a:xfrm>
          <a:prstGeom prst="rect">
            <a:avLst/>
          </a:prstGeom>
          <a:noFill/>
        </p:spPr>
        <p:txBody>
          <a:bodyPr wrap="square">
            <a:spAutoFit/>
          </a:bodyPr>
          <a:lstStyle/>
          <a:p>
            <a:pPr marL="285750" indent="-285750">
              <a:buFont typeface="Arial" panose="020B0604020202020204" pitchFamily="34" charset="0"/>
              <a:buChar char="•"/>
            </a:pPr>
            <a:r>
              <a:rPr lang="en-US" b="1" dirty="0"/>
              <a:t>Consistency (2026): </a:t>
            </a:r>
            <a:r>
              <a:rPr lang="en-US" dirty="0"/>
              <a:t>Similar stats projected in 2026 compared to 2025, with solid offensive output and consistency.</a:t>
            </a:r>
            <a:endParaRPr lang="en-US" b="1" dirty="0"/>
          </a:p>
          <a:p>
            <a:pPr marL="285750" indent="-285750">
              <a:buFont typeface="Arial" panose="020B0604020202020204" pitchFamily="34" charset="0"/>
              <a:buChar char="•"/>
            </a:pPr>
            <a:r>
              <a:rPr lang="en-US" b="1" dirty="0"/>
              <a:t>Decline (2027-2029): </a:t>
            </a:r>
            <a:r>
              <a:rPr lang="en-US" dirty="0"/>
              <a:t>Large projected decline in terms of contact, power, and on-base metrics combined with expected numbers as well. </a:t>
            </a:r>
            <a:endParaRPr lang="en-US" b="1" dirty="0"/>
          </a:p>
          <a:p>
            <a:pPr marL="285750" indent="-285750">
              <a:buFont typeface="Arial" panose="020B0604020202020204" pitchFamily="34" charset="0"/>
              <a:buChar char="•"/>
            </a:pPr>
            <a:r>
              <a:rPr lang="en-US" b="1" dirty="0"/>
              <a:t>Areas for Growth/Retirement Expected (2030+): </a:t>
            </a:r>
            <a:r>
              <a:rPr lang="en-US" dirty="0"/>
              <a:t>Severe decline projected in 2030, but high chance of retirement by 2030.</a:t>
            </a:r>
          </a:p>
        </p:txBody>
      </p:sp>
    </p:spTree>
    <p:extLst>
      <p:ext uri="{BB962C8B-B14F-4D97-AF65-F5344CB8AC3E}">
        <p14:creationId xmlns:p14="http://schemas.microsoft.com/office/powerpoint/2010/main" val="37311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215BB-A2C6-B647-8F39-0304A48D2D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C39567-BEE7-AB30-6729-816935640A1E}"/>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Trea Turner</a:t>
            </a:r>
          </a:p>
        </p:txBody>
      </p:sp>
      <p:pic>
        <p:nvPicPr>
          <p:cNvPr id="4" name="Picture 3" descr="A red letter p on a black background&#10;&#10;AI-generated content may be incorrect.">
            <a:extLst>
              <a:ext uri="{FF2B5EF4-FFF2-40B4-BE49-F238E27FC236}">
                <a16:creationId xmlns:a16="http://schemas.microsoft.com/office/drawing/2014/main" id="{36D4BE45-864F-0079-9725-6F53CA93F54E}"/>
              </a:ext>
            </a:extLst>
          </p:cNvPr>
          <p:cNvPicPr>
            <a:picLocks noChangeAspect="1"/>
          </p:cNvPicPr>
          <p:nvPr/>
        </p:nvPicPr>
        <p:blipFill>
          <a:blip r:embed="rId2"/>
          <a:stretch>
            <a:fillRect/>
          </a:stretch>
        </p:blipFill>
        <p:spPr>
          <a:xfrm>
            <a:off x="11485605" y="6151605"/>
            <a:ext cx="706395" cy="706395"/>
          </a:xfrm>
          <a:prstGeom prst="rect">
            <a:avLst/>
          </a:prstGeom>
        </p:spPr>
      </p:pic>
      <p:graphicFrame>
        <p:nvGraphicFramePr>
          <p:cNvPr id="3" name="Table 2">
            <a:extLst>
              <a:ext uri="{FF2B5EF4-FFF2-40B4-BE49-F238E27FC236}">
                <a16:creationId xmlns:a16="http://schemas.microsoft.com/office/drawing/2014/main" id="{CE4BE3E0-A8B9-7977-C63D-55E4B15B3765}"/>
              </a:ext>
            </a:extLst>
          </p:cNvPr>
          <p:cNvGraphicFramePr>
            <a:graphicFrameLocks noGrp="1"/>
          </p:cNvGraphicFramePr>
          <p:nvPr>
            <p:extLst>
              <p:ext uri="{D42A27DB-BD31-4B8C-83A1-F6EECF244321}">
                <p14:modId xmlns:p14="http://schemas.microsoft.com/office/powerpoint/2010/main" val="792872364"/>
              </p:ext>
            </p:extLst>
          </p:nvPr>
        </p:nvGraphicFramePr>
        <p:xfrm>
          <a:off x="2156372" y="1567770"/>
          <a:ext cx="7879256" cy="2624328"/>
        </p:xfrm>
        <a:graphic>
          <a:graphicData uri="http://schemas.openxmlformats.org/drawingml/2006/table">
            <a:tbl>
              <a:tblPr firstRow="1" bandRow="1">
                <a:tableStyleId>{073A0DAA-6AF3-43AB-8588-CEC1D06C72B9}</a:tableStyleId>
              </a:tblPr>
              <a:tblGrid>
                <a:gridCol w="1125608">
                  <a:extLst>
                    <a:ext uri="{9D8B030D-6E8A-4147-A177-3AD203B41FA5}">
                      <a16:colId xmlns:a16="http://schemas.microsoft.com/office/drawing/2014/main" val="4146166191"/>
                    </a:ext>
                  </a:extLst>
                </a:gridCol>
                <a:gridCol w="1125608">
                  <a:extLst>
                    <a:ext uri="{9D8B030D-6E8A-4147-A177-3AD203B41FA5}">
                      <a16:colId xmlns:a16="http://schemas.microsoft.com/office/drawing/2014/main" val="3937957260"/>
                    </a:ext>
                  </a:extLst>
                </a:gridCol>
                <a:gridCol w="1125608">
                  <a:extLst>
                    <a:ext uri="{9D8B030D-6E8A-4147-A177-3AD203B41FA5}">
                      <a16:colId xmlns:a16="http://schemas.microsoft.com/office/drawing/2014/main" val="3164863238"/>
                    </a:ext>
                  </a:extLst>
                </a:gridCol>
                <a:gridCol w="1125608">
                  <a:extLst>
                    <a:ext uri="{9D8B030D-6E8A-4147-A177-3AD203B41FA5}">
                      <a16:colId xmlns:a16="http://schemas.microsoft.com/office/drawing/2014/main" val="2708233520"/>
                    </a:ext>
                  </a:extLst>
                </a:gridCol>
                <a:gridCol w="1125608">
                  <a:extLst>
                    <a:ext uri="{9D8B030D-6E8A-4147-A177-3AD203B41FA5}">
                      <a16:colId xmlns:a16="http://schemas.microsoft.com/office/drawing/2014/main" val="529541264"/>
                    </a:ext>
                  </a:extLst>
                </a:gridCol>
                <a:gridCol w="1125608">
                  <a:extLst>
                    <a:ext uri="{9D8B030D-6E8A-4147-A177-3AD203B41FA5}">
                      <a16:colId xmlns:a16="http://schemas.microsoft.com/office/drawing/2014/main" val="3966674631"/>
                    </a:ext>
                  </a:extLst>
                </a:gridCol>
                <a:gridCol w="1125608">
                  <a:extLst>
                    <a:ext uri="{9D8B030D-6E8A-4147-A177-3AD203B41FA5}">
                      <a16:colId xmlns:a16="http://schemas.microsoft.com/office/drawing/2014/main" val="65403372"/>
                    </a:ext>
                  </a:extLst>
                </a:gridCol>
              </a:tblGrid>
              <a:tr h="374904">
                <a:tc>
                  <a:txBody>
                    <a:bodyPr/>
                    <a:lstStyle/>
                    <a:p>
                      <a:pPr algn="ctr"/>
                      <a:r>
                        <a:rPr lang="en-US" dirty="0"/>
                        <a:t>Season</a:t>
                      </a:r>
                    </a:p>
                  </a:txBody>
                  <a:tcPr anchor="ctr"/>
                </a:tc>
                <a:tc>
                  <a:txBody>
                    <a:bodyPr/>
                    <a:lstStyle/>
                    <a:p>
                      <a:pPr algn="ctr"/>
                      <a:r>
                        <a:rPr lang="en-US" dirty="0"/>
                        <a:t>AVG</a:t>
                      </a:r>
                    </a:p>
                  </a:txBody>
                  <a:tcPr anchor="ctr"/>
                </a:tc>
                <a:tc>
                  <a:txBody>
                    <a:bodyPr/>
                    <a:lstStyle/>
                    <a:p>
                      <a:pPr algn="ctr"/>
                      <a:r>
                        <a:rPr lang="en-US" dirty="0"/>
                        <a:t>OBP</a:t>
                      </a:r>
                    </a:p>
                  </a:txBody>
                  <a:tcPr anchor="ctr"/>
                </a:tc>
                <a:tc>
                  <a:txBody>
                    <a:bodyPr/>
                    <a:lstStyle/>
                    <a:p>
                      <a:pPr algn="ctr"/>
                      <a:r>
                        <a:rPr lang="en-US" dirty="0"/>
                        <a:t>SLG</a:t>
                      </a:r>
                    </a:p>
                  </a:txBody>
                  <a:tcPr anchor="ctr"/>
                </a:tc>
                <a:tc>
                  <a:txBody>
                    <a:bodyPr/>
                    <a:lstStyle/>
                    <a:p>
                      <a:pPr algn="ctr"/>
                      <a:r>
                        <a:rPr lang="en-US" dirty="0"/>
                        <a:t>OPS</a:t>
                      </a:r>
                    </a:p>
                  </a:txBody>
                  <a:tcPr anchor="ctr"/>
                </a:tc>
                <a:tc>
                  <a:txBody>
                    <a:bodyPr/>
                    <a:lstStyle/>
                    <a:p>
                      <a:pPr algn="ctr"/>
                      <a:r>
                        <a:rPr lang="en-US" dirty="0"/>
                        <a:t>xSLG</a:t>
                      </a:r>
                    </a:p>
                  </a:txBody>
                  <a:tcPr anchor="ctr"/>
                </a:tc>
                <a:tc>
                  <a:txBody>
                    <a:bodyPr/>
                    <a:lstStyle/>
                    <a:p>
                      <a:pPr algn="ctr"/>
                      <a:r>
                        <a:rPr lang="en-US" dirty="0"/>
                        <a:t>xwOBA</a:t>
                      </a:r>
                    </a:p>
                  </a:txBody>
                  <a:tcPr anchor="ctr"/>
                </a:tc>
                <a:extLst>
                  <a:ext uri="{0D108BD9-81ED-4DB2-BD59-A6C34878D82A}">
                    <a16:rowId xmlns:a16="http://schemas.microsoft.com/office/drawing/2014/main" val="720208137"/>
                  </a:ext>
                </a:extLst>
              </a:tr>
              <a:tr h="374904">
                <a:tc>
                  <a:txBody>
                    <a:bodyPr/>
                    <a:lstStyle/>
                    <a:p>
                      <a:pPr algn="ctr"/>
                      <a:r>
                        <a:rPr lang="en-US" b="1" u="sng" dirty="0"/>
                        <a:t>2025</a:t>
                      </a:r>
                    </a:p>
                  </a:txBody>
                  <a:tcPr anchor="ctr"/>
                </a:tc>
                <a:tc>
                  <a:txBody>
                    <a:bodyPr/>
                    <a:lstStyle/>
                    <a:p>
                      <a:pPr algn="ctr"/>
                      <a:r>
                        <a:rPr lang="en-US" b="1" u="sng" dirty="0">
                          <a:latin typeface="+mn-lt"/>
                        </a:rPr>
                        <a:t>0.304</a:t>
                      </a:r>
                    </a:p>
                  </a:txBody>
                  <a:tcPr anchor="ctr"/>
                </a:tc>
                <a:tc>
                  <a:txBody>
                    <a:bodyPr/>
                    <a:lstStyle/>
                    <a:p>
                      <a:pPr algn="ctr"/>
                      <a:r>
                        <a:rPr lang="en-US" b="1" u="sng" dirty="0">
                          <a:latin typeface="+mn-lt"/>
                        </a:rPr>
                        <a:t>0.355</a:t>
                      </a:r>
                    </a:p>
                  </a:txBody>
                  <a:tcPr anchor="ctr"/>
                </a:tc>
                <a:tc>
                  <a:txBody>
                    <a:bodyPr/>
                    <a:lstStyle/>
                    <a:p>
                      <a:pPr algn="ctr"/>
                      <a:r>
                        <a:rPr lang="en-US" b="1" u="sng" dirty="0">
                          <a:latin typeface="+mn-lt"/>
                        </a:rPr>
                        <a:t>0.457</a:t>
                      </a:r>
                    </a:p>
                  </a:txBody>
                  <a:tcPr anchor="ctr"/>
                </a:tc>
                <a:tc>
                  <a:txBody>
                    <a:bodyPr/>
                    <a:lstStyle/>
                    <a:p>
                      <a:pPr algn="ctr"/>
                      <a:r>
                        <a:rPr lang="en-US" b="1" u="sng" dirty="0">
                          <a:latin typeface="+mn-lt"/>
                        </a:rPr>
                        <a:t>0.812</a:t>
                      </a:r>
                    </a:p>
                  </a:txBody>
                  <a:tcPr anchor="ctr"/>
                </a:tc>
                <a:tc>
                  <a:txBody>
                    <a:bodyPr/>
                    <a:lstStyle/>
                    <a:p>
                      <a:pPr algn="ctr"/>
                      <a:r>
                        <a:rPr lang="en-US" b="1" u="sng" dirty="0">
                          <a:latin typeface="+mn-lt"/>
                        </a:rPr>
                        <a:t>0.416</a:t>
                      </a:r>
                    </a:p>
                  </a:txBody>
                  <a:tcPr anchor="ctr"/>
                </a:tc>
                <a:tc>
                  <a:txBody>
                    <a:bodyPr/>
                    <a:lstStyle/>
                    <a:p>
                      <a:pPr algn="ctr"/>
                      <a:r>
                        <a:rPr lang="en-US" b="1" u="sng" dirty="0">
                          <a:latin typeface="+mn-lt"/>
                        </a:rPr>
                        <a:t>0.325</a:t>
                      </a:r>
                    </a:p>
                  </a:txBody>
                  <a:tcPr anchor="ctr"/>
                </a:tc>
                <a:extLst>
                  <a:ext uri="{0D108BD9-81ED-4DB2-BD59-A6C34878D82A}">
                    <a16:rowId xmlns:a16="http://schemas.microsoft.com/office/drawing/2014/main" val="3198095503"/>
                  </a:ext>
                </a:extLst>
              </a:tr>
              <a:tr h="374904">
                <a:tc>
                  <a:txBody>
                    <a:bodyPr/>
                    <a:lstStyle/>
                    <a:p>
                      <a:pPr algn="ctr"/>
                      <a:r>
                        <a:rPr lang="en-US" dirty="0"/>
                        <a:t>2026</a:t>
                      </a:r>
                    </a:p>
                  </a:txBody>
                  <a:tcPr anchor="ctr"/>
                </a:tc>
                <a:tc>
                  <a:txBody>
                    <a:bodyPr/>
                    <a:lstStyle/>
                    <a:p>
                      <a:pPr algn="ctr">
                        <a:buNone/>
                      </a:pPr>
                      <a:r>
                        <a:rPr lang="en-US" dirty="0">
                          <a:solidFill>
                            <a:srgbClr val="000000"/>
                          </a:solidFill>
                          <a:effectLst/>
                          <a:latin typeface="+mn-lt"/>
                        </a:rPr>
                        <a:t>0.303</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0.354</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0.456</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0.811</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0.416</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0.324</a:t>
                      </a:r>
                      <a:endParaRPr lang="en-US" dirty="0">
                        <a:effectLst/>
                        <a:latin typeface="+mn-lt"/>
                      </a:endParaRPr>
                    </a:p>
                  </a:txBody>
                  <a:tcPr marL="38100" marR="38100" marT="38100" marB="38100" anchor="ctr"/>
                </a:tc>
                <a:extLst>
                  <a:ext uri="{0D108BD9-81ED-4DB2-BD59-A6C34878D82A}">
                    <a16:rowId xmlns:a16="http://schemas.microsoft.com/office/drawing/2014/main" val="4293680123"/>
                  </a:ext>
                </a:extLst>
              </a:tr>
              <a:tr h="374904">
                <a:tc>
                  <a:txBody>
                    <a:bodyPr/>
                    <a:lstStyle/>
                    <a:p>
                      <a:pPr algn="ctr"/>
                      <a:r>
                        <a:rPr lang="en-US" dirty="0"/>
                        <a:t>2027</a:t>
                      </a:r>
                    </a:p>
                  </a:txBody>
                  <a:tcPr anchor="ctr"/>
                </a:tc>
                <a:tc>
                  <a:txBody>
                    <a:bodyPr/>
                    <a:lstStyle/>
                    <a:p>
                      <a:pPr algn="ctr">
                        <a:buNone/>
                      </a:pPr>
                      <a:r>
                        <a:rPr lang="en-US" dirty="0">
                          <a:solidFill>
                            <a:srgbClr val="000000"/>
                          </a:solidFill>
                          <a:effectLst/>
                          <a:latin typeface="+mn-lt"/>
                        </a:rPr>
                        <a:t>0.298</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0.349</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0.449</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0.798</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0.408</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0.320</a:t>
                      </a:r>
                      <a:endParaRPr lang="en-US" dirty="0">
                        <a:effectLst/>
                        <a:latin typeface="+mn-lt"/>
                      </a:endParaRPr>
                    </a:p>
                  </a:txBody>
                  <a:tcPr marL="38100" marR="38100" marT="38100" marB="38100" anchor="ctr"/>
                </a:tc>
                <a:extLst>
                  <a:ext uri="{0D108BD9-81ED-4DB2-BD59-A6C34878D82A}">
                    <a16:rowId xmlns:a16="http://schemas.microsoft.com/office/drawing/2014/main" val="1643148760"/>
                  </a:ext>
                </a:extLst>
              </a:tr>
              <a:tr h="374904">
                <a:tc>
                  <a:txBody>
                    <a:bodyPr/>
                    <a:lstStyle/>
                    <a:p>
                      <a:pPr algn="ctr"/>
                      <a:r>
                        <a:rPr lang="en-US" dirty="0"/>
                        <a:t>2028</a:t>
                      </a:r>
                    </a:p>
                  </a:txBody>
                  <a:tcPr anchor="ctr"/>
                </a:tc>
                <a:tc>
                  <a:txBody>
                    <a:bodyPr/>
                    <a:lstStyle/>
                    <a:p>
                      <a:pPr algn="ctr">
                        <a:buNone/>
                      </a:pPr>
                      <a:r>
                        <a:rPr lang="en-US" dirty="0">
                          <a:solidFill>
                            <a:srgbClr val="000000"/>
                          </a:solidFill>
                          <a:effectLst/>
                          <a:latin typeface="+mn-lt"/>
                        </a:rPr>
                        <a:t>0.282</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0.329</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0.423</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0.752</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0.385</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0.301</a:t>
                      </a:r>
                      <a:endParaRPr lang="en-US" dirty="0">
                        <a:effectLst/>
                        <a:latin typeface="+mn-lt"/>
                      </a:endParaRPr>
                    </a:p>
                  </a:txBody>
                  <a:tcPr marL="38100" marR="38100" marT="38100" marB="38100" anchor="ctr"/>
                </a:tc>
                <a:extLst>
                  <a:ext uri="{0D108BD9-81ED-4DB2-BD59-A6C34878D82A}">
                    <a16:rowId xmlns:a16="http://schemas.microsoft.com/office/drawing/2014/main" val="16692748"/>
                  </a:ext>
                </a:extLst>
              </a:tr>
              <a:tr h="374904">
                <a:tc>
                  <a:txBody>
                    <a:bodyPr/>
                    <a:lstStyle/>
                    <a:p>
                      <a:pPr algn="ctr"/>
                      <a:r>
                        <a:rPr lang="en-US" dirty="0"/>
                        <a:t>2029</a:t>
                      </a:r>
                    </a:p>
                  </a:txBody>
                  <a:tcPr anchor="ctr"/>
                </a:tc>
                <a:tc>
                  <a:txBody>
                    <a:bodyPr/>
                    <a:lstStyle/>
                    <a:p>
                      <a:pPr algn="ctr">
                        <a:buNone/>
                      </a:pPr>
                      <a:r>
                        <a:rPr lang="en-US" dirty="0">
                          <a:solidFill>
                            <a:srgbClr val="000000"/>
                          </a:solidFill>
                          <a:effectLst/>
                          <a:latin typeface="+mn-lt"/>
                        </a:rPr>
                        <a:t>0.255</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0.297</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0.382</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0.680</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0.348</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0.273</a:t>
                      </a:r>
                      <a:endParaRPr lang="en-US" dirty="0">
                        <a:effectLst/>
                        <a:latin typeface="+mn-lt"/>
                      </a:endParaRPr>
                    </a:p>
                  </a:txBody>
                  <a:tcPr marL="38100" marR="38100" marT="38100" marB="38100" anchor="ctr"/>
                </a:tc>
                <a:extLst>
                  <a:ext uri="{0D108BD9-81ED-4DB2-BD59-A6C34878D82A}">
                    <a16:rowId xmlns:a16="http://schemas.microsoft.com/office/drawing/2014/main" val="1540997284"/>
                  </a:ext>
                </a:extLst>
              </a:tr>
              <a:tr h="374904">
                <a:tc>
                  <a:txBody>
                    <a:bodyPr/>
                    <a:lstStyle/>
                    <a:p>
                      <a:pPr algn="ctr"/>
                      <a:r>
                        <a:rPr lang="en-US" dirty="0"/>
                        <a:t>2030</a:t>
                      </a:r>
                    </a:p>
                  </a:txBody>
                  <a:tcPr anchor="ctr"/>
                </a:tc>
                <a:tc>
                  <a:txBody>
                    <a:bodyPr/>
                    <a:lstStyle/>
                    <a:p>
                      <a:pPr algn="ctr">
                        <a:buNone/>
                      </a:pPr>
                      <a:r>
                        <a:rPr lang="en-US" dirty="0">
                          <a:solidFill>
                            <a:srgbClr val="000000"/>
                          </a:solidFill>
                          <a:effectLst/>
                          <a:latin typeface="+mn-lt"/>
                        </a:rPr>
                        <a:t>0.220</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0.257</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0.331</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0.589</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0.301</a:t>
                      </a:r>
                      <a:endParaRPr lang="en-US" dirty="0">
                        <a:effectLst/>
                        <a:latin typeface="+mn-lt"/>
                      </a:endParaRPr>
                    </a:p>
                  </a:txBody>
                  <a:tcPr marL="38100" marR="38100" marT="38100" marB="38100" anchor="ctr"/>
                </a:tc>
                <a:tc>
                  <a:txBody>
                    <a:bodyPr/>
                    <a:lstStyle/>
                    <a:p>
                      <a:pPr algn="ctr">
                        <a:buNone/>
                      </a:pPr>
                      <a:r>
                        <a:rPr lang="en-US" dirty="0">
                          <a:solidFill>
                            <a:srgbClr val="000000"/>
                          </a:solidFill>
                          <a:effectLst/>
                          <a:latin typeface="+mn-lt"/>
                        </a:rPr>
                        <a:t>0.236</a:t>
                      </a:r>
                      <a:endParaRPr lang="en-US" dirty="0">
                        <a:effectLst/>
                        <a:latin typeface="+mn-lt"/>
                      </a:endParaRPr>
                    </a:p>
                  </a:txBody>
                  <a:tcPr marL="38100" marR="38100" marT="38100" marB="38100" anchor="ctr"/>
                </a:tc>
                <a:extLst>
                  <a:ext uri="{0D108BD9-81ED-4DB2-BD59-A6C34878D82A}">
                    <a16:rowId xmlns:a16="http://schemas.microsoft.com/office/drawing/2014/main" val="3516516365"/>
                  </a:ext>
                </a:extLst>
              </a:tr>
            </a:tbl>
          </a:graphicData>
        </a:graphic>
      </p:graphicFrame>
      <p:sp>
        <p:nvSpPr>
          <p:cNvPr id="6" name="TextBox 5">
            <a:extLst>
              <a:ext uri="{FF2B5EF4-FFF2-40B4-BE49-F238E27FC236}">
                <a16:creationId xmlns:a16="http://schemas.microsoft.com/office/drawing/2014/main" id="{94D7573D-2E5D-F731-89F4-AB7BEBD3028E}"/>
              </a:ext>
            </a:extLst>
          </p:cNvPr>
          <p:cNvSpPr txBox="1"/>
          <p:nvPr/>
        </p:nvSpPr>
        <p:spPr>
          <a:xfrm>
            <a:off x="1576784" y="4334434"/>
            <a:ext cx="9789641" cy="2308324"/>
          </a:xfrm>
          <a:prstGeom prst="rect">
            <a:avLst/>
          </a:prstGeom>
          <a:noFill/>
        </p:spPr>
        <p:txBody>
          <a:bodyPr wrap="square">
            <a:spAutoFit/>
          </a:bodyPr>
          <a:lstStyle/>
          <a:p>
            <a:pPr marL="285750" indent="-285750">
              <a:buFont typeface="Arial" panose="020B0604020202020204" pitchFamily="34" charset="0"/>
              <a:buChar char="•"/>
            </a:pPr>
            <a:r>
              <a:rPr lang="en-US" b="1" dirty="0"/>
              <a:t>Consistent and Strong Prime (2026-2028): </a:t>
            </a:r>
            <a:r>
              <a:rPr lang="en-US" dirty="0"/>
              <a:t>Productive hitter with a strong batting average and consistent ability to mix in power/contact. Above-average expected metrics as well. </a:t>
            </a:r>
            <a:endParaRPr lang="en-US" b="1" dirty="0"/>
          </a:p>
          <a:p>
            <a:pPr marL="285750" indent="-285750">
              <a:buFont typeface="Arial" panose="020B0604020202020204" pitchFamily="34" charset="0"/>
              <a:buChar char="•"/>
            </a:pPr>
            <a:r>
              <a:rPr lang="en-US" b="1" dirty="0"/>
              <a:t>Decline (2029): </a:t>
            </a:r>
            <a:r>
              <a:rPr lang="en-US" dirty="0"/>
              <a:t>Statistics begin to drop in 2029 with diminished contact and power ability. OPS, xwOBA, and </a:t>
            </a:r>
            <a:r>
              <a:rPr lang="en-US" dirty="0" err="1"/>
              <a:t>xSLG</a:t>
            </a:r>
            <a:r>
              <a:rPr lang="en-US" dirty="0"/>
              <a:t> fall. </a:t>
            </a:r>
          </a:p>
          <a:p>
            <a:pPr marL="285750" indent="-285750">
              <a:buFont typeface="Arial" panose="020B0604020202020204" pitchFamily="34" charset="0"/>
              <a:buChar char="•"/>
            </a:pPr>
            <a:r>
              <a:rPr lang="en-US" b="1" dirty="0"/>
              <a:t>Areas for Growth (2030): </a:t>
            </a:r>
            <a:r>
              <a:rPr lang="en-US" dirty="0"/>
              <a:t>His worst statistical season is projected in 2030 – 5 seasons down the line, but due to his all-star caliber performance in the past, I would never doubt his ability to make the necessary adjustments to prevent this from occurring.</a:t>
            </a:r>
          </a:p>
        </p:txBody>
      </p:sp>
    </p:spTree>
    <p:extLst>
      <p:ext uri="{BB962C8B-B14F-4D97-AF65-F5344CB8AC3E}">
        <p14:creationId xmlns:p14="http://schemas.microsoft.com/office/powerpoint/2010/main" val="2203509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D1B6C-78B5-7D7D-ADFD-D1673E6387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847490-681F-00F4-ABFB-D2979787A2BC}"/>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Alec Bohm</a:t>
            </a:r>
          </a:p>
        </p:txBody>
      </p:sp>
      <p:pic>
        <p:nvPicPr>
          <p:cNvPr id="4" name="Picture 3" descr="A red letter p on a black background&#10;&#10;AI-generated content may be incorrect.">
            <a:extLst>
              <a:ext uri="{FF2B5EF4-FFF2-40B4-BE49-F238E27FC236}">
                <a16:creationId xmlns:a16="http://schemas.microsoft.com/office/drawing/2014/main" id="{40E7BC55-6BBE-C1DB-AA05-8DF6EA464C87}"/>
              </a:ext>
            </a:extLst>
          </p:cNvPr>
          <p:cNvPicPr>
            <a:picLocks noChangeAspect="1"/>
          </p:cNvPicPr>
          <p:nvPr/>
        </p:nvPicPr>
        <p:blipFill>
          <a:blip r:embed="rId3"/>
          <a:stretch>
            <a:fillRect/>
          </a:stretch>
        </p:blipFill>
        <p:spPr>
          <a:xfrm>
            <a:off x="11485605" y="6151605"/>
            <a:ext cx="706395" cy="706395"/>
          </a:xfrm>
          <a:prstGeom prst="rect">
            <a:avLst/>
          </a:prstGeom>
        </p:spPr>
      </p:pic>
      <p:graphicFrame>
        <p:nvGraphicFramePr>
          <p:cNvPr id="3" name="Table 2">
            <a:extLst>
              <a:ext uri="{FF2B5EF4-FFF2-40B4-BE49-F238E27FC236}">
                <a16:creationId xmlns:a16="http://schemas.microsoft.com/office/drawing/2014/main" id="{5CFC2858-72B8-5F43-1618-C1F7E8818579}"/>
              </a:ext>
            </a:extLst>
          </p:cNvPr>
          <p:cNvGraphicFramePr>
            <a:graphicFrameLocks noGrp="1"/>
          </p:cNvGraphicFramePr>
          <p:nvPr>
            <p:extLst>
              <p:ext uri="{D42A27DB-BD31-4B8C-83A1-F6EECF244321}">
                <p14:modId xmlns:p14="http://schemas.microsoft.com/office/powerpoint/2010/main" val="2079604550"/>
              </p:ext>
            </p:extLst>
          </p:nvPr>
        </p:nvGraphicFramePr>
        <p:xfrm>
          <a:off x="2156372" y="1567771"/>
          <a:ext cx="7879256" cy="2595880"/>
        </p:xfrm>
        <a:graphic>
          <a:graphicData uri="http://schemas.openxmlformats.org/drawingml/2006/table">
            <a:tbl>
              <a:tblPr firstRow="1" bandRow="1">
                <a:tableStyleId>{073A0DAA-6AF3-43AB-8588-CEC1D06C72B9}</a:tableStyleId>
              </a:tblPr>
              <a:tblGrid>
                <a:gridCol w="1125608">
                  <a:extLst>
                    <a:ext uri="{9D8B030D-6E8A-4147-A177-3AD203B41FA5}">
                      <a16:colId xmlns:a16="http://schemas.microsoft.com/office/drawing/2014/main" val="4146166191"/>
                    </a:ext>
                  </a:extLst>
                </a:gridCol>
                <a:gridCol w="1125608">
                  <a:extLst>
                    <a:ext uri="{9D8B030D-6E8A-4147-A177-3AD203B41FA5}">
                      <a16:colId xmlns:a16="http://schemas.microsoft.com/office/drawing/2014/main" val="3937957260"/>
                    </a:ext>
                  </a:extLst>
                </a:gridCol>
                <a:gridCol w="1125608">
                  <a:extLst>
                    <a:ext uri="{9D8B030D-6E8A-4147-A177-3AD203B41FA5}">
                      <a16:colId xmlns:a16="http://schemas.microsoft.com/office/drawing/2014/main" val="3164863238"/>
                    </a:ext>
                  </a:extLst>
                </a:gridCol>
                <a:gridCol w="1125608">
                  <a:extLst>
                    <a:ext uri="{9D8B030D-6E8A-4147-A177-3AD203B41FA5}">
                      <a16:colId xmlns:a16="http://schemas.microsoft.com/office/drawing/2014/main" val="2708233520"/>
                    </a:ext>
                  </a:extLst>
                </a:gridCol>
                <a:gridCol w="1125608">
                  <a:extLst>
                    <a:ext uri="{9D8B030D-6E8A-4147-A177-3AD203B41FA5}">
                      <a16:colId xmlns:a16="http://schemas.microsoft.com/office/drawing/2014/main" val="529541264"/>
                    </a:ext>
                  </a:extLst>
                </a:gridCol>
                <a:gridCol w="1125608">
                  <a:extLst>
                    <a:ext uri="{9D8B030D-6E8A-4147-A177-3AD203B41FA5}">
                      <a16:colId xmlns:a16="http://schemas.microsoft.com/office/drawing/2014/main" val="3966674631"/>
                    </a:ext>
                  </a:extLst>
                </a:gridCol>
                <a:gridCol w="1125608">
                  <a:extLst>
                    <a:ext uri="{9D8B030D-6E8A-4147-A177-3AD203B41FA5}">
                      <a16:colId xmlns:a16="http://schemas.microsoft.com/office/drawing/2014/main" val="65403372"/>
                    </a:ext>
                  </a:extLst>
                </a:gridCol>
              </a:tblGrid>
              <a:tr h="370840">
                <a:tc>
                  <a:txBody>
                    <a:bodyPr/>
                    <a:lstStyle/>
                    <a:p>
                      <a:pPr algn="ctr"/>
                      <a:r>
                        <a:rPr lang="en-US" dirty="0"/>
                        <a:t>Season</a:t>
                      </a:r>
                    </a:p>
                  </a:txBody>
                  <a:tcPr/>
                </a:tc>
                <a:tc>
                  <a:txBody>
                    <a:bodyPr/>
                    <a:lstStyle/>
                    <a:p>
                      <a:pPr algn="ctr"/>
                      <a:r>
                        <a:rPr lang="en-US" dirty="0"/>
                        <a:t>AVG</a:t>
                      </a:r>
                    </a:p>
                  </a:txBody>
                  <a:tcPr/>
                </a:tc>
                <a:tc>
                  <a:txBody>
                    <a:bodyPr/>
                    <a:lstStyle/>
                    <a:p>
                      <a:pPr algn="ctr"/>
                      <a:r>
                        <a:rPr lang="en-US" dirty="0"/>
                        <a:t>OBP</a:t>
                      </a:r>
                    </a:p>
                  </a:txBody>
                  <a:tcPr/>
                </a:tc>
                <a:tc>
                  <a:txBody>
                    <a:bodyPr/>
                    <a:lstStyle/>
                    <a:p>
                      <a:pPr algn="ctr"/>
                      <a:r>
                        <a:rPr lang="en-US" dirty="0"/>
                        <a:t>SLG</a:t>
                      </a:r>
                    </a:p>
                  </a:txBody>
                  <a:tcPr/>
                </a:tc>
                <a:tc>
                  <a:txBody>
                    <a:bodyPr/>
                    <a:lstStyle/>
                    <a:p>
                      <a:pPr algn="ctr"/>
                      <a:r>
                        <a:rPr lang="en-US" dirty="0"/>
                        <a:t>OPS</a:t>
                      </a:r>
                    </a:p>
                  </a:txBody>
                  <a:tcPr/>
                </a:tc>
                <a:tc>
                  <a:txBody>
                    <a:bodyPr/>
                    <a:lstStyle/>
                    <a:p>
                      <a:pPr algn="ctr"/>
                      <a:r>
                        <a:rPr lang="en-US" dirty="0"/>
                        <a:t>xSLG</a:t>
                      </a:r>
                    </a:p>
                  </a:txBody>
                  <a:tcPr/>
                </a:tc>
                <a:tc>
                  <a:txBody>
                    <a:bodyPr/>
                    <a:lstStyle/>
                    <a:p>
                      <a:pPr algn="ctr"/>
                      <a:r>
                        <a:rPr lang="en-US" dirty="0"/>
                        <a:t>xwOBA</a:t>
                      </a:r>
                    </a:p>
                  </a:txBody>
                  <a:tcPr/>
                </a:tc>
                <a:extLst>
                  <a:ext uri="{0D108BD9-81ED-4DB2-BD59-A6C34878D82A}">
                    <a16:rowId xmlns:a16="http://schemas.microsoft.com/office/drawing/2014/main" val="720208137"/>
                  </a:ext>
                </a:extLst>
              </a:tr>
              <a:tr h="370840">
                <a:tc>
                  <a:txBody>
                    <a:bodyPr/>
                    <a:lstStyle/>
                    <a:p>
                      <a:pPr algn="ctr"/>
                      <a:r>
                        <a:rPr lang="en-US" b="1" u="sng" dirty="0"/>
                        <a:t>2025</a:t>
                      </a:r>
                    </a:p>
                  </a:txBody>
                  <a:tcPr/>
                </a:tc>
                <a:tc>
                  <a:txBody>
                    <a:bodyPr/>
                    <a:lstStyle/>
                    <a:p>
                      <a:pPr algn="ctr"/>
                      <a:r>
                        <a:rPr lang="en-US" sz="1800" b="1" u="sng" dirty="0">
                          <a:latin typeface="+mn-lt"/>
                        </a:rPr>
                        <a:t>0.287</a:t>
                      </a:r>
                    </a:p>
                  </a:txBody>
                  <a:tcPr/>
                </a:tc>
                <a:tc>
                  <a:txBody>
                    <a:bodyPr/>
                    <a:lstStyle/>
                    <a:p>
                      <a:pPr algn="ctr"/>
                      <a:r>
                        <a:rPr lang="en-US" sz="1800" b="1" u="sng" dirty="0">
                          <a:latin typeface="+mn-lt"/>
                        </a:rPr>
                        <a:t>0.331</a:t>
                      </a:r>
                    </a:p>
                  </a:txBody>
                  <a:tcPr/>
                </a:tc>
                <a:tc>
                  <a:txBody>
                    <a:bodyPr/>
                    <a:lstStyle/>
                    <a:p>
                      <a:pPr algn="ctr"/>
                      <a:r>
                        <a:rPr lang="en-US" sz="1800" b="1" u="sng" dirty="0">
                          <a:latin typeface="+mn-lt"/>
                        </a:rPr>
                        <a:t>0.409</a:t>
                      </a:r>
                    </a:p>
                  </a:txBody>
                  <a:tcPr/>
                </a:tc>
                <a:tc>
                  <a:txBody>
                    <a:bodyPr/>
                    <a:lstStyle/>
                    <a:p>
                      <a:pPr algn="ctr"/>
                      <a:r>
                        <a:rPr lang="en-US" sz="1800" b="1" u="sng" dirty="0">
                          <a:latin typeface="+mn-lt"/>
                        </a:rPr>
                        <a:t>0.741</a:t>
                      </a:r>
                    </a:p>
                  </a:txBody>
                  <a:tcPr/>
                </a:tc>
                <a:tc>
                  <a:txBody>
                    <a:bodyPr/>
                    <a:lstStyle/>
                    <a:p>
                      <a:pPr algn="ctr"/>
                      <a:r>
                        <a:rPr lang="en-US" sz="1800" b="1" u="sng" dirty="0">
                          <a:latin typeface="+mn-lt"/>
                        </a:rPr>
                        <a:t>0.426</a:t>
                      </a:r>
                    </a:p>
                  </a:txBody>
                  <a:tcPr/>
                </a:tc>
                <a:tc>
                  <a:txBody>
                    <a:bodyPr/>
                    <a:lstStyle/>
                    <a:p>
                      <a:pPr algn="ctr"/>
                      <a:r>
                        <a:rPr lang="en-US" sz="1800" b="1" u="sng" dirty="0">
                          <a:latin typeface="+mn-lt"/>
                        </a:rPr>
                        <a:t>0.332</a:t>
                      </a:r>
                    </a:p>
                  </a:txBody>
                  <a:tcPr/>
                </a:tc>
                <a:extLst>
                  <a:ext uri="{0D108BD9-81ED-4DB2-BD59-A6C34878D82A}">
                    <a16:rowId xmlns:a16="http://schemas.microsoft.com/office/drawing/2014/main" val="3198095503"/>
                  </a:ext>
                </a:extLst>
              </a:tr>
              <a:tr h="370840">
                <a:tc>
                  <a:txBody>
                    <a:bodyPr/>
                    <a:lstStyle/>
                    <a:p>
                      <a:pPr algn="ctr"/>
                      <a:r>
                        <a:rPr lang="en-US" dirty="0"/>
                        <a:t>2026</a:t>
                      </a:r>
                    </a:p>
                  </a:txBody>
                  <a:tcPr/>
                </a:tc>
                <a:tc>
                  <a:txBody>
                    <a:bodyPr/>
                    <a:lstStyle/>
                    <a:p>
                      <a:pPr algn="ctr">
                        <a:buNone/>
                      </a:pPr>
                      <a:r>
                        <a:rPr lang="en-US" sz="1800" dirty="0">
                          <a:solidFill>
                            <a:srgbClr val="000000"/>
                          </a:solidFill>
                          <a:effectLst/>
                          <a:latin typeface="+mn-lt"/>
                        </a:rPr>
                        <a:t>0.286</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0.331</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0.409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0.742</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0.425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0.331</a:t>
                      </a:r>
                      <a:endParaRPr lang="en-US" sz="1800" dirty="0">
                        <a:effectLst/>
                        <a:latin typeface="+mn-lt"/>
                      </a:endParaRPr>
                    </a:p>
                  </a:txBody>
                  <a:tcPr marL="38100" marR="38100" marT="38100" marB="38100"/>
                </a:tc>
                <a:extLst>
                  <a:ext uri="{0D108BD9-81ED-4DB2-BD59-A6C34878D82A}">
                    <a16:rowId xmlns:a16="http://schemas.microsoft.com/office/drawing/2014/main" val="4293680123"/>
                  </a:ext>
                </a:extLst>
              </a:tr>
              <a:tr h="370840">
                <a:tc>
                  <a:txBody>
                    <a:bodyPr/>
                    <a:lstStyle/>
                    <a:p>
                      <a:pPr algn="ctr"/>
                      <a:r>
                        <a:rPr lang="en-US" dirty="0"/>
                        <a:t>2027</a:t>
                      </a:r>
                    </a:p>
                  </a:txBody>
                  <a:tcPr/>
                </a:tc>
                <a:tc>
                  <a:txBody>
                    <a:bodyPr/>
                    <a:lstStyle/>
                    <a:p>
                      <a:pPr algn="ctr">
                        <a:buNone/>
                      </a:pPr>
                      <a:r>
                        <a:rPr lang="en-US" sz="1800" dirty="0">
                          <a:solidFill>
                            <a:srgbClr val="000000"/>
                          </a:solidFill>
                          <a:effectLst/>
                          <a:latin typeface="+mn-lt"/>
                        </a:rPr>
                        <a:t>0.286</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0.331</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0.410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0.740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0.424</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0.331</a:t>
                      </a:r>
                      <a:endParaRPr lang="en-US" sz="1800" dirty="0">
                        <a:effectLst/>
                        <a:latin typeface="+mn-lt"/>
                      </a:endParaRPr>
                    </a:p>
                  </a:txBody>
                  <a:tcPr marL="38100" marR="38100" marT="38100" marB="38100"/>
                </a:tc>
                <a:extLst>
                  <a:ext uri="{0D108BD9-81ED-4DB2-BD59-A6C34878D82A}">
                    <a16:rowId xmlns:a16="http://schemas.microsoft.com/office/drawing/2014/main" val="1643148760"/>
                  </a:ext>
                </a:extLst>
              </a:tr>
              <a:tr h="370840">
                <a:tc>
                  <a:txBody>
                    <a:bodyPr/>
                    <a:lstStyle/>
                    <a:p>
                      <a:pPr algn="ctr"/>
                      <a:r>
                        <a:rPr lang="en-US" dirty="0"/>
                        <a:t>2028</a:t>
                      </a:r>
                    </a:p>
                  </a:txBody>
                  <a:tcPr/>
                </a:tc>
                <a:tc>
                  <a:txBody>
                    <a:bodyPr/>
                    <a:lstStyle/>
                    <a:p>
                      <a:pPr algn="ctr">
                        <a:buNone/>
                      </a:pPr>
                      <a:r>
                        <a:rPr lang="en-US" sz="1800" dirty="0">
                          <a:solidFill>
                            <a:srgbClr val="000000"/>
                          </a:solidFill>
                          <a:effectLst/>
                          <a:latin typeface="+mn-lt"/>
                        </a:rPr>
                        <a:t>0.285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0.409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0.741</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0.425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0.330</a:t>
                      </a:r>
                      <a:endParaRPr lang="en-US" sz="1800" dirty="0">
                        <a:effectLst/>
                        <a:latin typeface="+mn-lt"/>
                      </a:endParaRPr>
                    </a:p>
                  </a:txBody>
                  <a:tcPr marL="38100" marR="38100" marT="38100" marB="38100"/>
                </a:tc>
                <a:extLst>
                  <a:ext uri="{0D108BD9-81ED-4DB2-BD59-A6C34878D82A}">
                    <a16:rowId xmlns:a16="http://schemas.microsoft.com/office/drawing/2014/main" val="16692748"/>
                  </a:ext>
                </a:extLst>
              </a:tr>
              <a:tr h="370840">
                <a:tc>
                  <a:txBody>
                    <a:bodyPr/>
                    <a:lstStyle/>
                    <a:p>
                      <a:pPr algn="ctr"/>
                      <a:r>
                        <a:rPr lang="en-US" dirty="0"/>
                        <a:t>2029</a:t>
                      </a:r>
                    </a:p>
                  </a:txBody>
                  <a:tcPr/>
                </a:tc>
                <a:tc>
                  <a:txBody>
                    <a:bodyPr/>
                    <a:lstStyle/>
                    <a:p>
                      <a:pPr algn="ctr">
                        <a:buNone/>
                      </a:pPr>
                      <a:r>
                        <a:rPr lang="en-US" sz="1800" dirty="0">
                          <a:solidFill>
                            <a:srgbClr val="000000"/>
                          </a:solidFill>
                          <a:effectLst/>
                          <a:latin typeface="+mn-lt"/>
                        </a:rPr>
                        <a:t>0.285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0.409</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0.738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0.424</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0.331</a:t>
                      </a:r>
                      <a:endParaRPr lang="en-US" sz="1800" dirty="0">
                        <a:effectLst/>
                        <a:latin typeface="+mn-lt"/>
                      </a:endParaRPr>
                    </a:p>
                  </a:txBody>
                  <a:tcPr marL="38100" marR="38100" marT="38100" marB="38100"/>
                </a:tc>
                <a:extLst>
                  <a:ext uri="{0D108BD9-81ED-4DB2-BD59-A6C34878D82A}">
                    <a16:rowId xmlns:a16="http://schemas.microsoft.com/office/drawing/2014/main" val="1540997284"/>
                  </a:ext>
                </a:extLst>
              </a:tr>
              <a:tr h="370840">
                <a:tc>
                  <a:txBody>
                    <a:bodyPr/>
                    <a:lstStyle/>
                    <a:p>
                      <a:pPr algn="ctr"/>
                      <a:r>
                        <a:rPr lang="en-US" dirty="0"/>
                        <a:t>2030</a:t>
                      </a:r>
                    </a:p>
                  </a:txBody>
                  <a:tcPr/>
                </a:tc>
                <a:tc>
                  <a:txBody>
                    <a:bodyPr/>
                    <a:lstStyle/>
                    <a:p>
                      <a:pPr algn="ctr">
                        <a:buNone/>
                      </a:pPr>
                      <a:r>
                        <a:rPr lang="en-US" sz="1800" dirty="0">
                          <a:solidFill>
                            <a:srgbClr val="000000"/>
                          </a:solidFill>
                          <a:effectLst/>
                          <a:latin typeface="+mn-lt"/>
                        </a:rPr>
                        <a:t>0.285</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0.408</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0.740</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0.424</a:t>
                      </a:r>
                      <a:endParaRPr lang="en-US" sz="1800" dirty="0">
                        <a:effectLst/>
                        <a:latin typeface="+mn-lt"/>
                      </a:endParaRPr>
                    </a:p>
                  </a:txBody>
                  <a:tcPr marL="38100" marR="38100" marT="38100" marB="38100"/>
                </a:tc>
                <a:tc>
                  <a:txBody>
                    <a:bodyPr/>
                    <a:lstStyle/>
                    <a:p>
                      <a:pPr algn="ctr">
                        <a:buNone/>
                      </a:pPr>
                      <a:r>
                        <a:rPr lang="en-US" sz="1800" dirty="0">
                          <a:solidFill>
                            <a:srgbClr val="000000"/>
                          </a:solidFill>
                          <a:effectLst/>
                          <a:latin typeface="+mn-lt"/>
                        </a:rPr>
                        <a:t>0.330</a:t>
                      </a:r>
                      <a:endParaRPr lang="en-US" sz="1800" dirty="0">
                        <a:effectLst/>
                        <a:latin typeface="+mn-lt"/>
                      </a:endParaRPr>
                    </a:p>
                  </a:txBody>
                  <a:tcPr marL="38100" marR="38100" marT="38100" marB="38100"/>
                </a:tc>
                <a:extLst>
                  <a:ext uri="{0D108BD9-81ED-4DB2-BD59-A6C34878D82A}">
                    <a16:rowId xmlns:a16="http://schemas.microsoft.com/office/drawing/2014/main" val="3516516365"/>
                  </a:ext>
                </a:extLst>
              </a:tr>
            </a:tbl>
          </a:graphicData>
        </a:graphic>
      </p:graphicFrame>
      <p:sp>
        <p:nvSpPr>
          <p:cNvPr id="6" name="TextBox 5">
            <a:extLst>
              <a:ext uri="{FF2B5EF4-FFF2-40B4-BE49-F238E27FC236}">
                <a16:creationId xmlns:a16="http://schemas.microsoft.com/office/drawing/2014/main" id="{F8BC33FB-7775-3195-6884-44C22B8C6DE2}"/>
              </a:ext>
            </a:extLst>
          </p:cNvPr>
          <p:cNvSpPr txBox="1"/>
          <p:nvPr/>
        </p:nvSpPr>
        <p:spPr>
          <a:xfrm>
            <a:off x="1356155" y="4484927"/>
            <a:ext cx="10259196" cy="1200329"/>
          </a:xfrm>
          <a:prstGeom prst="rect">
            <a:avLst/>
          </a:prstGeom>
          <a:noFill/>
        </p:spPr>
        <p:txBody>
          <a:bodyPr wrap="square">
            <a:spAutoFit/>
          </a:bodyPr>
          <a:lstStyle/>
          <a:p>
            <a:pPr marL="285750" indent="-285750">
              <a:buFont typeface="Arial" panose="020B0604020202020204" pitchFamily="34" charset="0"/>
              <a:buChar char="•"/>
            </a:pPr>
            <a:r>
              <a:rPr lang="en-US" b="1" dirty="0"/>
              <a:t>Consistency (2026-2029): </a:t>
            </a:r>
            <a:r>
              <a:rPr lang="en-US" dirty="0"/>
              <a:t>Stats relatively do not change significantly over the next 5 seasons. Consistent power and expected metrics.  </a:t>
            </a:r>
            <a:endParaRPr lang="en-US" b="1" dirty="0"/>
          </a:p>
          <a:p>
            <a:pPr marL="285750" indent="-285750">
              <a:buFont typeface="Arial" panose="020B0604020202020204" pitchFamily="34" charset="0"/>
              <a:buChar char="•"/>
            </a:pPr>
            <a:r>
              <a:rPr lang="en-US" b="1" dirty="0"/>
              <a:t>Optimism (2030+): </a:t>
            </a:r>
            <a:r>
              <a:rPr lang="en-US" dirty="0"/>
              <a:t>Stats in 2030 are very similar to those in 2026, indicating his reliability to contribute and be dependable year in and year out for the next 5 seasons.</a:t>
            </a:r>
          </a:p>
        </p:txBody>
      </p:sp>
    </p:spTree>
    <p:extLst>
      <p:ext uri="{BB962C8B-B14F-4D97-AF65-F5344CB8AC3E}">
        <p14:creationId xmlns:p14="http://schemas.microsoft.com/office/powerpoint/2010/main" val="1626207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A955E-2570-69A3-F2B0-6E9FA74008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8608FD-8AF5-B354-EE52-3F66BC2086BD}"/>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Percentile Rankings: OPS</a:t>
            </a:r>
          </a:p>
        </p:txBody>
      </p:sp>
      <p:pic>
        <p:nvPicPr>
          <p:cNvPr id="4" name="Picture 3" descr="A red letter p on a black background&#10;&#10;AI-generated content may be incorrect.">
            <a:extLst>
              <a:ext uri="{FF2B5EF4-FFF2-40B4-BE49-F238E27FC236}">
                <a16:creationId xmlns:a16="http://schemas.microsoft.com/office/drawing/2014/main" id="{0A9BFB54-9F40-6A6F-E247-CD49FAA463F7}"/>
              </a:ext>
            </a:extLst>
          </p:cNvPr>
          <p:cNvPicPr>
            <a:picLocks noChangeAspect="1"/>
          </p:cNvPicPr>
          <p:nvPr/>
        </p:nvPicPr>
        <p:blipFill>
          <a:blip r:embed="rId2"/>
          <a:stretch>
            <a:fillRect/>
          </a:stretch>
        </p:blipFill>
        <p:spPr>
          <a:xfrm>
            <a:off x="11485605" y="6151605"/>
            <a:ext cx="706395" cy="706395"/>
          </a:xfrm>
          <a:prstGeom prst="rect">
            <a:avLst/>
          </a:prstGeom>
        </p:spPr>
      </p:pic>
      <p:sp>
        <p:nvSpPr>
          <p:cNvPr id="8" name="TextBox 7">
            <a:extLst>
              <a:ext uri="{FF2B5EF4-FFF2-40B4-BE49-F238E27FC236}">
                <a16:creationId xmlns:a16="http://schemas.microsoft.com/office/drawing/2014/main" id="{3C5EAEA7-7CEB-EC8E-F297-C78587BC2218}"/>
              </a:ext>
            </a:extLst>
          </p:cNvPr>
          <p:cNvSpPr txBox="1"/>
          <p:nvPr/>
        </p:nvSpPr>
        <p:spPr>
          <a:xfrm>
            <a:off x="496389" y="5353443"/>
            <a:ext cx="10593977" cy="1200329"/>
          </a:xfrm>
          <a:prstGeom prst="rect">
            <a:avLst/>
          </a:prstGeom>
          <a:noFill/>
        </p:spPr>
        <p:txBody>
          <a:bodyPr wrap="square">
            <a:spAutoFit/>
          </a:bodyPr>
          <a:lstStyle/>
          <a:p>
            <a:pPr marL="285750" indent="-285750">
              <a:buFont typeface="Arial" panose="020B0604020202020204" pitchFamily="34" charset="0"/>
              <a:buChar char="•"/>
            </a:pPr>
            <a:r>
              <a:rPr lang="en-US" b="1" dirty="0"/>
              <a:t>Harper and Schwarber are High Contributors: </a:t>
            </a:r>
            <a:r>
              <a:rPr lang="en-US" dirty="0"/>
              <a:t>Harper, Turner, and Schwarber are both projected to be ranked among the best in the MLB in terms of OPS in the MLB until 2028. </a:t>
            </a:r>
          </a:p>
          <a:p>
            <a:pPr marL="285750" indent="-285750">
              <a:buFont typeface="Arial" panose="020B0604020202020204" pitchFamily="34" charset="0"/>
              <a:buChar char="•"/>
            </a:pPr>
            <a:r>
              <a:rPr lang="en-US" b="1" dirty="0"/>
              <a:t>Stability: </a:t>
            </a:r>
            <a:r>
              <a:rPr lang="en-US" dirty="0"/>
              <a:t>Bohm remains consistent throughout the next 5 years with slightly below average OPS numbers.   </a:t>
            </a:r>
            <a:r>
              <a:rPr lang="en-US" b="1" dirty="0"/>
              <a:t> </a:t>
            </a:r>
          </a:p>
        </p:txBody>
      </p:sp>
      <p:pic>
        <p:nvPicPr>
          <p:cNvPr id="10" name="Picture 9" descr="A graph of different colored lines&#10;&#10;AI-generated content may be incorrect.">
            <a:extLst>
              <a:ext uri="{FF2B5EF4-FFF2-40B4-BE49-F238E27FC236}">
                <a16:creationId xmlns:a16="http://schemas.microsoft.com/office/drawing/2014/main" id="{8CC8A0E7-EF0E-C382-2244-257E6DFA4A83}"/>
              </a:ext>
            </a:extLst>
          </p:cNvPr>
          <p:cNvPicPr>
            <a:picLocks noChangeAspect="1"/>
          </p:cNvPicPr>
          <p:nvPr/>
        </p:nvPicPr>
        <p:blipFill>
          <a:blip r:embed="rId3"/>
          <a:stretch>
            <a:fillRect/>
          </a:stretch>
        </p:blipFill>
        <p:spPr>
          <a:xfrm>
            <a:off x="2143254" y="1244749"/>
            <a:ext cx="7024812" cy="4110441"/>
          </a:xfrm>
          <a:prstGeom prst="rect">
            <a:avLst/>
          </a:prstGeom>
        </p:spPr>
      </p:pic>
    </p:spTree>
    <p:extLst>
      <p:ext uri="{BB962C8B-B14F-4D97-AF65-F5344CB8AC3E}">
        <p14:creationId xmlns:p14="http://schemas.microsoft.com/office/powerpoint/2010/main" val="3051730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CC07-E01B-4162-A44B-CE38071C8D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C28C72-01DB-26F3-12AE-A4E009FC9C18}"/>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Percentile Rankings: xSLG</a:t>
            </a:r>
          </a:p>
        </p:txBody>
      </p:sp>
      <p:pic>
        <p:nvPicPr>
          <p:cNvPr id="4" name="Picture 3" descr="A red letter p on a black background&#10;&#10;AI-generated content may be incorrect.">
            <a:extLst>
              <a:ext uri="{FF2B5EF4-FFF2-40B4-BE49-F238E27FC236}">
                <a16:creationId xmlns:a16="http://schemas.microsoft.com/office/drawing/2014/main" id="{B347F424-1A5C-70C5-13CC-F614E6A2106B}"/>
              </a:ext>
            </a:extLst>
          </p:cNvPr>
          <p:cNvPicPr>
            <a:picLocks noChangeAspect="1"/>
          </p:cNvPicPr>
          <p:nvPr/>
        </p:nvPicPr>
        <p:blipFill>
          <a:blip r:embed="rId2"/>
          <a:stretch>
            <a:fillRect/>
          </a:stretch>
        </p:blipFill>
        <p:spPr>
          <a:xfrm>
            <a:off x="11485605" y="6151605"/>
            <a:ext cx="706395" cy="706395"/>
          </a:xfrm>
          <a:prstGeom prst="rect">
            <a:avLst/>
          </a:prstGeom>
        </p:spPr>
      </p:pic>
      <p:sp>
        <p:nvSpPr>
          <p:cNvPr id="9" name="TextBox 8">
            <a:extLst>
              <a:ext uri="{FF2B5EF4-FFF2-40B4-BE49-F238E27FC236}">
                <a16:creationId xmlns:a16="http://schemas.microsoft.com/office/drawing/2014/main" id="{B035DC72-ABC1-B22A-FBE8-13376F0755DC}"/>
              </a:ext>
            </a:extLst>
          </p:cNvPr>
          <p:cNvSpPr txBox="1"/>
          <p:nvPr/>
        </p:nvSpPr>
        <p:spPr>
          <a:xfrm>
            <a:off x="842553" y="5373505"/>
            <a:ext cx="10130247" cy="1477328"/>
          </a:xfrm>
          <a:prstGeom prst="rect">
            <a:avLst/>
          </a:prstGeom>
          <a:noFill/>
        </p:spPr>
        <p:txBody>
          <a:bodyPr wrap="square">
            <a:spAutoFit/>
          </a:bodyPr>
          <a:lstStyle/>
          <a:p>
            <a:pPr marL="285750" indent="-285750">
              <a:buFont typeface="Arial" panose="020B0604020202020204" pitchFamily="34" charset="0"/>
              <a:buChar char="•"/>
            </a:pPr>
            <a:r>
              <a:rPr lang="en-US" b="1" dirty="0"/>
              <a:t>Harper and Schwarber are High Contributors Again: </a:t>
            </a:r>
            <a:r>
              <a:rPr lang="en-US" dirty="0"/>
              <a:t>Harper and Schwarber are both projected to be ranked among the best in the MLB in terms of xSLG in the MLB until 2029/2030, representing their consistent power ability. </a:t>
            </a:r>
          </a:p>
          <a:p>
            <a:pPr marL="285750" indent="-285750">
              <a:buFont typeface="Arial" panose="020B0604020202020204" pitchFamily="34" charset="0"/>
              <a:buChar char="•"/>
            </a:pPr>
            <a:r>
              <a:rPr lang="en-US" b="1" dirty="0"/>
              <a:t>Decline from Realmuto and Turner: </a:t>
            </a:r>
            <a:r>
              <a:rPr lang="en-US" dirty="0"/>
              <a:t>J.T. Realmuto and Trea Turner are projected to have a significant decline from 2026-2030 with their power and ability to slug.</a:t>
            </a:r>
            <a:endParaRPr lang="en-US" b="1" dirty="0"/>
          </a:p>
        </p:txBody>
      </p:sp>
      <p:pic>
        <p:nvPicPr>
          <p:cNvPr id="11" name="Picture 10" descr="A graph with different colored lines&#10;&#10;AI-generated content may be incorrect.">
            <a:extLst>
              <a:ext uri="{FF2B5EF4-FFF2-40B4-BE49-F238E27FC236}">
                <a16:creationId xmlns:a16="http://schemas.microsoft.com/office/drawing/2014/main" id="{F02A9B6B-8F39-5321-7950-9EF0B908C706}"/>
              </a:ext>
            </a:extLst>
          </p:cNvPr>
          <p:cNvPicPr>
            <a:picLocks noChangeAspect="1"/>
          </p:cNvPicPr>
          <p:nvPr/>
        </p:nvPicPr>
        <p:blipFill>
          <a:blip r:embed="rId3"/>
          <a:stretch>
            <a:fillRect/>
          </a:stretch>
        </p:blipFill>
        <p:spPr>
          <a:xfrm>
            <a:off x="2285999" y="1293618"/>
            <a:ext cx="6805386" cy="4079887"/>
          </a:xfrm>
          <a:prstGeom prst="rect">
            <a:avLst/>
          </a:prstGeom>
        </p:spPr>
      </p:pic>
    </p:spTree>
    <p:extLst>
      <p:ext uri="{BB962C8B-B14F-4D97-AF65-F5344CB8AC3E}">
        <p14:creationId xmlns:p14="http://schemas.microsoft.com/office/powerpoint/2010/main" val="3040085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7F98-8ABD-5E20-FA24-34AD1D6551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2EDB9A-42E8-0355-B8B6-456C231E3501}"/>
              </a:ext>
            </a:extLst>
          </p:cNvPr>
          <p:cNvSpPr txBox="1"/>
          <p:nvPr/>
        </p:nvSpPr>
        <p:spPr>
          <a:xfrm>
            <a:off x="0" y="0"/>
            <a:ext cx="12192000" cy="1246495"/>
          </a:xfrm>
          <a:prstGeom prst="rect">
            <a:avLst/>
          </a:prstGeom>
          <a:solidFill>
            <a:srgbClr val="F81C00"/>
          </a:solidFill>
        </p:spPr>
        <p:txBody>
          <a:bodyPr wrap="square" rtlCol="0">
            <a:spAutoFit/>
          </a:bodyPr>
          <a:lstStyle/>
          <a:p>
            <a:pPr algn="ctr"/>
            <a:r>
              <a:rPr lang="en-US" sz="7500" dirty="0">
                <a:solidFill>
                  <a:schemeClr val="bg1"/>
                </a:solidFill>
                <a:latin typeface="Tw Cen MT" panose="020B0602020104020603" pitchFamily="34" charset="77"/>
              </a:rPr>
              <a:t>Percentile Rankings: xwOBA</a:t>
            </a:r>
          </a:p>
        </p:txBody>
      </p:sp>
      <p:pic>
        <p:nvPicPr>
          <p:cNvPr id="4" name="Picture 3" descr="A red letter p on a black background&#10;&#10;AI-generated content may be incorrect.">
            <a:extLst>
              <a:ext uri="{FF2B5EF4-FFF2-40B4-BE49-F238E27FC236}">
                <a16:creationId xmlns:a16="http://schemas.microsoft.com/office/drawing/2014/main" id="{9E740E29-D2A3-18F9-322B-6153A4FB7567}"/>
              </a:ext>
            </a:extLst>
          </p:cNvPr>
          <p:cNvPicPr>
            <a:picLocks noChangeAspect="1"/>
          </p:cNvPicPr>
          <p:nvPr/>
        </p:nvPicPr>
        <p:blipFill>
          <a:blip r:embed="rId2"/>
          <a:stretch>
            <a:fillRect/>
          </a:stretch>
        </p:blipFill>
        <p:spPr>
          <a:xfrm>
            <a:off x="11485605" y="6151605"/>
            <a:ext cx="706395" cy="706395"/>
          </a:xfrm>
          <a:prstGeom prst="rect">
            <a:avLst/>
          </a:prstGeom>
        </p:spPr>
      </p:pic>
      <p:sp>
        <p:nvSpPr>
          <p:cNvPr id="8" name="TextBox 7">
            <a:extLst>
              <a:ext uri="{FF2B5EF4-FFF2-40B4-BE49-F238E27FC236}">
                <a16:creationId xmlns:a16="http://schemas.microsoft.com/office/drawing/2014/main" id="{59E55EEF-78EC-7CB4-2C28-F974CCDD0CCA}"/>
              </a:ext>
            </a:extLst>
          </p:cNvPr>
          <p:cNvSpPr txBox="1"/>
          <p:nvPr/>
        </p:nvSpPr>
        <p:spPr>
          <a:xfrm>
            <a:off x="483326" y="5348403"/>
            <a:ext cx="10345783" cy="1477328"/>
          </a:xfrm>
          <a:prstGeom prst="rect">
            <a:avLst/>
          </a:prstGeom>
          <a:noFill/>
        </p:spPr>
        <p:txBody>
          <a:bodyPr wrap="square">
            <a:spAutoFit/>
          </a:bodyPr>
          <a:lstStyle/>
          <a:p>
            <a:pPr marL="285750" indent="-285750">
              <a:buFont typeface="Arial" panose="020B0604020202020204" pitchFamily="34" charset="0"/>
              <a:buChar char="•"/>
            </a:pPr>
            <a:r>
              <a:rPr lang="en-US" b="1" dirty="0"/>
              <a:t>Harper and Schwarber Show High Consistency: </a:t>
            </a:r>
            <a:r>
              <a:rPr lang="en-US" dirty="0"/>
              <a:t>Harper and Schwarber are both projected again to be among the best in the MLB in xwOBA, demonstrating their consistent power and contact ability for years to come.</a:t>
            </a:r>
          </a:p>
          <a:p>
            <a:pPr marL="285750" indent="-285750">
              <a:buFont typeface="Arial" panose="020B0604020202020204" pitchFamily="34" charset="0"/>
              <a:buChar char="•"/>
            </a:pPr>
            <a:r>
              <a:rPr lang="en-US" b="1" dirty="0"/>
              <a:t>Decline from Realmuto and Turner: </a:t>
            </a:r>
            <a:r>
              <a:rPr lang="en-US" dirty="0"/>
              <a:t>J.T. Realmuto and Trea Turner are projected to have a significant decline from 2026-2030 with their power and contact.</a:t>
            </a:r>
            <a:endParaRPr lang="en-US" b="1" dirty="0"/>
          </a:p>
        </p:txBody>
      </p:sp>
      <p:pic>
        <p:nvPicPr>
          <p:cNvPr id="10" name="Picture 9" descr="A graph of different colored lines&#10;&#10;AI-generated content may be incorrect.">
            <a:extLst>
              <a:ext uri="{FF2B5EF4-FFF2-40B4-BE49-F238E27FC236}">
                <a16:creationId xmlns:a16="http://schemas.microsoft.com/office/drawing/2014/main" id="{4ED044AD-DEA8-EFC9-D7AD-83024338C308}"/>
              </a:ext>
            </a:extLst>
          </p:cNvPr>
          <p:cNvPicPr>
            <a:picLocks noChangeAspect="1"/>
          </p:cNvPicPr>
          <p:nvPr/>
        </p:nvPicPr>
        <p:blipFill>
          <a:blip r:embed="rId3"/>
          <a:stretch>
            <a:fillRect/>
          </a:stretch>
        </p:blipFill>
        <p:spPr>
          <a:xfrm>
            <a:off x="2017122" y="1362740"/>
            <a:ext cx="6839496" cy="3985663"/>
          </a:xfrm>
          <a:prstGeom prst="rect">
            <a:avLst/>
          </a:prstGeom>
        </p:spPr>
      </p:pic>
    </p:spTree>
    <p:extLst>
      <p:ext uri="{BB962C8B-B14F-4D97-AF65-F5344CB8AC3E}">
        <p14:creationId xmlns:p14="http://schemas.microsoft.com/office/powerpoint/2010/main" val="181144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8674-AFCC-ED44-11B1-72926AD087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4F1DB2-FFB1-2AD7-10A0-2C4E32C86FCC}"/>
              </a:ext>
            </a:extLst>
          </p:cNvPr>
          <p:cNvSpPr txBox="1"/>
          <p:nvPr/>
        </p:nvSpPr>
        <p:spPr>
          <a:xfrm>
            <a:off x="0" y="0"/>
            <a:ext cx="12192000" cy="1169551"/>
          </a:xfrm>
          <a:prstGeom prst="rect">
            <a:avLst/>
          </a:prstGeom>
          <a:solidFill>
            <a:srgbClr val="F81C00"/>
          </a:solidFill>
        </p:spPr>
        <p:txBody>
          <a:bodyPr wrap="square" rtlCol="0">
            <a:spAutoFit/>
          </a:bodyPr>
          <a:lstStyle/>
          <a:p>
            <a:pPr algn="ctr"/>
            <a:r>
              <a:rPr lang="en-US" sz="7000" dirty="0">
                <a:solidFill>
                  <a:schemeClr val="bg1"/>
                </a:solidFill>
                <a:latin typeface="Tw Cen MT" panose="020B0602020104020603" pitchFamily="34" charset="77"/>
              </a:rPr>
              <a:t>Summary &amp; Key Takeaways</a:t>
            </a:r>
          </a:p>
        </p:txBody>
      </p:sp>
      <p:pic>
        <p:nvPicPr>
          <p:cNvPr id="4" name="Picture 3" descr="A red letter p on a black background&#10;&#10;AI-generated content may be incorrect.">
            <a:extLst>
              <a:ext uri="{FF2B5EF4-FFF2-40B4-BE49-F238E27FC236}">
                <a16:creationId xmlns:a16="http://schemas.microsoft.com/office/drawing/2014/main" id="{6B76234E-ACF1-DD6D-D64B-6516C4738FC4}"/>
              </a:ext>
            </a:extLst>
          </p:cNvPr>
          <p:cNvPicPr>
            <a:picLocks noChangeAspect="1"/>
          </p:cNvPicPr>
          <p:nvPr/>
        </p:nvPicPr>
        <p:blipFill>
          <a:blip r:embed="rId3"/>
          <a:stretch>
            <a:fillRect/>
          </a:stretch>
        </p:blipFill>
        <p:spPr>
          <a:xfrm>
            <a:off x="11485605" y="6151605"/>
            <a:ext cx="706395" cy="706395"/>
          </a:xfrm>
          <a:prstGeom prst="rect">
            <a:avLst/>
          </a:prstGeom>
        </p:spPr>
      </p:pic>
      <p:sp>
        <p:nvSpPr>
          <p:cNvPr id="5" name="TextBox 4">
            <a:extLst>
              <a:ext uri="{FF2B5EF4-FFF2-40B4-BE49-F238E27FC236}">
                <a16:creationId xmlns:a16="http://schemas.microsoft.com/office/drawing/2014/main" id="{CB5E24A7-0A82-3AD9-5B84-DBC0A28CADA2}"/>
              </a:ext>
            </a:extLst>
          </p:cNvPr>
          <p:cNvSpPr txBox="1"/>
          <p:nvPr/>
        </p:nvSpPr>
        <p:spPr>
          <a:xfrm>
            <a:off x="117566" y="1063615"/>
            <a:ext cx="12074434" cy="6155531"/>
          </a:xfrm>
          <a:prstGeom prst="rect">
            <a:avLst/>
          </a:prstGeom>
          <a:noFill/>
        </p:spPr>
        <p:txBody>
          <a:bodyPr wrap="square">
            <a:spAutoFit/>
          </a:bodyPr>
          <a:lstStyle/>
          <a:p>
            <a:pPr>
              <a:buNone/>
            </a:pPr>
            <a:r>
              <a:rPr lang="en-US" b="1" u="sng" dirty="0">
                <a:solidFill>
                  <a:srgbClr val="000000"/>
                </a:solidFill>
                <a:effectLst/>
                <a:latin typeface="Tw Cen MT" panose="020B0602020104020603" pitchFamily="34" charset="77"/>
              </a:rPr>
              <a:t>Summary: </a:t>
            </a:r>
          </a:p>
          <a:p>
            <a:pPr marL="285750" indent="-285750">
              <a:buFont typeface="Arial" panose="020B0604020202020204" pitchFamily="34" charset="0"/>
              <a:buChar char="•"/>
            </a:pPr>
            <a:r>
              <a:rPr lang="en-US" sz="1700" dirty="0">
                <a:solidFill>
                  <a:srgbClr val="000000"/>
                </a:solidFill>
                <a:effectLst/>
                <a:latin typeface="Tw Cen MT" panose="020B0602020104020603" pitchFamily="34" charset="77"/>
              </a:rPr>
              <a:t>Advanced metrics and age were used by a multioutput regression model to project offensive performance for MLB players during the </a:t>
            </a:r>
            <a:r>
              <a:rPr lang="en-US" sz="1700" dirty="0">
                <a:solidFill>
                  <a:srgbClr val="000000"/>
                </a:solidFill>
                <a:latin typeface="Tw Cen MT" panose="020B0602020104020603" pitchFamily="34" charset="77"/>
              </a:rPr>
              <a:t>next five seasons. I specifically filtered and looked at certain Phillies, such as Bryce Harper, Kyle Schwarber, J.T. Realmuto, Alec Bohm, and Trea Turner.</a:t>
            </a:r>
          </a:p>
          <a:p>
            <a:pPr marL="285750" indent="-285750">
              <a:buFont typeface="Arial" panose="020B0604020202020204" pitchFamily="34" charset="0"/>
              <a:buChar char="•"/>
            </a:pPr>
            <a:r>
              <a:rPr lang="en-US" sz="1700" dirty="0">
                <a:solidFill>
                  <a:srgbClr val="000000"/>
                </a:solidFill>
                <a:effectLst/>
                <a:latin typeface="Tw Cen MT" panose="020B0602020104020603" pitchFamily="34" charset="77"/>
              </a:rPr>
              <a:t>To generate 99% confidence intervals for each player</a:t>
            </a:r>
            <a:r>
              <a:rPr lang="en-US" sz="1700" dirty="0">
                <a:solidFill>
                  <a:srgbClr val="000000"/>
                </a:solidFill>
                <a:latin typeface="Tw Cen MT" panose="020B0602020104020603" pitchFamily="34" charset="77"/>
              </a:rPr>
              <a:t>’s expected outcomes, Monte Carlo simulations were used. This also brought volatility, age decline, recent player trends, and uncertainty into the player projections.</a:t>
            </a:r>
          </a:p>
          <a:p>
            <a:pPr marL="285750" indent="-285750">
              <a:buFont typeface="Arial" panose="020B0604020202020204" pitchFamily="34" charset="0"/>
              <a:buChar char="•"/>
            </a:pPr>
            <a:r>
              <a:rPr lang="en-US" sz="1700" dirty="0">
                <a:solidFill>
                  <a:srgbClr val="000000"/>
                </a:solidFill>
                <a:latin typeface="Tw Cen MT" panose="020B0602020104020603" pitchFamily="34" charset="77"/>
              </a:rPr>
              <a:t>The player projections and statistics were compared and benchmarked against all other MLB players using percentiles. This allows us to really put meaning into the projected statistics and assess performance in regards to other MLB players.</a:t>
            </a:r>
          </a:p>
          <a:p>
            <a:pPr>
              <a:buNone/>
            </a:pPr>
            <a:r>
              <a:rPr lang="en-US" b="1" u="sng" dirty="0">
                <a:solidFill>
                  <a:srgbClr val="000000"/>
                </a:solidFill>
                <a:latin typeface="Tw Cen MT" panose="020B0602020104020603" pitchFamily="34" charset="77"/>
              </a:rPr>
              <a:t>Key Takeaways: </a:t>
            </a:r>
          </a:p>
          <a:p>
            <a:pPr marL="285750" indent="-285750">
              <a:buFont typeface="Arial" panose="020B0604020202020204" pitchFamily="34" charset="0"/>
              <a:buChar char="•"/>
            </a:pPr>
            <a:r>
              <a:rPr lang="en-US" sz="1700" i="1" u="sng" dirty="0">
                <a:solidFill>
                  <a:srgbClr val="000000"/>
                </a:solidFill>
                <a:latin typeface="Tw Cen MT" panose="020B0602020104020603" pitchFamily="34" charset="77"/>
              </a:rPr>
              <a:t>Aging Curve</a:t>
            </a:r>
            <a:r>
              <a:rPr lang="en-US" sz="1700" i="1" dirty="0">
                <a:solidFill>
                  <a:srgbClr val="000000"/>
                </a:solidFill>
                <a:latin typeface="Tw Cen MT" panose="020B0602020104020603" pitchFamily="34" charset="77"/>
              </a:rPr>
              <a:t>: </a:t>
            </a:r>
            <a:r>
              <a:rPr lang="en-US" sz="1700" dirty="0">
                <a:solidFill>
                  <a:srgbClr val="000000"/>
                </a:solidFill>
                <a:latin typeface="Tw Cen MT" panose="020B0602020104020603" pitchFamily="34" charset="77"/>
              </a:rPr>
              <a:t>Veteran players, such as Bryce Harper, Kyle Schwarber, Trea Turner, and J.T. Realmuto, all show signs of decline in terms of power and contact capability towards the end of 2028-2030.</a:t>
            </a:r>
          </a:p>
          <a:p>
            <a:pPr marL="285750" indent="-285750">
              <a:buFont typeface="Arial" panose="020B0604020202020204" pitchFamily="34" charset="0"/>
              <a:buChar char="•"/>
            </a:pPr>
            <a:r>
              <a:rPr lang="en-US" sz="1700" u="sng" dirty="0">
                <a:solidFill>
                  <a:srgbClr val="000000"/>
                </a:solidFill>
                <a:latin typeface="Tw Cen MT" panose="020B0602020104020603" pitchFamily="34" charset="77"/>
              </a:rPr>
              <a:t>Consistency with Low Projected Growth: </a:t>
            </a:r>
            <a:r>
              <a:rPr lang="en-US" sz="1700" dirty="0">
                <a:solidFill>
                  <a:srgbClr val="000000"/>
                </a:solidFill>
                <a:latin typeface="Tw Cen MT" panose="020B0602020104020603" pitchFamily="34" charset="77"/>
              </a:rPr>
              <a:t>Alec Bohm is projected to remain consistent over the next couple of years, but shows limited growth and breakout potential if no major mechanical changes are made in the future. </a:t>
            </a:r>
          </a:p>
          <a:p>
            <a:pPr marL="285750" indent="-285750">
              <a:buFont typeface="Arial" panose="020B0604020202020204" pitchFamily="34" charset="0"/>
              <a:buChar char="•"/>
            </a:pPr>
            <a:r>
              <a:rPr lang="en-US" sz="1700" i="1" u="sng" dirty="0">
                <a:solidFill>
                  <a:srgbClr val="000000"/>
                </a:solidFill>
                <a:latin typeface="Tw Cen MT" panose="020B0602020104020603" pitchFamily="34" charset="77"/>
              </a:rPr>
              <a:t>Offensive Window Close to Closing with this Core: </a:t>
            </a:r>
            <a:r>
              <a:rPr lang="en-US" sz="1700" dirty="0">
                <a:solidFill>
                  <a:srgbClr val="000000"/>
                </a:solidFill>
                <a:latin typeface="Tw Cen MT" panose="020B0602020104020603" pitchFamily="34" charset="77"/>
              </a:rPr>
              <a:t>The model indicates that the Phillies core still can peak with these players until 2027-2028. It might be in the best interest for the Phillies to acquire, draft, or develop younger high-impactful players who can make up for the projected decline of some of its current players in the years to come. </a:t>
            </a:r>
          </a:p>
          <a:p>
            <a:r>
              <a:rPr lang="en-US" b="1" u="sng" dirty="0">
                <a:solidFill>
                  <a:srgbClr val="000000"/>
                </a:solidFill>
                <a:latin typeface="Tw Cen MT" panose="020B0602020104020603" pitchFamily="34" charset="77"/>
              </a:rPr>
              <a:t>Next Steps: </a:t>
            </a:r>
          </a:p>
          <a:p>
            <a:pPr marL="285750" indent="-285750">
              <a:buFont typeface="Arial" panose="020B0604020202020204" pitchFamily="34" charset="0"/>
              <a:buChar char="•"/>
            </a:pPr>
            <a:r>
              <a:rPr lang="en-US" sz="1700" dirty="0">
                <a:solidFill>
                  <a:srgbClr val="000000"/>
                </a:solidFill>
                <a:latin typeface="Tw Cen MT" panose="020B0602020104020603" pitchFamily="34" charset="77"/>
              </a:rPr>
              <a:t>Please keep in mind that this project only looks at the offensive output of the players and did not factor defensive play. If it did so, we would expect the overall projections of J.T. Realmuto and Bryce Harper to improve as they are some of the best defensive players in the MLB. </a:t>
            </a:r>
          </a:p>
          <a:p>
            <a:pPr marL="285750" indent="-285750">
              <a:buFont typeface="Arial" panose="020B0604020202020204" pitchFamily="34" charset="0"/>
              <a:buChar char="•"/>
            </a:pPr>
            <a:r>
              <a:rPr lang="en-US" sz="1700" dirty="0">
                <a:solidFill>
                  <a:srgbClr val="000000"/>
                </a:solidFill>
                <a:latin typeface="Tw Cen MT" panose="020B0602020104020603" pitchFamily="34" charset="77"/>
              </a:rPr>
              <a:t>Incorporate WAR, stadium environments, defensive output, and lineup-level statistics to continue assessing player value and </a:t>
            </a:r>
          </a:p>
          <a:p>
            <a:r>
              <a:rPr lang="en-US" sz="1700" dirty="0">
                <a:solidFill>
                  <a:srgbClr val="000000"/>
                </a:solidFill>
                <a:latin typeface="Tw Cen MT" panose="020B0602020104020603" pitchFamily="34" charset="77"/>
              </a:rPr>
              <a:t>     improving the model in the future.</a:t>
            </a:r>
          </a:p>
          <a:p>
            <a:pPr marL="285750" indent="-285750">
              <a:buFont typeface="Arial" panose="020B0604020202020204" pitchFamily="34" charset="0"/>
              <a:buChar char="•"/>
            </a:pPr>
            <a:endParaRPr lang="en-US" sz="1700" dirty="0">
              <a:solidFill>
                <a:srgbClr val="000000"/>
              </a:solidFill>
              <a:latin typeface="Tw Cen MT" panose="020B0602020104020603" pitchFamily="34" charset="77"/>
            </a:endParaRPr>
          </a:p>
        </p:txBody>
      </p:sp>
    </p:spTree>
    <p:extLst>
      <p:ext uri="{BB962C8B-B14F-4D97-AF65-F5344CB8AC3E}">
        <p14:creationId xmlns:p14="http://schemas.microsoft.com/office/powerpoint/2010/main" val="1000604028"/>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1775</TotalTime>
  <Words>2181</Words>
  <Application>Microsoft Macintosh PowerPoint</Application>
  <PresentationFormat>Widescreen</PresentationFormat>
  <Paragraphs>363</Paragraphs>
  <Slides>13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 Light</vt:lpstr>
      <vt:lpstr>Rockwell</vt:lpstr>
      <vt:lpstr>Tw Cen MT</vt:lpstr>
      <vt:lpstr>Wingdings</vt:lpstr>
      <vt:lpstr>Atlas</vt:lpstr>
      <vt:lpstr>Projecting Phillies Stats 2026-2030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Wolfe</dc:creator>
  <cp:lastModifiedBy>Andrew Wolfe</cp:lastModifiedBy>
  <cp:revision>178</cp:revision>
  <dcterms:created xsi:type="dcterms:W3CDTF">2025-10-24T01:43:06Z</dcterms:created>
  <dcterms:modified xsi:type="dcterms:W3CDTF">2025-10-31T02:25:01Z</dcterms:modified>
</cp:coreProperties>
</file>