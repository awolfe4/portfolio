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8" r:id="rId2"/>
    <p:sldId id="257" r:id="rId3"/>
    <p:sldId id="260" r:id="rId4"/>
    <p:sldId id="267" r:id="rId5"/>
    <p:sldId id="26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9E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1497"/>
  </p:normalViewPr>
  <p:slideViewPr>
    <p:cSldViewPr snapToGrid="0">
      <p:cViewPr varScale="1">
        <p:scale>
          <a:sx n="109" d="100"/>
          <a:sy n="109" d="100"/>
        </p:scale>
        <p:origin x="184" y="3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6CC6FA-A6E0-8946-BC63-D0796D589323}" type="datetimeFigureOut">
              <a:rPr lang="en-US" smtClean="0"/>
              <a:t>2/28/26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494FFB-5E3A-7C40-9E97-20C634CEF336}" type="slidenum">
              <a:rPr lang="en-US" smtClean="0"/>
              <a:t>‹#›</a:t>
            </a:fld>
            <a:endParaRPr lang="en-US"/>
          </a:p>
        </p:txBody>
      </p:sp>
    </p:spTree>
    <p:extLst>
      <p:ext uri="{BB962C8B-B14F-4D97-AF65-F5344CB8AC3E}">
        <p14:creationId xmlns:p14="http://schemas.microsoft.com/office/powerpoint/2010/main" val="4008768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494FFB-5E3A-7C40-9E97-20C634CEF336}" type="slidenum">
              <a:rPr lang="en-US" smtClean="0"/>
              <a:t>1</a:t>
            </a:fld>
            <a:endParaRPr lang="en-US"/>
          </a:p>
        </p:txBody>
      </p:sp>
    </p:spTree>
    <p:extLst>
      <p:ext uri="{BB962C8B-B14F-4D97-AF65-F5344CB8AC3E}">
        <p14:creationId xmlns:p14="http://schemas.microsoft.com/office/powerpoint/2010/main" val="3885716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494FFB-5E3A-7C40-9E97-20C634CEF336}" type="slidenum">
              <a:rPr lang="en-US" smtClean="0"/>
              <a:t>2</a:t>
            </a:fld>
            <a:endParaRPr lang="en-US"/>
          </a:p>
        </p:txBody>
      </p:sp>
    </p:spTree>
    <p:extLst>
      <p:ext uri="{BB962C8B-B14F-4D97-AF65-F5344CB8AC3E}">
        <p14:creationId xmlns:p14="http://schemas.microsoft.com/office/powerpoint/2010/main" val="1268095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494FFB-5E3A-7C40-9E97-20C634CEF336}" type="slidenum">
              <a:rPr lang="en-US" smtClean="0"/>
              <a:t>3</a:t>
            </a:fld>
            <a:endParaRPr lang="en-US"/>
          </a:p>
        </p:txBody>
      </p:sp>
    </p:spTree>
    <p:extLst>
      <p:ext uri="{BB962C8B-B14F-4D97-AF65-F5344CB8AC3E}">
        <p14:creationId xmlns:p14="http://schemas.microsoft.com/office/powerpoint/2010/main" val="1391300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92DB0-0B28-9AA2-96D8-6A17E270DE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6A6DBB-8055-A542-9B38-2C9924368E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13AAC8-7179-D31B-551E-2188CE56E848}"/>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DD9B6C7-D9DE-CFD2-214D-0510789C6C55}"/>
              </a:ext>
            </a:extLst>
          </p:cNvPr>
          <p:cNvSpPr>
            <a:spLocks noGrp="1"/>
          </p:cNvSpPr>
          <p:nvPr>
            <p:ph type="sldNum" sz="quarter" idx="5"/>
          </p:nvPr>
        </p:nvSpPr>
        <p:spPr/>
        <p:txBody>
          <a:bodyPr/>
          <a:lstStyle/>
          <a:p>
            <a:fld id="{D0494FFB-5E3A-7C40-9E97-20C634CEF336}" type="slidenum">
              <a:rPr lang="en-US" smtClean="0"/>
              <a:t>4</a:t>
            </a:fld>
            <a:endParaRPr lang="en-US"/>
          </a:p>
        </p:txBody>
      </p:sp>
    </p:spTree>
    <p:extLst>
      <p:ext uri="{BB962C8B-B14F-4D97-AF65-F5344CB8AC3E}">
        <p14:creationId xmlns:p14="http://schemas.microsoft.com/office/powerpoint/2010/main" val="1173668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494FFB-5E3A-7C40-9E97-20C634CEF336}" type="slidenum">
              <a:rPr lang="en-US" smtClean="0"/>
              <a:t>5</a:t>
            </a:fld>
            <a:endParaRPr lang="en-US"/>
          </a:p>
        </p:txBody>
      </p:sp>
    </p:spTree>
    <p:extLst>
      <p:ext uri="{BB962C8B-B14F-4D97-AF65-F5344CB8AC3E}">
        <p14:creationId xmlns:p14="http://schemas.microsoft.com/office/powerpoint/2010/main" val="1311717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0AE25-166C-D2AE-86C6-1D8AC64682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385A4A-3E29-EC30-60ED-41FD83296F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E268F1-B426-F937-23A2-9D9F7BB2FA14}"/>
              </a:ext>
            </a:extLst>
          </p:cNvPr>
          <p:cNvSpPr>
            <a:spLocks noGrp="1"/>
          </p:cNvSpPr>
          <p:nvPr>
            <p:ph type="dt" sz="half" idx="10"/>
          </p:nvPr>
        </p:nvSpPr>
        <p:spPr/>
        <p:txBody>
          <a:bodyPr/>
          <a:lstStyle/>
          <a:p>
            <a:fld id="{D1B67388-5E83-8843-B620-EC1D735B2C7E}" type="datetimeFigureOut">
              <a:rPr lang="en-US" smtClean="0"/>
              <a:t>2/28/26</a:t>
            </a:fld>
            <a:endParaRPr lang="en-US"/>
          </a:p>
        </p:txBody>
      </p:sp>
      <p:sp>
        <p:nvSpPr>
          <p:cNvPr id="5" name="Footer Placeholder 4">
            <a:extLst>
              <a:ext uri="{FF2B5EF4-FFF2-40B4-BE49-F238E27FC236}">
                <a16:creationId xmlns:a16="http://schemas.microsoft.com/office/drawing/2014/main" id="{5D6CECCD-F563-03CE-F33D-136D91A85E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63C102-449D-3012-0C40-EACD2CC4990C}"/>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1739735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14321-341F-B496-3C4B-7EFAA2F818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828FDB-5710-CEC4-7D78-336DB6DEAF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CF9982-D068-822F-41ED-7B7774AF8B70}"/>
              </a:ext>
            </a:extLst>
          </p:cNvPr>
          <p:cNvSpPr>
            <a:spLocks noGrp="1"/>
          </p:cNvSpPr>
          <p:nvPr>
            <p:ph type="dt" sz="half" idx="10"/>
          </p:nvPr>
        </p:nvSpPr>
        <p:spPr/>
        <p:txBody>
          <a:bodyPr/>
          <a:lstStyle/>
          <a:p>
            <a:fld id="{D1B67388-5E83-8843-B620-EC1D735B2C7E}" type="datetimeFigureOut">
              <a:rPr lang="en-US" smtClean="0"/>
              <a:t>2/28/26</a:t>
            </a:fld>
            <a:endParaRPr lang="en-US"/>
          </a:p>
        </p:txBody>
      </p:sp>
      <p:sp>
        <p:nvSpPr>
          <p:cNvPr id="5" name="Footer Placeholder 4">
            <a:extLst>
              <a:ext uri="{FF2B5EF4-FFF2-40B4-BE49-F238E27FC236}">
                <a16:creationId xmlns:a16="http://schemas.microsoft.com/office/drawing/2014/main" id="{41A1E341-358B-01B0-B693-BC359D1B4B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047575-A31F-7300-87F1-108919E09FCC}"/>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2463439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AAA4E-5B8C-7773-A27F-70D865BA34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2D728F-BD9F-2CCA-A841-BE1450E0DB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67C9A8-FFFC-02D9-3E06-9F940A3830F7}"/>
              </a:ext>
            </a:extLst>
          </p:cNvPr>
          <p:cNvSpPr>
            <a:spLocks noGrp="1"/>
          </p:cNvSpPr>
          <p:nvPr>
            <p:ph type="dt" sz="half" idx="10"/>
          </p:nvPr>
        </p:nvSpPr>
        <p:spPr/>
        <p:txBody>
          <a:bodyPr/>
          <a:lstStyle/>
          <a:p>
            <a:fld id="{D1B67388-5E83-8843-B620-EC1D735B2C7E}" type="datetimeFigureOut">
              <a:rPr lang="en-US" smtClean="0"/>
              <a:t>2/28/26</a:t>
            </a:fld>
            <a:endParaRPr lang="en-US"/>
          </a:p>
        </p:txBody>
      </p:sp>
      <p:sp>
        <p:nvSpPr>
          <p:cNvPr id="5" name="Footer Placeholder 4">
            <a:extLst>
              <a:ext uri="{FF2B5EF4-FFF2-40B4-BE49-F238E27FC236}">
                <a16:creationId xmlns:a16="http://schemas.microsoft.com/office/drawing/2014/main" id="{7CD708DF-9200-CEB8-AABC-C936BE2784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B174B7-013E-A38A-FBD0-E5808C1A7FA3}"/>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1741553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E88CB-F018-71D5-F1CD-581571C35A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01936E-0162-B369-1F51-98373E7FAF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5EBC77-D2F2-0989-C58F-CE66EF5570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8245C-9496-0A9A-6C13-0EE69F7E4898}"/>
              </a:ext>
            </a:extLst>
          </p:cNvPr>
          <p:cNvSpPr>
            <a:spLocks noGrp="1"/>
          </p:cNvSpPr>
          <p:nvPr>
            <p:ph type="dt" sz="half" idx="10"/>
          </p:nvPr>
        </p:nvSpPr>
        <p:spPr/>
        <p:txBody>
          <a:bodyPr/>
          <a:lstStyle/>
          <a:p>
            <a:fld id="{D1B67388-5E83-8843-B620-EC1D735B2C7E}" type="datetimeFigureOut">
              <a:rPr lang="en-US" smtClean="0"/>
              <a:t>2/28/26</a:t>
            </a:fld>
            <a:endParaRPr lang="en-US"/>
          </a:p>
        </p:txBody>
      </p:sp>
      <p:sp>
        <p:nvSpPr>
          <p:cNvPr id="6" name="Footer Placeholder 5">
            <a:extLst>
              <a:ext uri="{FF2B5EF4-FFF2-40B4-BE49-F238E27FC236}">
                <a16:creationId xmlns:a16="http://schemas.microsoft.com/office/drawing/2014/main" id="{15C4D3E9-4489-50AF-A379-E6134B11CC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BD4834-4674-90B9-67D5-C822C0BB6822}"/>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4125133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D942D-2898-852A-3098-AE5A884F1F6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0F63F42-2B44-94AB-10E6-BB5F2ADF3D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B0B5FB-D72B-2778-27C0-92ADC18968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1F3D10-FC1A-1ABF-FFE2-E20F651B30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09CDB4-4F05-8EAB-A069-8F4AB41BF9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83C7B0-3A41-7A3D-9E4B-F90B941EA65C}"/>
              </a:ext>
            </a:extLst>
          </p:cNvPr>
          <p:cNvSpPr>
            <a:spLocks noGrp="1"/>
          </p:cNvSpPr>
          <p:nvPr>
            <p:ph type="dt" sz="half" idx="10"/>
          </p:nvPr>
        </p:nvSpPr>
        <p:spPr/>
        <p:txBody>
          <a:bodyPr/>
          <a:lstStyle/>
          <a:p>
            <a:fld id="{D1B67388-5E83-8843-B620-EC1D735B2C7E}" type="datetimeFigureOut">
              <a:rPr lang="en-US" smtClean="0"/>
              <a:t>2/28/26</a:t>
            </a:fld>
            <a:endParaRPr lang="en-US"/>
          </a:p>
        </p:txBody>
      </p:sp>
      <p:sp>
        <p:nvSpPr>
          <p:cNvPr id="8" name="Footer Placeholder 7">
            <a:extLst>
              <a:ext uri="{FF2B5EF4-FFF2-40B4-BE49-F238E27FC236}">
                <a16:creationId xmlns:a16="http://schemas.microsoft.com/office/drawing/2014/main" id="{A6152A96-E293-F75F-E543-D09D8C2657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40E096-96A3-608E-898D-686B74CA5721}"/>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3749666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DA8D7-F28A-68F1-61EC-CD439C9FFA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A2E458-4CA2-51AF-3236-D32D56827867}"/>
              </a:ext>
            </a:extLst>
          </p:cNvPr>
          <p:cNvSpPr>
            <a:spLocks noGrp="1"/>
          </p:cNvSpPr>
          <p:nvPr>
            <p:ph type="dt" sz="half" idx="10"/>
          </p:nvPr>
        </p:nvSpPr>
        <p:spPr/>
        <p:txBody>
          <a:bodyPr/>
          <a:lstStyle/>
          <a:p>
            <a:fld id="{D1B67388-5E83-8843-B620-EC1D735B2C7E}" type="datetimeFigureOut">
              <a:rPr lang="en-US" smtClean="0"/>
              <a:t>2/28/26</a:t>
            </a:fld>
            <a:endParaRPr lang="en-US"/>
          </a:p>
        </p:txBody>
      </p:sp>
      <p:sp>
        <p:nvSpPr>
          <p:cNvPr id="4" name="Footer Placeholder 3">
            <a:extLst>
              <a:ext uri="{FF2B5EF4-FFF2-40B4-BE49-F238E27FC236}">
                <a16:creationId xmlns:a16="http://schemas.microsoft.com/office/drawing/2014/main" id="{A55FA354-4166-C56E-A255-D04AF5071A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37A4F7-D12B-5D2F-8B74-22C6AF85299D}"/>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3916051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BC0C29-D20E-9059-8819-EA854B4CB0B6}"/>
              </a:ext>
            </a:extLst>
          </p:cNvPr>
          <p:cNvSpPr>
            <a:spLocks noGrp="1"/>
          </p:cNvSpPr>
          <p:nvPr>
            <p:ph type="dt" sz="half" idx="10"/>
          </p:nvPr>
        </p:nvSpPr>
        <p:spPr/>
        <p:txBody>
          <a:bodyPr/>
          <a:lstStyle/>
          <a:p>
            <a:fld id="{D1B67388-5E83-8843-B620-EC1D735B2C7E}" type="datetimeFigureOut">
              <a:rPr lang="en-US" smtClean="0"/>
              <a:t>2/28/26</a:t>
            </a:fld>
            <a:endParaRPr lang="en-US"/>
          </a:p>
        </p:txBody>
      </p:sp>
      <p:sp>
        <p:nvSpPr>
          <p:cNvPr id="3" name="Footer Placeholder 2">
            <a:extLst>
              <a:ext uri="{FF2B5EF4-FFF2-40B4-BE49-F238E27FC236}">
                <a16:creationId xmlns:a16="http://schemas.microsoft.com/office/drawing/2014/main" id="{0421E465-9EB8-EEBD-F1B7-9F28151AB8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5D9FE8-D76E-280F-83E3-E2F7DFBA689C}"/>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538954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E4122-8198-8D83-F447-BF42446DCD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61FEB65-E309-A3B8-EF92-3B15F6F9A9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549E77-1AAA-7F9B-00C3-961658131D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9ED479-9B22-38D1-02CB-AC23CE909E7E}"/>
              </a:ext>
            </a:extLst>
          </p:cNvPr>
          <p:cNvSpPr>
            <a:spLocks noGrp="1"/>
          </p:cNvSpPr>
          <p:nvPr>
            <p:ph type="dt" sz="half" idx="10"/>
          </p:nvPr>
        </p:nvSpPr>
        <p:spPr/>
        <p:txBody>
          <a:bodyPr/>
          <a:lstStyle/>
          <a:p>
            <a:fld id="{D1B67388-5E83-8843-B620-EC1D735B2C7E}" type="datetimeFigureOut">
              <a:rPr lang="en-US" smtClean="0"/>
              <a:t>2/28/26</a:t>
            </a:fld>
            <a:endParaRPr lang="en-US"/>
          </a:p>
        </p:txBody>
      </p:sp>
      <p:sp>
        <p:nvSpPr>
          <p:cNvPr id="6" name="Footer Placeholder 5">
            <a:extLst>
              <a:ext uri="{FF2B5EF4-FFF2-40B4-BE49-F238E27FC236}">
                <a16:creationId xmlns:a16="http://schemas.microsoft.com/office/drawing/2014/main" id="{3A0EDEE3-5973-A7B0-46F8-6EF0F86A90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B2F5B5-B8EE-1F0B-C93C-AFD39C26D47D}"/>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645058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94D89-3064-28AA-ECDE-063896E13B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8E1840-F047-2CE5-C3AF-637C07527B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FCD7FA-8CB6-6CE3-059B-EBA61BD331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3F3571-6404-AC4D-A09E-49C537496176}"/>
              </a:ext>
            </a:extLst>
          </p:cNvPr>
          <p:cNvSpPr>
            <a:spLocks noGrp="1"/>
          </p:cNvSpPr>
          <p:nvPr>
            <p:ph type="dt" sz="half" idx="10"/>
          </p:nvPr>
        </p:nvSpPr>
        <p:spPr/>
        <p:txBody>
          <a:bodyPr/>
          <a:lstStyle/>
          <a:p>
            <a:fld id="{D1B67388-5E83-8843-B620-EC1D735B2C7E}" type="datetimeFigureOut">
              <a:rPr lang="en-US" smtClean="0"/>
              <a:t>2/28/26</a:t>
            </a:fld>
            <a:endParaRPr lang="en-US"/>
          </a:p>
        </p:txBody>
      </p:sp>
      <p:sp>
        <p:nvSpPr>
          <p:cNvPr id="6" name="Footer Placeholder 5">
            <a:extLst>
              <a:ext uri="{FF2B5EF4-FFF2-40B4-BE49-F238E27FC236}">
                <a16:creationId xmlns:a16="http://schemas.microsoft.com/office/drawing/2014/main" id="{571304C6-A96F-D5EC-BFC3-BACE8C9027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D3EB47-6796-2171-8896-5AC83AF6D7D4}"/>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1085417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88E7E-42A1-124B-A340-A845754C0A1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E7ACDC-8F23-C71E-7DBA-F0BD598546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B10F0C-DEDB-6082-694C-779BD4E1A250}"/>
              </a:ext>
            </a:extLst>
          </p:cNvPr>
          <p:cNvSpPr>
            <a:spLocks noGrp="1"/>
          </p:cNvSpPr>
          <p:nvPr>
            <p:ph type="dt" sz="half" idx="10"/>
          </p:nvPr>
        </p:nvSpPr>
        <p:spPr/>
        <p:txBody>
          <a:bodyPr/>
          <a:lstStyle/>
          <a:p>
            <a:fld id="{D1B67388-5E83-8843-B620-EC1D735B2C7E}" type="datetimeFigureOut">
              <a:rPr lang="en-US" smtClean="0"/>
              <a:t>2/28/26</a:t>
            </a:fld>
            <a:endParaRPr lang="en-US"/>
          </a:p>
        </p:txBody>
      </p:sp>
      <p:sp>
        <p:nvSpPr>
          <p:cNvPr id="5" name="Footer Placeholder 4">
            <a:extLst>
              <a:ext uri="{FF2B5EF4-FFF2-40B4-BE49-F238E27FC236}">
                <a16:creationId xmlns:a16="http://schemas.microsoft.com/office/drawing/2014/main" id="{3E4513C5-5DFF-C56E-D9F9-C50B414B2F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779B13-9D49-51A5-4EE2-02D4451F4961}"/>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1214354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B29699-E6B2-2EFA-5E96-78EB6DC8B1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631091-489E-7FD3-81CB-94DB430C31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A92EFB-9750-2941-C9DA-A9920881F263}"/>
              </a:ext>
            </a:extLst>
          </p:cNvPr>
          <p:cNvSpPr>
            <a:spLocks noGrp="1"/>
          </p:cNvSpPr>
          <p:nvPr>
            <p:ph type="dt" sz="half" idx="10"/>
          </p:nvPr>
        </p:nvSpPr>
        <p:spPr/>
        <p:txBody>
          <a:bodyPr/>
          <a:lstStyle/>
          <a:p>
            <a:fld id="{D1B67388-5E83-8843-B620-EC1D735B2C7E}" type="datetimeFigureOut">
              <a:rPr lang="en-US" smtClean="0"/>
              <a:t>2/28/26</a:t>
            </a:fld>
            <a:endParaRPr lang="en-US"/>
          </a:p>
        </p:txBody>
      </p:sp>
      <p:sp>
        <p:nvSpPr>
          <p:cNvPr id="5" name="Footer Placeholder 4">
            <a:extLst>
              <a:ext uri="{FF2B5EF4-FFF2-40B4-BE49-F238E27FC236}">
                <a16:creationId xmlns:a16="http://schemas.microsoft.com/office/drawing/2014/main" id="{BF51A9FA-50A8-325A-ABC7-CC637A4035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0D9DD4-1DDA-E57A-3043-FF32BF011AA4}"/>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2345998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F4B1E1-7864-2822-6D2A-1C716A2DFD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240F72-E965-023F-563E-94F6713507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CF527B-6762-99F4-EEBB-C63282DB61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B67388-5E83-8843-B620-EC1D735B2C7E}" type="datetimeFigureOut">
              <a:rPr lang="en-US" smtClean="0"/>
              <a:t>2/28/26</a:t>
            </a:fld>
            <a:endParaRPr lang="en-US"/>
          </a:p>
        </p:txBody>
      </p:sp>
      <p:sp>
        <p:nvSpPr>
          <p:cNvPr id="5" name="Footer Placeholder 4">
            <a:extLst>
              <a:ext uri="{FF2B5EF4-FFF2-40B4-BE49-F238E27FC236}">
                <a16:creationId xmlns:a16="http://schemas.microsoft.com/office/drawing/2014/main" id="{86E5CC9B-25F3-3A7F-7C8B-81B7C3CAB6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2A18A92-8073-458D-50A3-3AAF89DBEA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21F564-5BBB-E34D-9334-EE9CB567BEF0}" type="slidenum">
              <a:rPr lang="en-US" smtClean="0"/>
              <a:t>‹#›</a:t>
            </a:fld>
            <a:endParaRPr lang="en-US"/>
          </a:p>
        </p:txBody>
      </p:sp>
    </p:spTree>
    <p:extLst>
      <p:ext uri="{BB962C8B-B14F-4D97-AF65-F5344CB8AC3E}">
        <p14:creationId xmlns:p14="http://schemas.microsoft.com/office/powerpoint/2010/main" val="20866896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ight Triangle 26">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C22667-4C32-25D0-CCE6-CA9E564395D2}"/>
              </a:ext>
            </a:extLst>
          </p:cNvPr>
          <p:cNvSpPr>
            <a:spLocks noGrp="1"/>
          </p:cNvSpPr>
          <p:nvPr>
            <p:ph type="ctrTitle"/>
          </p:nvPr>
        </p:nvSpPr>
        <p:spPr>
          <a:xfrm>
            <a:off x="1285241" y="1008993"/>
            <a:ext cx="9231410" cy="3542045"/>
          </a:xfrm>
        </p:spPr>
        <p:txBody>
          <a:bodyPr anchor="b">
            <a:normAutofit fontScale="90000"/>
          </a:bodyPr>
          <a:lstStyle/>
          <a:p>
            <a:pPr algn="l"/>
            <a:r>
              <a:rPr lang="en-US" sz="6300" dirty="0"/>
              <a:t>Does Disagreement Among Equity Factors Signal Higher or Lower Market Excess Returns Tomorrow?</a:t>
            </a:r>
          </a:p>
        </p:txBody>
      </p:sp>
      <p:sp>
        <p:nvSpPr>
          <p:cNvPr id="3" name="Subtitle 2">
            <a:extLst>
              <a:ext uri="{FF2B5EF4-FFF2-40B4-BE49-F238E27FC236}">
                <a16:creationId xmlns:a16="http://schemas.microsoft.com/office/drawing/2014/main" id="{45E69B81-BF4E-C6A1-FA75-225CE129FC6C}"/>
              </a:ext>
            </a:extLst>
          </p:cNvPr>
          <p:cNvSpPr>
            <a:spLocks noGrp="1"/>
          </p:cNvSpPr>
          <p:nvPr>
            <p:ph type="subTitle" idx="1"/>
          </p:nvPr>
        </p:nvSpPr>
        <p:spPr>
          <a:xfrm>
            <a:off x="1285241" y="4582814"/>
            <a:ext cx="7132335" cy="1312657"/>
          </a:xfrm>
        </p:spPr>
        <p:txBody>
          <a:bodyPr anchor="t">
            <a:normAutofit/>
          </a:bodyPr>
          <a:lstStyle/>
          <a:p>
            <a:pPr algn="l"/>
            <a:r>
              <a:rPr lang="en-US" dirty="0"/>
              <a:t>By Andrew Wolfe</a:t>
            </a:r>
          </a:p>
          <a:p>
            <a:pPr algn="l"/>
            <a:r>
              <a:rPr lang="en-US" dirty="0"/>
              <a:t>February 2026</a:t>
            </a:r>
          </a:p>
        </p:txBody>
      </p:sp>
    </p:spTree>
    <p:extLst>
      <p:ext uri="{BB962C8B-B14F-4D97-AF65-F5344CB8AC3E}">
        <p14:creationId xmlns:p14="http://schemas.microsoft.com/office/powerpoint/2010/main" val="1820116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8B146-3CBC-5D9B-900E-20124543E9A1}"/>
              </a:ext>
            </a:extLst>
          </p:cNvPr>
          <p:cNvSpPr>
            <a:spLocks noGrp="1"/>
          </p:cNvSpPr>
          <p:nvPr>
            <p:ph type="title"/>
          </p:nvPr>
        </p:nvSpPr>
        <p:spPr>
          <a:xfrm>
            <a:off x="940675" y="428476"/>
            <a:ext cx="9895951" cy="1033669"/>
          </a:xfrm>
        </p:spPr>
        <p:txBody>
          <a:bodyPr>
            <a:normAutofit fontScale="90000"/>
          </a:bodyPr>
          <a:lstStyle/>
          <a:p>
            <a:br>
              <a:rPr lang="en-US" sz="4000" dirty="0">
                <a:solidFill>
                  <a:srgbClr val="FFFFFF"/>
                </a:solidFill>
              </a:rPr>
            </a:br>
            <a:r>
              <a:rPr lang="en-US" sz="4000" dirty="0">
                <a:solidFill>
                  <a:srgbClr val="FFFFFF"/>
                </a:solidFill>
              </a:rPr>
              <a:t>Salary Worth Report – Summary</a:t>
            </a:r>
          </a:p>
        </p:txBody>
      </p:sp>
      <p:sp>
        <p:nvSpPr>
          <p:cNvPr id="4" name="TextBox 3">
            <a:extLst>
              <a:ext uri="{FF2B5EF4-FFF2-40B4-BE49-F238E27FC236}">
                <a16:creationId xmlns:a16="http://schemas.microsoft.com/office/drawing/2014/main" id="{B195212F-80DE-9374-A866-B19C31615EBB}"/>
              </a:ext>
            </a:extLst>
          </p:cNvPr>
          <p:cNvSpPr txBox="1"/>
          <p:nvPr/>
        </p:nvSpPr>
        <p:spPr>
          <a:xfrm>
            <a:off x="0" y="1138773"/>
            <a:ext cx="12297103" cy="5570756"/>
          </a:xfrm>
          <a:prstGeom prst="rect">
            <a:avLst/>
          </a:prstGeom>
          <a:noFill/>
        </p:spPr>
        <p:txBody>
          <a:bodyPr wrap="square" rtlCol="0">
            <a:spAutoFit/>
          </a:bodyPr>
          <a:lstStyle/>
          <a:p>
            <a:pPr marL="285750" indent="-285750">
              <a:buFont typeface="Arial" panose="020B0604020202020204" pitchFamily="34" charset="0"/>
              <a:buChar char="•"/>
            </a:pPr>
            <a:r>
              <a:rPr lang="en-US" sz="2000" b="1" dirty="0">
                <a:latin typeface="Tw Cen MT" panose="020B0602020104020603" pitchFamily="34" charset="77"/>
              </a:rPr>
              <a:t>Context: </a:t>
            </a:r>
            <a:r>
              <a:rPr lang="en-US" sz="2000" dirty="0">
                <a:latin typeface="Tw Cen MT" panose="020B0602020104020603" pitchFamily="34" charset="77"/>
              </a:rPr>
              <a:t>This project investigates and analyzes whether </a:t>
            </a:r>
          </a:p>
          <a:p>
            <a:pPr marL="285750" indent="-285750">
              <a:buFont typeface="Arial" panose="020B0604020202020204" pitchFamily="34" charset="0"/>
              <a:buChar char="•"/>
            </a:pPr>
            <a:r>
              <a:rPr lang="en-US" sz="2400" b="1" dirty="0">
                <a:latin typeface="Tw Cen MT" panose="020B0602020104020603" pitchFamily="34" charset="77"/>
              </a:rPr>
              <a:t>Dataset: </a:t>
            </a:r>
            <a:r>
              <a:rPr lang="en-US" sz="2400" dirty="0">
                <a:latin typeface="Tw Cen MT" panose="020B0602020104020603" pitchFamily="34" charset="77"/>
              </a:rPr>
              <a:t>The dataset is the Fama-French 5-Factor daily returns data. It contains information regarding to SMB, HML, RMW, CMA, and Mkt-RF. This information is sourced from the Kenneth French Data Library and the data relates to daily United States Equity Factor returns (stock market risk and return). </a:t>
            </a:r>
          </a:p>
          <a:p>
            <a:pPr marL="285750" indent="-285750">
              <a:buFont typeface="Arial" panose="020B0604020202020204" pitchFamily="34" charset="0"/>
              <a:buChar char="•"/>
            </a:pPr>
            <a:r>
              <a:rPr lang="en-US" sz="2400" b="1" dirty="0">
                <a:latin typeface="Tw Cen MT" panose="020B0602020104020603" pitchFamily="34" charset="77"/>
              </a:rPr>
              <a:t>Machine Learning Models Used: </a:t>
            </a:r>
            <a:r>
              <a:rPr lang="en-US" sz="2400" dirty="0">
                <a:latin typeface="Tw Cen MT" panose="020B0602020104020603" pitchFamily="34" charset="77"/>
              </a:rPr>
              <a:t>A Ridge Regression Model was used with regularization. The model is predicting the next day’s market return. It attempts to determine whether high or low factor disagreement could be used to determine market performance the following day. Factors used include: SMB, HML, RMW, CMA, and Mkt-RF.</a:t>
            </a:r>
            <a:endParaRPr lang="en-US" sz="2400" b="1" dirty="0">
              <a:latin typeface="Tw Cen MT" panose="020B0602020104020603" pitchFamily="34" charset="77"/>
            </a:endParaRPr>
          </a:p>
          <a:p>
            <a:pPr marL="285750" indent="-285750">
              <a:buFont typeface="Arial" panose="020B0604020202020204" pitchFamily="34" charset="0"/>
              <a:buChar char="•"/>
            </a:pPr>
            <a:r>
              <a:rPr lang="en-US" sz="2400" b="1" dirty="0">
                <a:latin typeface="Tw Cen MT" panose="020B0602020104020603" pitchFamily="34" charset="77"/>
              </a:rPr>
              <a:t>Future Implications:</a:t>
            </a:r>
          </a:p>
          <a:p>
            <a:pPr marL="742950" lvl="1" indent="-285750">
              <a:buFont typeface="Arial" panose="020B0604020202020204" pitchFamily="34" charset="0"/>
              <a:buChar char="•"/>
            </a:pPr>
            <a:r>
              <a:rPr lang="en-US" sz="2400" dirty="0">
                <a:latin typeface="Tw Cen MT" panose="020B0602020104020603" pitchFamily="34" charset="77"/>
              </a:rPr>
              <a:t>What impact do political and social events have in predicting market performance? </a:t>
            </a:r>
          </a:p>
          <a:p>
            <a:pPr marL="742950" lvl="1" indent="-285750">
              <a:buFont typeface="Arial" panose="020B0604020202020204" pitchFamily="34" charset="0"/>
              <a:buChar char="•"/>
            </a:pPr>
            <a:r>
              <a:rPr lang="en-US" sz="2400" dirty="0">
                <a:latin typeface="Tw Cen MT" panose="020B0602020104020603" pitchFamily="34" charset="77"/>
              </a:rPr>
              <a:t>How do unexpected, high impact market shocks impact the stability of the factor disagreement signal?</a:t>
            </a:r>
          </a:p>
          <a:p>
            <a:pPr marL="742950" lvl="1" indent="-285750">
              <a:buFont typeface="Arial" panose="020B0604020202020204" pitchFamily="34" charset="0"/>
              <a:buChar char="•"/>
            </a:pPr>
            <a:r>
              <a:rPr lang="en-US" sz="2400" dirty="0">
                <a:latin typeface="Tw Cen MT" panose="020B0602020104020603" pitchFamily="34" charset="77"/>
              </a:rPr>
              <a:t>How does behavioral bias impact factor disagreement as a determining factor for market performance?</a:t>
            </a:r>
          </a:p>
        </p:txBody>
      </p:sp>
      <p:sp>
        <p:nvSpPr>
          <p:cNvPr id="5" name="TextBox 4">
            <a:extLst>
              <a:ext uri="{FF2B5EF4-FFF2-40B4-BE49-F238E27FC236}">
                <a16:creationId xmlns:a16="http://schemas.microsoft.com/office/drawing/2014/main" id="{4CA1AEF9-0771-3CFB-7AC6-999BECF5C082}"/>
              </a:ext>
            </a:extLst>
          </p:cNvPr>
          <p:cNvSpPr txBox="1"/>
          <p:nvPr/>
        </p:nvSpPr>
        <p:spPr>
          <a:xfrm>
            <a:off x="0" y="0"/>
            <a:ext cx="12192000" cy="1523494"/>
          </a:xfrm>
          <a:prstGeom prst="rect">
            <a:avLst/>
          </a:prstGeom>
          <a:solidFill>
            <a:srgbClr val="0E9ED5"/>
          </a:solidFill>
        </p:spPr>
        <p:txBody>
          <a:bodyPr wrap="square" rtlCol="0">
            <a:spAutoFit/>
          </a:bodyPr>
          <a:lstStyle/>
          <a:p>
            <a:pPr algn="ctr"/>
            <a:br>
              <a:rPr lang="en-US" sz="2500" dirty="0">
                <a:solidFill>
                  <a:srgbClr val="FFFFFF"/>
                </a:solidFill>
                <a:latin typeface="+mj-lt"/>
              </a:rPr>
            </a:br>
            <a:r>
              <a:rPr lang="en-US" sz="2500" dirty="0">
                <a:solidFill>
                  <a:srgbClr val="FFFFFF"/>
                </a:solidFill>
                <a:latin typeface="+mj-lt"/>
              </a:rPr>
              <a:t>Does Disagreement Among Equity factors Signal Higher or Lower Market Excess Returns?– Context</a:t>
            </a:r>
            <a:endParaRPr lang="en-US" sz="2500" b="1" dirty="0">
              <a:latin typeface="+mj-lt"/>
            </a:endParaRPr>
          </a:p>
          <a:p>
            <a:endParaRPr lang="en-US" dirty="0"/>
          </a:p>
        </p:txBody>
      </p:sp>
    </p:spTree>
    <p:extLst>
      <p:ext uri="{BB962C8B-B14F-4D97-AF65-F5344CB8AC3E}">
        <p14:creationId xmlns:p14="http://schemas.microsoft.com/office/powerpoint/2010/main" val="2835292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7D6D365-44C6-788C-3878-E9AC03050FF7}"/>
              </a:ext>
            </a:extLst>
          </p:cNvPr>
          <p:cNvGraphicFramePr>
            <a:graphicFrameLocks noGrp="1"/>
          </p:cNvGraphicFramePr>
          <p:nvPr>
            <p:extLst>
              <p:ext uri="{D42A27DB-BD31-4B8C-83A1-F6EECF244321}">
                <p14:modId xmlns:p14="http://schemas.microsoft.com/office/powerpoint/2010/main" val="815146241"/>
              </p:ext>
            </p:extLst>
          </p:nvPr>
        </p:nvGraphicFramePr>
        <p:xfrm>
          <a:off x="705685" y="1225856"/>
          <a:ext cx="10426862" cy="5596975"/>
        </p:xfrm>
        <a:graphic>
          <a:graphicData uri="http://schemas.openxmlformats.org/drawingml/2006/table">
            <a:tbl>
              <a:tblPr firstRow="1" bandRow="1">
                <a:tableStyleId>{616DA210-FB5B-4158-B5E0-FEB733F419BA}</a:tableStyleId>
              </a:tblPr>
              <a:tblGrid>
                <a:gridCol w="5213431">
                  <a:extLst>
                    <a:ext uri="{9D8B030D-6E8A-4147-A177-3AD203B41FA5}">
                      <a16:colId xmlns:a16="http://schemas.microsoft.com/office/drawing/2014/main" val="432208460"/>
                    </a:ext>
                  </a:extLst>
                </a:gridCol>
                <a:gridCol w="5213431">
                  <a:extLst>
                    <a:ext uri="{9D8B030D-6E8A-4147-A177-3AD203B41FA5}">
                      <a16:colId xmlns:a16="http://schemas.microsoft.com/office/drawing/2014/main" val="2292416677"/>
                    </a:ext>
                  </a:extLst>
                </a:gridCol>
              </a:tblGrid>
              <a:tr h="4674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u="none" strike="noStrike" kern="1200" dirty="0">
                          <a:solidFill>
                            <a:schemeClr val="tx1"/>
                          </a:solidFill>
                          <a:effectLst/>
                          <a:latin typeface="+mn-lt"/>
                          <a:ea typeface="+mn-ea"/>
                          <a:cs typeface="+mn-cs"/>
                        </a:rPr>
                        <a:t>MKT-RF_Lag1</a:t>
                      </a:r>
                    </a:p>
                  </a:txBody>
                  <a:tcPr/>
                </a:tc>
                <a:tc>
                  <a:txBody>
                    <a:bodyPr/>
                    <a:lstStyle/>
                    <a:p>
                      <a:r>
                        <a:rPr lang="en-US" sz="1400" b="0" dirty="0"/>
                        <a:t>Yesterday’s market return minus the risk-free rate.</a:t>
                      </a:r>
                    </a:p>
                  </a:txBody>
                  <a:tcPr/>
                </a:tc>
                <a:extLst>
                  <a:ext uri="{0D108BD9-81ED-4DB2-BD59-A6C34878D82A}">
                    <a16:rowId xmlns:a16="http://schemas.microsoft.com/office/drawing/2014/main" val="2081429498"/>
                  </a:ext>
                </a:extLst>
              </a:tr>
              <a:tr h="4674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u="none" strike="noStrike" kern="1200" dirty="0">
                          <a:solidFill>
                            <a:schemeClr val="tx1"/>
                          </a:solidFill>
                          <a:effectLst/>
                          <a:latin typeface="+mn-lt"/>
                          <a:ea typeface="+mn-ea"/>
                          <a:cs typeface="+mn-cs"/>
                        </a:rPr>
                        <a:t>Factor_Disagreement_5d</a:t>
                      </a:r>
                    </a:p>
                  </a:txBody>
                  <a:tcPr/>
                </a:tc>
                <a:tc>
                  <a:txBody>
                    <a:bodyPr/>
                    <a:lstStyle/>
                    <a:p>
                      <a:r>
                        <a:rPr lang="en-US" sz="1400" b="0" dirty="0"/>
                        <a:t>The disagreement of the 4 main market factors the last 5 days. Higher number = factors strongly disagree. </a:t>
                      </a:r>
                    </a:p>
                  </a:txBody>
                  <a:tcPr/>
                </a:tc>
                <a:extLst>
                  <a:ext uri="{0D108BD9-81ED-4DB2-BD59-A6C34878D82A}">
                    <a16:rowId xmlns:a16="http://schemas.microsoft.com/office/drawing/2014/main" val="3683012091"/>
                  </a:ext>
                </a:extLst>
              </a:tr>
              <a:tr h="3470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u="none" strike="noStrike" kern="1200" dirty="0">
                          <a:solidFill>
                            <a:schemeClr val="tx1"/>
                          </a:solidFill>
                          <a:effectLst/>
                          <a:latin typeface="+mn-lt"/>
                          <a:ea typeface="+mn-ea"/>
                          <a:cs typeface="+mn-cs"/>
                        </a:rPr>
                        <a:t>market_vol_21d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t>The volatility of the market the last 21 days.</a:t>
                      </a:r>
                    </a:p>
                  </a:txBody>
                  <a:tcPr/>
                </a:tc>
                <a:extLst>
                  <a:ext uri="{0D108BD9-81ED-4DB2-BD59-A6C34878D82A}">
                    <a16:rowId xmlns:a16="http://schemas.microsoft.com/office/drawing/2014/main" val="1680131247"/>
                  </a:ext>
                </a:extLst>
              </a:tr>
              <a:tr h="6480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u="none" strike="noStrike" kern="1200" dirty="0">
                          <a:solidFill>
                            <a:schemeClr val="tx1"/>
                          </a:solidFill>
                          <a:effectLst/>
                          <a:latin typeface="+mn-lt"/>
                          <a:ea typeface="+mn-ea"/>
                          <a:cs typeface="+mn-cs"/>
                        </a:rPr>
                        <a:t>Factor_minus_market_mom</a:t>
                      </a:r>
                    </a:p>
                  </a:txBody>
                  <a:tcPr/>
                </a:tc>
                <a:tc>
                  <a:txBody>
                    <a:bodyPr/>
                    <a:lstStyle/>
                    <a:p>
                      <a:r>
                        <a:rPr lang="en-US" sz="1400" b="0" dirty="0"/>
                        <a:t>The markets momentum subtracted from the factor's momentum.</a:t>
                      </a:r>
                    </a:p>
                  </a:txBody>
                  <a:tcPr/>
                </a:tc>
                <a:extLst>
                  <a:ext uri="{0D108BD9-81ED-4DB2-BD59-A6C34878D82A}">
                    <a16:rowId xmlns:a16="http://schemas.microsoft.com/office/drawing/2014/main" val="1998778973"/>
                  </a:ext>
                </a:extLst>
              </a:tr>
              <a:tr h="4674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u="none" strike="noStrike" kern="1200" dirty="0">
                          <a:solidFill>
                            <a:schemeClr val="tx1"/>
                          </a:solidFill>
                          <a:effectLst/>
                          <a:latin typeface="+mn-lt"/>
                          <a:ea typeface="+mn-ea"/>
                          <a:cs typeface="+mn-cs"/>
                        </a:rPr>
                        <a:t>Disagreement_x_vol</a:t>
                      </a:r>
                    </a:p>
                  </a:txBody>
                  <a:tcPr/>
                </a:tc>
                <a:tc>
                  <a:txBody>
                    <a:bodyPr/>
                    <a:lstStyle/>
                    <a:p>
                      <a:r>
                        <a:rPr lang="en-US" sz="1400" b="0" dirty="0"/>
                        <a:t>Investor disagreement multiplied by market volatility. </a:t>
                      </a:r>
                    </a:p>
                  </a:txBody>
                  <a:tcPr/>
                </a:tc>
                <a:extLst>
                  <a:ext uri="{0D108BD9-81ED-4DB2-BD59-A6C34878D82A}">
                    <a16:rowId xmlns:a16="http://schemas.microsoft.com/office/drawing/2014/main" val="1176812852"/>
                  </a:ext>
                </a:extLst>
              </a:tr>
              <a:tr h="4674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u="none" strike="noStrike" kern="1200" dirty="0">
                          <a:solidFill>
                            <a:schemeClr val="tx1"/>
                          </a:solidFill>
                          <a:effectLst/>
                          <a:latin typeface="+mn-lt"/>
                          <a:ea typeface="+mn-ea"/>
                          <a:cs typeface="+mn-cs"/>
                        </a:rPr>
                        <a:t>SMB </a:t>
                      </a:r>
                      <a:r>
                        <a:rPr lang="en-US" sz="1800" b="0" i="0" u="none" strike="noStrike" kern="1200" dirty="0">
                          <a:solidFill>
                            <a:schemeClr val="tx1"/>
                          </a:solidFill>
                          <a:effectLst/>
                          <a:latin typeface="+mn-lt"/>
                          <a:ea typeface="+mn-ea"/>
                          <a:cs typeface="+mn-cs"/>
                        </a:rPr>
                        <a:t>(Small Minus Big)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t>The return of small companies minus big companies.</a:t>
                      </a:r>
                    </a:p>
                  </a:txBody>
                  <a:tcPr/>
                </a:tc>
                <a:extLst>
                  <a:ext uri="{0D108BD9-81ED-4DB2-BD59-A6C34878D82A}">
                    <a16:rowId xmlns:a16="http://schemas.microsoft.com/office/drawing/2014/main" val="37978820"/>
                  </a:ext>
                </a:extLst>
              </a:tr>
              <a:tr h="4590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u="none" strike="noStrike" kern="1200" dirty="0">
                          <a:solidFill>
                            <a:schemeClr val="tx1"/>
                          </a:solidFill>
                          <a:effectLst/>
                          <a:latin typeface="+mn-lt"/>
                          <a:ea typeface="+mn-ea"/>
                          <a:cs typeface="+mn-cs"/>
                        </a:rPr>
                        <a:t>HML</a:t>
                      </a:r>
                      <a:r>
                        <a:rPr lang="en-US" sz="1800" b="0" i="0" u="none" strike="noStrike" kern="1200" dirty="0">
                          <a:solidFill>
                            <a:schemeClr val="tx1"/>
                          </a:solidFill>
                          <a:effectLst/>
                          <a:latin typeface="+mn-lt"/>
                          <a:ea typeface="+mn-ea"/>
                          <a:cs typeface="+mn-cs"/>
                        </a:rPr>
                        <a:t> (High Minus Low)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t>High minus Low. The return of value stocks minus growth stocks.</a:t>
                      </a:r>
                    </a:p>
                  </a:txBody>
                  <a:tcPr/>
                </a:tc>
                <a:extLst>
                  <a:ext uri="{0D108BD9-81ED-4DB2-BD59-A6C34878D82A}">
                    <a16:rowId xmlns:a16="http://schemas.microsoft.com/office/drawing/2014/main" val="886909560"/>
                  </a:ext>
                </a:extLst>
              </a:tr>
              <a:tr h="4674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u="none" strike="noStrike" kern="1200" dirty="0">
                          <a:solidFill>
                            <a:schemeClr val="tx1"/>
                          </a:solidFill>
                          <a:effectLst/>
                          <a:latin typeface="+mn-lt"/>
                          <a:ea typeface="+mn-ea"/>
                          <a:cs typeface="+mn-cs"/>
                        </a:rPr>
                        <a:t>RMW</a:t>
                      </a:r>
                      <a:r>
                        <a:rPr lang="en-US" sz="1800" b="0" i="0" u="none" strike="noStrike" kern="1200" dirty="0">
                          <a:solidFill>
                            <a:schemeClr val="tx1"/>
                          </a:solidFill>
                          <a:effectLst/>
                          <a:latin typeface="+mn-lt"/>
                          <a:ea typeface="+mn-ea"/>
                          <a:cs typeface="+mn-cs"/>
                        </a:rPr>
                        <a:t> (Robust Minus Weak)</a:t>
                      </a:r>
                    </a:p>
                  </a:txBody>
                  <a:tcPr/>
                </a:tc>
                <a:tc>
                  <a:txBody>
                    <a:bodyPr/>
                    <a:lstStyle/>
                    <a:p>
                      <a:r>
                        <a:rPr lang="en-US" sz="1400" b="0" dirty="0"/>
                        <a:t>The returns of unprofitable firms subtracted from profitable firms.</a:t>
                      </a:r>
                    </a:p>
                  </a:txBody>
                  <a:tcPr/>
                </a:tc>
                <a:extLst>
                  <a:ext uri="{0D108BD9-81ED-4DB2-BD59-A6C34878D82A}">
                    <a16:rowId xmlns:a16="http://schemas.microsoft.com/office/drawing/2014/main" val="4255454010"/>
                  </a:ext>
                </a:extLst>
              </a:tr>
              <a:tr h="4590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u="none" strike="noStrike" kern="1200" dirty="0">
                          <a:solidFill>
                            <a:schemeClr val="tx1"/>
                          </a:solidFill>
                          <a:effectLst/>
                          <a:latin typeface="+mn-lt"/>
                          <a:ea typeface="+mn-ea"/>
                          <a:cs typeface="+mn-cs"/>
                        </a:rPr>
                        <a:t>CMA</a:t>
                      </a:r>
                      <a:r>
                        <a:rPr lang="en-US" sz="1800" b="0" i="0" u="none" strike="noStrike" kern="1200" dirty="0">
                          <a:solidFill>
                            <a:schemeClr val="tx1"/>
                          </a:solidFill>
                          <a:effectLst/>
                          <a:latin typeface="+mn-lt"/>
                          <a:ea typeface="+mn-ea"/>
                          <a:cs typeface="+mn-cs"/>
                        </a:rPr>
                        <a:t> (Conservative Minus Aggressive)</a:t>
                      </a:r>
                    </a:p>
                  </a:txBody>
                  <a:tcPr/>
                </a:tc>
                <a:tc>
                  <a:txBody>
                    <a:bodyPr/>
                    <a:lstStyle/>
                    <a:p>
                      <a:r>
                        <a:rPr lang="en-US" sz="1400" b="0" dirty="0"/>
                        <a:t>The returns of firms that invest aggressively subtracted from firms that invest conservative.</a:t>
                      </a:r>
                    </a:p>
                  </a:txBody>
                  <a:tcPr/>
                </a:tc>
                <a:extLst>
                  <a:ext uri="{0D108BD9-81ED-4DB2-BD59-A6C34878D82A}">
                    <a16:rowId xmlns:a16="http://schemas.microsoft.com/office/drawing/2014/main" val="1674468065"/>
                  </a:ext>
                </a:extLst>
              </a:tr>
              <a:tr h="3470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u="none" strike="noStrike" kern="1200" dirty="0">
                          <a:solidFill>
                            <a:schemeClr val="tx1"/>
                          </a:solidFill>
                          <a:effectLst/>
                          <a:latin typeface="+mn-lt"/>
                          <a:ea typeface="+mn-ea"/>
                          <a:cs typeface="+mn-cs"/>
                        </a:rPr>
                        <a:t>RF</a:t>
                      </a:r>
                      <a:r>
                        <a:rPr lang="en-US" sz="1800" b="0" i="1" u="none" strike="noStrike" kern="1200" dirty="0">
                          <a:solidFill>
                            <a:schemeClr val="tx1"/>
                          </a:solidFill>
                          <a:effectLst/>
                          <a:latin typeface="+mn-lt"/>
                          <a:ea typeface="+mn-ea"/>
                          <a:cs typeface="+mn-cs"/>
                        </a:rPr>
                        <a:t> (Risk Free Rate)</a:t>
                      </a:r>
                    </a:p>
                  </a:txBody>
                  <a:tcPr/>
                </a:tc>
                <a:tc>
                  <a:txBody>
                    <a:bodyPr/>
                    <a:lstStyle/>
                    <a:p>
                      <a:r>
                        <a:rPr lang="en-US" sz="1400" b="0" dirty="0"/>
                        <a:t>The return received with little to no risk.</a:t>
                      </a:r>
                    </a:p>
                  </a:txBody>
                  <a:tcPr/>
                </a:tc>
                <a:extLst>
                  <a:ext uri="{0D108BD9-81ED-4DB2-BD59-A6C34878D82A}">
                    <a16:rowId xmlns:a16="http://schemas.microsoft.com/office/drawing/2014/main" val="2232803020"/>
                  </a:ext>
                </a:extLst>
              </a:tr>
              <a:tr h="8523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1" u="sng" strike="noStrike" kern="1200" dirty="0" err="1">
                          <a:solidFill>
                            <a:schemeClr val="tx1"/>
                          </a:solidFill>
                          <a:effectLst/>
                          <a:latin typeface="+mn-lt"/>
                          <a:ea typeface="+mn-ea"/>
                          <a:cs typeface="+mn-cs"/>
                        </a:rPr>
                        <a:t>Target_next_mkt</a:t>
                      </a:r>
                      <a:endParaRPr lang="en-US" sz="1800" b="0" i="1" u="sng" strike="noStrike" kern="1200" dirty="0">
                        <a:solidFill>
                          <a:schemeClr val="tx1"/>
                        </a:solidFill>
                        <a:effectLst/>
                        <a:latin typeface="+mn-lt"/>
                        <a:ea typeface="+mn-ea"/>
                        <a:cs typeface="+mn-cs"/>
                      </a:endParaRPr>
                    </a:p>
                  </a:txBody>
                  <a:tcPr/>
                </a:tc>
                <a:tc>
                  <a:txBody>
                    <a:bodyPr/>
                    <a:lstStyle/>
                    <a:p>
                      <a:r>
                        <a:rPr lang="en-US" sz="1400" b="0" dirty="0"/>
                        <a:t>The market return in the next day. This is the target variable.</a:t>
                      </a:r>
                    </a:p>
                  </a:txBody>
                  <a:tcPr/>
                </a:tc>
                <a:extLst>
                  <a:ext uri="{0D108BD9-81ED-4DB2-BD59-A6C34878D82A}">
                    <a16:rowId xmlns:a16="http://schemas.microsoft.com/office/drawing/2014/main" val="3305012419"/>
                  </a:ext>
                </a:extLst>
              </a:tr>
            </a:tbl>
          </a:graphicData>
        </a:graphic>
      </p:graphicFrame>
      <p:sp>
        <p:nvSpPr>
          <p:cNvPr id="2" name="TextBox 1">
            <a:extLst>
              <a:ext uri="{FF2B5EF4-FFF2-40B4-BE49-F238E27FC236}">
                <a16:creationId xmlns:a16="http://schemas.microsoft.com/office/drawing/2014/main" id="{797C9C4B-2ECB-2413-4C2F-E1161BA2AA38}"/>
              </a:ext>
            </a:extLst>
          </p:cNvPr>
          <p:cNvSpPr txBox="1"/>
          <p:nvPr/>
        </p:nvSpPr>
        <p:spPr>
          <a:xfrm>
            <a:off x="0" y="0"/>
            <a:ext cx="12192000" cy="1138773"/>
          </a:xfrm>
          <a:prstGeom prst="rect">
            <a:avLst/>
          </a:prstGeom>
          <a:solidFill>
            <a:srgbClr val="0E9ED5"/>
          </a:solidFill>
        </p:spPr>
        <p:txBody>
          <a:bodyPr wrap="square" rtlCol="0">
            <a:spAutoFit/>
          </a:bodyPr>
          <a:lstStyle/>
          <a:p>
            <a:pPr algn="ctr"/>
            <a:endParaRPr lang="en-US" sz="2500" dirty="0">
              <a:solidFill>
                <a:srgbClr val="FFFFFF"/>
              </a:solidFill>
              <a:latin typeface="+mj-lt"/>
            </a:endParaRPr>
          </a:p>
          <a:p>
            <a:pPr algn="ctr"/>
            <a:r>
              <a:rPr lang="en-US" sz="2500" dirty="0">
                <a:solidFill>
                  <a:srgbClr val="FFFFFF"/>
                </a:solidFill>
                <a:latin typeface="+mj-lt"/>
              </a:rPr>
              <a:t>Input and Target Variables</a:t>
            </a:r>
            <a:endParaRPr lang="en-US" sz="2500" b="1" dirty="0">
              <a:latin typeface="+mj-lt"/>
            </a:endParaRPr>
          </a:p>
          <a:p>
            <a:endParaRPr lang="en-US" dirty="0"/>
          </a:p>
        </p:txBody>
      </p:sp>
    </p:spTree>
    <p:extLst>
      <p:ext uri="{BB962C8B-B14F-4D97-AF65-F5344CB8AC3E}">
        <p14:creationId xmlns:p14="http://schemas.microsoft.com/office/powerpoint/2010/main" val="3871031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14AEC-E429-1377-300F-FE58485A117D}"/>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F5F88E4-FD78-A094-829C-3E19483C745D}"/>
              </a:ext>
            </a:extLst>
          </p:cNvPr>
          <p:cNvGraphicFramePr>
            <a:graphicFrameLocks noGrp="1"/>
          </p:cNvGraphicFramePr>
          <p:nvPr>
            <p:extLst>
              <p:ext uri="{D42A27DB-BD31-4B8C-83A1-F6EECF244321}">
                <p14:modId xmlns:p14="http://schemas.microsoft.com/office/powerpoint/2010/main" val="1972818645"/>
              </p:ext>
            </p:extLst>
          </p:nvPr>
        </p:nvGraphicFramePr>
        <p:xfrm>
          <a:off x="638166" y="1138773"/>
          <a:ext cx="10426862" cy="5608320"/>
        </p:xfrm>
        <a:graphic>
          <a:graphicData uri="http://schemas.openxmlformats.org/drawingml/2006/table">
            <a:tbl>
              <a:tblPr firstRow="1" bandRow="1">
                <a:tableStyleId>{616DA210-FB5B-4158-B5E0-FEB733F419BA}</a:tableStyleId>
              </a:tblPr>
              <a:tblGrid>
                <a:gridCol w="5213431">
                  <a:extLst>
                    <a:ext uri="{9D8B030D-6E8A-4147-A177-3AD203B41FA5}">
                      <a16:colId xmlns:a16="http://schemas.microsoft.com/office/drawing/2014/main" val="432208460"/>
                    </a:ext>
                  </a:extLst>
                </a:gridCol>
                <a:gridCol w="5213431">
                  <a:extLst>
                    <a:ext uri="{9D8B030D-6E8A-4147-A177-3AD203B41FA5}">
                      <a16:colId xmlns:a16="http://schemas.microsoft.com/office/drawing/2014/main" val="2292416677"/>
                    </a:ext>
                  </a:extLst>
                </a:gridCol>
              </a:tblGrid>
              <a:tr h="9106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500" b="1"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500" b="1" i="0" u="none" strike="noStrike" kern="1200" dirty="0">
                          <a:solidFill>
                            <a:schemeClr val="tx1"/>
                          </a:solidFill>
                          <a:effectLst/>
                          <a:latin typeface="+mn-lt"/>
                          <a:ea typeface="+mn-ea"/>
                          <a:cs typeface="+mn-cs"/>
                        </a:rPr>
                        <a:t>RMSE </a:t>
                      </a:r>
                      <a:r>
                        <a:rPr lang="en-US" sz="2500" b="0" i="0" u="none" strike="noStrike" kern="1200" dirty="0">
                          <a:solidFill>
                            <a:schemeClr val="tx1"/>
                          </a:solidFill>
                          <a:effectLst/>
                          <a:latin typeface="+mn-lt"/>
                          <a:ea typeface="+mn-ea"/>
                          <a:cs typeface="+mn-cs"/>
                        </a:rPr>
                        <a:t>(Root Mean Square Error)</a:t>
                      </a:r>
                      <a:endParaRPr lang="en-US" sz="2500" b="1" i="0" u="none" strike="noStrike" kern="1200" dirty="0">
                        <a:solidFill>
                          <a:schemeClr val="tx1"/>
                        </a:solidFill>
                        <a:effectLst/>
                        <a:latin typeface="+mn-lt"/>
                        <a:ea typeface="+mn-ea"/>
                        <a:cs typeface="+mn-cs"/>
                      </a:endParaRPr>
                    </a:p>
                  </a:txBody>
                  <a:tcPr/>
                </a:tc>
                <a:tc>
                  <a:txBody>
                    <a:bodyPr/>
                    <a:lstStyle/>
                    <a:p>
                      <a:r>
                        <a:rPr lang="en-US" sz="2500" b="0" i="0" kern="1200" dirty="0">
                          <a:solidFill>
                            <a:schemeClr val="tx1"/>
                          </a:solidFill>
                          <a:effectLst/>
                          <a:latin typeface="+mn-lt"/>
                          <a:ea typeface="+mn-ea"/>
                          <a:cs typeface="+mn-cs"/>
                        </a:rPr>
                        <a:t>Number that describes how far away the predictions are on average from the actual results. Lower RMSE represents better predictions.</a:t>
                      </a:r>
                    </a:p>
                  </a:txBody>
                  <a:tcPr/>
                </a:tc>
                <a:extLst>
                  <a:ext uri="{0D108BD9-81ED-4DB2-BD59-A6C34878D82A}">
                    <a16:rowId xmlns:a16="http://schemas.microsoft.com/office/drawing/2014/main" val="2081429498"/>
                  </a:ext>
                </a:extLst>
              </a:tr>
              <a:tr h="8866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500" b="1"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500" b="1" i="0" u="none" strike="noStrike" kern="1200" dirty="0">
                          <a:solidFill>
                            <a:schemeClr val="tx1"/>
                          </a:solidFill>
                          <a:effectLst/>
                          <a:latin typeface="+mn-lt"/>
                          <a:ea typeface="+mn-ea"/>
                          <a:cs typeface="+mn-cs"/>
                        </a:rPr>
                        <a:t>Sharpe</a:t>
                      </a:r>
                    </a:p>
                  </a:txBody>
                  <a:tcPr/>
                </a:tc>
                <a:tc>
                  <a:txBody>
                    <a:bodyPr/>
                    <a:lstStyle/>
                    <a:p>
                      <a:r>
                        <a:rPr lang="en-US" sz="2500" b="0" i="0" kern="1200" dirty="0">
                          <a:solidFill>
                            <a:schemeClr val="tx1"/>
                          </a:solidFill>
                          <a:effectLst/>
                          <a:latin typeface="+mn-lt"/>
                          <a:ea typeface="+mn-ea"/>
                          <a:cs typeface="+mn-cs"/>
                        </a:rPr>
                        <a:t>The amount of extra return received for each additional unit of risk. A higher value indicates a better risk-adjusted performance.</a:t>
                      </a:r>
                    </a:p>
                  </a:txBody>
                  <a:tcPr/>
                </a:tc>
                <a:extLst>
                  <a:ext uri="{0D108BD9-81ED-4DB2-BD59-A6C34878D82A}">
                    <a16:rowId xmlns:a16="http://schemas.microsoft.com/office/drawing/2014/main" val="1680131247"/>
                  </a:ext>
                </a:extLst>
              </a:tr>
              <a:tr h="683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500" b="1"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500" b="1" i="0" u="none" strike="noStrike" kern="1200" dirty="0">
                          <a:solidFill>
                            <a:schemeClr val="tx1"/>
                          </a:solidFill>
                          <a:effectLst/>
                          <a:latin typeface="+mn-lt"/>
                          <a:ea typeface="+mn-ea"/>
                          <a:cs typeface="+mn-cs"/>
                        </a:rPr>
                        <a:t>Information Coefficient</a:t>
                      </a:r>
                    </a:p>
                  </a:txBody>
                  <a:tcPr/>
                </a:tc>
                <a:tc>
                  <a:txBody>
                    <a:bodyPr/>
                    <a:lstStyle/>
                    <a:p>
                      <a:r>
                        <a:rPr lang="en-US" sz="2500" b="0" i="0" kern="1200" dirty="0">
                          <a:solidFill>
                            <a:schemeClr val="tx1"/>
                          </a:solidFill>
                          <a:effectLst/>
                          <a:latin typeface="+mn-lt"/>
                          <a:ea typeface="+mn-ea"/>
                          <a:cs typeface="+mn-cs"/>
                        </a:rPr>
                        <a:t>The effect that the change of one variable has on another changed variable. A positive interaction implies that as the variable increases, the impact of it on the other variable also increases. </a:t>
                      </a:r>
                    </a:p>
                  </a:txBody>
                  <a:tcPr/>
                </a:tc>
                <a:extLst>
                  <a:ext uri="{0D108BD9-81ED-4DB2-BD59-A6C34878D82A}">
                    <a16:rowId xmlns:a16="http://schemas.microsoft.com/office/drawing/2014/main" val="1998778973"/>
                  </a:ext>
                </a:extLst>
              </a:tr>
            </a:tbl>
          </a:graphicData>
        </a:graphic>
      </p:graphicFrame>
      <p:sp>
        <p:nvSpPr>
          <p:cNvPr id="2" name="TextBox 1">
            <a:extLst>
              <a:ext uri="{FF2B5EF4-FFF2-40B4-BE49-F238E27FC236}">
                <a16:creationId xmlns:a16="http://schemas.microsoft.com/office/drawing/2014/main" id="{C6DA80E4-B384-A24D-AC77-6B08AE08BB95}"/>
              </a:ext>
            </a:extLst>
          </p:cNvPr>
          <p:cNvSpPr txBox="1"/>
          <p:nvPr/>
        </p:nvSpPr>
        <p:spPr>
          <a:xfrm>
            <a:off x="0" y="0"/>
            <a:ext cx="12192000" cy="1138773"/>
          </a:xfrm>
          <a:prstGeom prst="rect">
            <a:avLst/>
          </a:prstGeom>
          <a:solidFill>
            <a:srgbClr val="0E9ED5"/>
          </a:solidFill>
        </p:spPr>
        <p:txBody>
          <a:bodyPr wrap="square" rtlCol="0">
            <a:spAutoFit/>
          </a:bodyPr>
          <a:lstStyle/>
          <a:p>
            <a:pPr algn="ctr"/>
            <a:endParaRPr lang="en-US" sz="2500" dirty="0">
              <a:solidFill>
                <a:srgbClr val="FFFFFF"/>
              </a:solidFill>
              <a:latin typeface="+mj-lt"/>
            </a:endParaRPr>
          </a:p>
          <a:p>
            <a:pPr algn="ctr"/>
            <a:r>
              <a:rPr lang="en-US" sz="2500" dirty="0">
                <a:solidFill>
                  <a:srgbClr val="FFFFFF"/>
                </a:solidFill>
                <a:latin typeface="+mj-lt"/>
              </a:rPr>
              <a:t>Evaluation Metrics Used</a:t>
            </a:r>
            <a:endParaRPr lang="en-US" sz="2500" b="1" dirty="0">
              <a:latin typeface="+mj-lt"/>
            </a:endParaRPr>
          </a:p>
          <a:p>
            <a:endParaRPr lang="en-US" dirty="0"/>
          </a:p>
        </p:txBody>
      </p:sp>
    </p:spTree>
    <p:extLst>
      <p:ext uri="{BB962C8B-B14F-4D97-AF65-F5344CB8AC3E}">
        <p14:creationId xmlns:p14="http://schemas.microsoft.com/office/powerpoint/2010/main" val="2898199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4CEA4-B034-7FA7-DF48-BAAB1E96F4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6391FB-A9E0-5E16-EDD0-540E5AFBDC9C}"/>
              </a:ext>
            </a:extLst>
          </p:cNvPr>
          <p:cNvSpPr>
            <a:spLocks noGrp="1"/>
          </p:cNvSpPr>
          <p:nvPr>
            <p:ph type="title"/>
          </p:nvPr>
        </p:nvSpPr>
        <p:spPr>
          <a:xfrm>
            <a:off x="940675" y="428476"/>
            <a:ext cx="9895951" cy="1033669"/>
          </a:xfrm>
        </p:spPr>
        <p:txBody>
          <a:bodyPr>
            <a:normAutofit fontScale="90000"/>
          </a:bodyPr>
          <a:lstStyle/>
          <a:p>
            <a:br>
              <a:rPr lang="en-US" sz="4000">
                <a:solidFill>
                  <a:srgbClr val="FFFFFF"/>
                </a:solidFill>
              </a:rPr>
            </a:br>
            <a:r>
              <a:rPr lang="en-US" sz="4000">
                <a:solidFill>
                  <a:srgbClr val="FFFFFF"/>
                </a:solidFill>
              </a:rPr>
              <a:t>Salary Worth Report – Summary</a:t>
            </a:r>
            <a:endParaRPr lang="en-US" sz="4000" dirty="0">
              <a:solidFill>
                <a:srgbClr val="FFFFFF"/>
              </a:solidFill>
            </a:endParaRPr>
          </a:p>
        </p:txBody>
      </p:sp>
      <p:sp>
        <p:nvSpPr>
          <p:cNvPr id="4" name="TextBox 3">
            <a:extLst>
              <a:ext uri="{FF2B5EF4-FFF2-40B4-BE49-F238E27FC236}">
                <a16:creationId xmlns:a16="http://schemas.microsoft.com/office/drawing/2014/main" id="{9760B889-1E75-BF3F-A247-A95296FF78A1}"/>
              </a:ext>
            </a:extLst>
          </p:cNvPr>
          <p:cNvSpPr txBox="1"/>
          <p:nvPr/>
        </p:nvSpPr>
        <p:spPr>
          <a:xfrm>
            <a:off x="0" y="1122514"/>
            <a:ext cx="12297103" cy="5947782"/>
          </a:xfrm>
          <a:prstGeom prst="rect">
            <a:avLst/>
          </a:prstGeom>
          <a:noFill/>
        </p:spPr>
        <p:txBody>
          <a:bodyPr wrap="square" rtlCol="0">
            <a:spAutoFit/>
          </a:bodyPr>
          <a:lstStyle/>
          <a:p>
            <a:pPr>
              <a:buNone/>
            </a:pPr>
            <a:endParaRPr lang="en-US" sz="2050" b="1" u="sng" dirty="0">
              <a:solidFill>
                <a:srgbClr val="000000"/>
              </a:solidFill>
              <a:latin typeface="Tw Cen MT" panose="020B0602020104020603" pitchFamily="34" charset="77"/>
            </a:endParaRPr>
          </a:p>
          <a:p>
            <a:pPr>
              <a:buNone/>
            </a:pPr>
            <a:r>
              <a:rPr lang="en-US" sz="2400" b="1" u="sng" dirty="0">
                <a:solidFill>
                  <a:srgbClr val="000000"/>
                </a:solidFill>
                <a:latin typeface="Tw Cen MT" panose="020B0602020104020603" pitchFamily="34" charset="77"/>
              </a:rPr>
              <a:t>Summary</a:t>
            </a:r>
            <a:r>
              <a:rPr lang="en-US" sz="2050" b="1" u="sng" dirty="0">
                <a:solidFill>
                  <a:srgbClr val="000000"/>
                </a:solidFill>
                <a:latin typeface="Tw Cen MT" panose="020B0602020104020603" pitchFamily="34" charset="77"/>
              </a:rPr>
              <a:t>: </a:t>
            </a:r>
            <a:r>
              <a:rPr lang="en-US" sz="2400" dirty="0">
                <a:solidFill>
                  <a:srgbClr val="000000"/>
                </a:solidFill>
                <a:latin typeface="Tw Cen MT" panose="020B0602020104020603" pitchFamily="34" charset="77"/>
              </a:rPr>
              <a:t>The purpose of this project was to see if disagreement among equity factors could be used to predict next day market performance. The model produced a negative Sharpe Ratio and Information Coefficient, indicating that the factor disagreement signal had essentially no effect in predicting next-day market returns. This proves that the Ridge Regression Model struggled to extract any meaningful insights from the input data.  </a:t>
            </a:r>
          </a:p>
          <a:p>
            <a:pPr>
              <a:buNone/>
            </a:pPr>
            <a:r>
              <a:rPr lang="en-US" sz="2400" b="1" u="sng" dirty="0">
                <a:solidFill>
                  <a:srgbClr val="000000"/>
                </a:solidFill>
                <a:latin typeface="Tw Cen MT" panose="020B0602020104020603" pitchFamily="34" charset="77"/>
              </a:rPr>
              <a:t>Key Takeaways: </a:t>
            </a:r>
            <a:r>
              <a:rPr lang="en-US" sz="2400" dirty="0">
                <a:solidFill>
                  <a:srgbClr val="000000"/>
                </a:solidFill>
                <a:latin typeface="Tw Cen MT" panose="020B0602020104020603" pitchFamily="34" charset="77"/>
              </a:rPr>
              <a:t>As stated above, factor disagreement did not predict next-day market returns in this model. The variable ‘factor_disagreement_5d’ had the largest positive coefficient, indicating that there might be something there to further investigate in the future and carry some significance. Moreover, the '</a:t>
            </a:r>
            <a:r>
              <a:rPr lang="en-US" sz="2400" dirty="0" err="1">
                <a:solidFill>
                  <a:srgbClr val="000000"/>
                </a:solidFill>
                <a:latin typeface="Tw Cen MT" panose="020B0602020104020603" pitchFamily="34" charset="77"/>
              </a:rPr>
              <a:t>disagreement_x_vol</a:t>
            </a:r>
            <a:r>
              <a:rPr lang="en-US" sz="2400" dirty="0">
                <a:solidFill>
                  <a:srgbClr val="000000"/>
                </a:solidFill>
                <a:latin typeface="Tw Cen MT" panose="020B0602020104020603" pitchFamily="34" charset="77"/>
              </a:rPr>
              <a:t>’ had close to no impact as well in the model, revealing that volatility combined with disagreement among equity factors did not add any stress-signal.</a:t>
            </a:r>
          </a:p>
          <a:p>
            <a:pPr>
              <a:buNone/>
            </a:pPr>
            <a:r>
              <a:rPr lang="en-US" sz="2300" b="1" u="sng" dirty="0">
                <a:solidFill>
                  <a:srgbClr val="000000"/>
                </a:solidFill>
                <a:latin typeface="Tw Cen MT" panose="020B0602020104020603" pitchFamily="34" charset="77"/>
              </a:rPr>
              <a:t>Next Steps: </a:t>
            </a:r>
            <a:r>
              <a:rPr lang="en-US" sz="2300" dirty="0">
                <a:solidFill>
                  <a:srgbClr val="000000"/>
                </a:solidFill>
                <a:latin typeface="Tw Cen MT" panose="020B0602020104020603" pitchFamily="34" charset="77"/>
              </a:rPr>
              <a:t>In the future, I am looking forward to investigating this matter further. I believe testing more models, such as </a:t>
            </a:r>
            <a:r>
              <a:rPr lang="en-US" sz="2300" dirty="0" err="1">
                <a:solidFill>
                  <a:srgbClr val="000000"/>
                </a:solidFill>
                <a:latin typeface="Tw Cen MT" panose="020B0602020104020603" pitchFamily="34" charset="77"/>
              </a:rPr>
              <a:t>XGBoost</a:t>
            </a:r>
            <a:r>
              <a:rPr lang="en-US" sz="2300" dirty="0">
                <a:solidFill>
                  <a:srgbClr val="000000"/>
                </a:solidFill>
                <a:latin typeface="Tw Cen MT" panose="020B0602020104020603" pitchFamily="34" charset="77"/>
              </a:rPr>
              <a:t> and LSTM could be intriguing to look at. Involving more data, such as inflation reports, GDP growth, and VIX fear </a:t>
            </a:r>
            <a:r>
              <a:rPr lang="en-US" sz="2300">
                <a:solidFill>
                  <a:srgbClr val="000000"/>
                </a:solidFill>
                <a:latin typeface="Tw Cen MT" panose="020B0602020104020603" pitchFamily="34" charset="77"/>
              </a:rPr>
              <a:t>index would </a:t>
            </a:r>
            <a:r>
              <a:rPr lang="en-US" sz="2300" dirty="0">
                <a:solidFill>
                  <a:srgbClr val="000000"/>
                </a:solidFill>
                <a:latin typeface="Tw Cen MT" panose="020B0602020104020603" pitchFamily="34" charset="77"/>
              </a:rPr>
              <a:t>capture more information in regards to investor and economic activity. Retesting this project with these models and new features could get a much better model performance. </a:t>
            </a:r>
          </a:p>
        </p:txBody>
      </p:sp>
      <p:sp>
        <p:nvSpPr>
          <p:cNvPr id="3" name="TextBox 2">
            <a:extLst>
              <a:ext uri="{FF2B5EF4-FFF2-40B4-BE49-F238E27FC236}">
                <a16:creationId xmlns:a16="http://schemas.microsoft.com/office/drawing/2014/main" id="{3D044C83-271E-D2C8-A330-E7A017163B44}"/>
              </a:ext>
            </a:extLst>
          </p:cNvPr>
          <p:cNvSpPr txBox="1"/>
          <p:nvPr/>
        </p:nvSpPr>
        <p:spPr>
          <a:xfrm>
            <a:off x="0" y="0"/>
            <a:ext cx="12192000" cy="1523494"/>
          </a:xfrm>
          <a:prstGeom prst="rect">
            <a:avLst/>
          </a:prstGeom>
          <a:solidFill>
            <a:srgbClr val="0E9ED5"/>
          </a:solidFill>
        </p:spPr>
        <p:txBody>
          <a:bodyPr wrap="square" rtlCol="0">
            <a:spAutoFit/>
          </a:bodyPr>
          <a:lstStyle/>
          <a:p>
            <a:pPr algn="ctr"/>
            <a:br>
              <a:rPr lang="en-US" sz="2500" dirty="0">
                <a:solidFill>
                  <a:srgbClr val="FFFFFF"/>
                </a:solidFill>
              </a:rPr>
            </a:br>
            <a:r>
              <a:rPr lang="en-US" sz="2500" dirty="0">
                <a:solidFill>
                  <a:srgbClr val="FFFFFF"/>
                </a:solidFill>
              </a:rPr>
              <a:t>Does Disagreement Among Equity factors Signal Higher or Lower Market Excess Returns?– Conclusion</a:t>
            </a:r>
            <a:endParaRPr lang="en-US" sz="2500" b="1" dirty="0"/>
          </a:p>
          <a:p>
            <a:endParaRPr lang="en-US" dirty="0"/>
          </a:p>
        </p:txBody>
      </p:sp>
    </p:spTree>
    <p:extLst>
      <p:ext uri="{BB962C8B-B14F-4D97-AF65-F5344CB8AC3E}">
        <p14:creationId xmlns:p14="http://schemas.microsoft.com/office/powerpoint/2010/main" val="2903671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13036</TotalTime>
  <Words>754</Words>
  <Application>Microsoft Macintosh PowerPoint</Application>
  <PresentationFormat>Widescreen</PresentationFormat>
  <Paragraphs>58</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Tw Cen MT</vt:lpstr>
      <vt:lpstr>Office Theme</vt:lpstr>
      <vt:lpstr>Does Disagreement Among Equity Factors Signal Higher or Lower Market Excess Returns Tomorrow?</vt:lpstr>
      <vt:lpstr> Salary Worth Report – Summary</vt:lpstr>
      <vt:lpstr>PowerPoint Presentation</vt:lpstr>
      <vt:lpstr>PowerPoint Presentation</vt:lpstr>
      <vt:lpstr> Salary Worth Report –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Wolfe</dc:creator>
  <cp:lastModifiedBy>Andrew Wolfe</cp:lastModifiedBy>
  <cp:revision>450</cp:revision>
  <dcterms:created xsi:type="dcterms:W3CDTF">2025-07-28T00:12:37Z</dcterms:created>
  <dcterms:modified xsi:type="dcterms:W3CDTF">2026-02-28T20:23:41Z</dcterms:modified>
</cp:coreProperties>
</file>