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8" r:id="rId2"/>
    <p:sldId id="257" r:id="rId3"/>
    <p:sldId id="260" r:id="rId4"/>
    <p:sldId id="267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9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616"/>
    <p:restoredTop sz="91528"/>
  </p:normalViewPr>
  <p:slideViewPr>
    <p:cSldViewPr snapToGrid="0">
      <p:cViewPr varScale="1">
        <p:scale>
          <a:sx n="103" d="100"/>
          <a:sy n="103" d="100"/>
        </p:scale>
        <p:origin x="200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CC6FA-A6E0-8946-BC63-D0796D589323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494FFB-5E3A-7C40-9E97-20C634CEF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68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4FFB-5E3A-7C40-9E97-20C634CEF3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716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4FFB-5E3A-7C40-9E97-20C634CEF3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095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4FFB-5E3A-7C40-9E97-20C634CEF3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00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92DB0-0B28-9AA2-96D8-6A17E270D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A6DBB-8055-A542-9B38-2C9924368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13AAC8-7179-D31B-551E-2188CE56E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9B6C7-D9DE-CFD2-214D-0510789C6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4FFB-5E3A-7C40-9E97-20C634CEF3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68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4FFB-5E3A-7C40-9E97-20C634CEF3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717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0AE25-166C-D2AE-86C6-1D8AC6468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385A4A-3E29-EC30-60ED-41FD83296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268F1-B426-F937-23A2-9D9F7BB2F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CECCD-F563-03CE-F33D-136D91A85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3C102-449D-3012-0C40-EACD2CC49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735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14321-341F-B496-3C4B-7EFAA2F81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28FDB-5710-CEC4-7D78-336DB6DEA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F9982-D068-822F-41ED-7B7774AF8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1E341-358B-01B0-B693-BC359D1B4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47575-A31F-7300-87F1-108919E0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39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AAA4E-5B8C-7773-A27F-70D865BA3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D728F-BD9F-2CCA-A841-BE1450E0D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7C9A8-FFFC-02D9-3E06-9F940A383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708DF-9200-CEB8-AABC-C936BE278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174B7-013E-A38A-FBD0-E5808C1A7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53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88CB-F018-71D5-F1CD-581571C35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1936E-0162-B369-1F51-98373E7FA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EBC77-D2F2-0989-C58F-CE66EF557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8245C-9496-0A9A-6C13-0EE69F7E4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4D3E9-4489-50AF-A379-E6134B11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D4834-4674-90B9-67D5-C822C0BB6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133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D942D-2898-852A-3098-AE5A884F1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63F42-2B44-94AB-10E6-BB5F2ADF3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B0B5FB-D72B-2778-27C0-92ADC189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F3D10-FC1A-1ABF-FFE2-E20F651B3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09CDB4-4F05-8EAB-A069-8F4AB41BF9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83C7B0-3A41-7A3D-9E4B-F90B941EA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152A96-E293-F75F-E543-D09D8C265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40E096-96A3-608E-898D-686B74CA5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666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DA8D7-F28A-68F1-61EC-CD439C9FF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2E458-4CA2-51AF-3236-D32D56827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5FA354-4166-C56E-A255-D04AF5071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37A4F7-D12B-5D2F-8B74-22C6AF852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51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BC0C29-D20E-9059-8819-EA854B4CB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1E465-9EB8-EEBD-F1B7-9F28151AB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D9FE8-D76E-280F-83E3-E2F7DFBA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954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E4122-8198-8D83-F447-BF42446DC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FEB65-E309-A3B8-EF92-3B15F6F9A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49E77-1AAA-7F9B-00C3-961658131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ED479-9B22-38D1-02CB-AC23CE909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EDEE3-5973-A7B0-46F8-6EF0F86A9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2F5B5-B8EE-1F0B-C93C-AFD39C26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5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94D89-3064-28AA-ECDE-063896E13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8E1840-F047-2CE5-C3AF-637C07527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CD7FA-8CB6-6CE3-059B-EBA61BD33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F3571-6404-AC4D-A09E-49C537496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304C6-A96F-D5EC-BFC3-BACE8C902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3EB47-6796-2171-8896-5AC83AF6D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17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8E7E-42A1-124B-A340-A845754C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7ACDC-8F23-C71E-7DBA-F0BD59854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10F0C-DEDB-6082-694C-779BD4E1A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513C5-5DFF-C56E-D9F9-C50B414B2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79B13-9D49-51A5-4EE2-02D4451F4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54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B29699-E6B2-2EFA-5E96-78EB6DC8B1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631091-489E-7FD3-81CB-94DB430C3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92EFB-9750-2941-C9DA-A9920881F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67388-5E83-8843-B620-EC1D735B2C7E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1A9FA-50A8-325A-ABC7-CC637A403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D9DD4-1DDA-E57A-3043-FF32BF011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98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F4B1E1-7864-2822-6D2A-1C716A2DF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40F72-E965-023F-563E-94F671350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F527B-6762-99F4-EEBB-C63282DB6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B67388-5E83-8843-B620-EC1D735B2C7E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CC9B-25F3-3A7F-7C8B-81B7C3CAB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18A92-8073-458D-50A3-3AAF89DB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21F564-5BBB-E34D-9334-EE9CB567B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89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22667-4C32-25D0-CCE6-CA9E56439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6300" dirty="0"/>
              <a:t>NFL Franchise 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E69B81-BF4E-C6A1-FA75-225CE129F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By Andrew Wolfe</a:t>
            </a:r>
          </a:p>
          <a:p>
            <a:pPr algn="l"/>
            <a:r>
              <a:rPr lang="en-US" dirty="0"/>
              <a:t>April 2026</a:t>
            </a:r>
          </a:p>
        </p:txBody>
      </p:sp>
    </p:spTree>
    <p:extLst>
      <p:ext uri="{BB962C8B-B14F-4D97-AF65-F5344CB8AC3E}">
        <p14:creationId xmlns:p14="http://schemas.microsoft.com/office/powerpoint/2010/main" val="1820116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8B146-3CBC-5D9B-900E-20124543E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675" y="428476"/>
            <a:ext cx="9895951" cy="1033669"/>
          </a:xfrm>
        </p:spPr>
        <p:txBody>
          <a:bodyPr>
            <a:normAutofit fontScale="90000"/>
          </a:bodyPr>
          <a:lstStyle/>
          <a:p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Salary Worth Report –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95212F-80DE-9374-A866-B19C31615EBB}"/>
              </a:ext>
            </a:extLst>
          </p:cNvPr>
          <p:cNvSpPr txBox="1"/>
          <p:nvPr/>
        </p:nvSpPr>
        <p:spPr>
          <a:xfrm>
            <a:off x="0" y="754053"/>
            <a:ext cx="12297103" cy="6201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latin typeface="Tw Cen MT" panose="020B0602020104020603" pitchFamily="34" charset="77"/>
              </a:rPr>
              <a:t>Context: </a:t>
            </a:r>
            <a:r>
              <a:rPr lang="en-US" sz="2200" dirty="0">
                <a:latin typeface="Tw Cen MT" panose="020B0602020104020603" pitchFamily="34" charset="77"/>
              </a:rPr>
              <a:t>This project investigates and predicts the value of NFL franchises. Factors included in this project are financial performance, market characteristics, on-field performance metrics, and brand equity. The goal of this project is to identify mispriced teams / assets from the viewpoint of a private equity acquisition in the future.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w Cen MT" panose="020B0602020104020603" pitchFamily="34" charset="77"/>
              </a:rPr>
              <a:t>Dataset: </a:t>
            </a:r>
            <a:r>
              <a:rPr lang="en-US" sz="2200" dirty="0">
                <a:latin typeface="Tw Cen MT" panose="020B0602020104020603" pitchFamily="34" charset="77"/>
              </a:rPr>
              <a:t>There were various datasets used in this project, including Forbes, </a:t>
            </a:r>
            <a:r>
              <a:rPr lang="en-US" sz="2200" dirty="0" err="1">
                <a:latin typeface="Tw Cen MT" panose="020B0602020104020603" pitchFamily="34" charset="77"/>
              </a:rPr>
              <a:t>nflverse</a:t>
            </a:r>
            <a:r>
              <a:rPr lang="en-US" sz="2200" dirty="0">
                <a:latin typeface="Tw Cen MT" panose="020B0602020104020603" pitchFamily="34" charset="77"/>
              </a:rPr>
              <a:t>, and supplementary hardcoded data from online sources. Features were created to reflect private equity values including the impact of the brand, economic value, and recent growth trajectory of NFL Franchises.</a:t>
            </a:r>
            <a:endParaRPr lang="en-US" sz="2200" b="1" dirty="0">
              <a:latin typeface="Tw Cen MT" panose="020B06020201040206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w Cen MT" panose="020B0602020104020603" pitchFamily="34" charset="77"/>
              </a:rPr>
              <a:t>Machine Learning Models Used: </a:t>
            </a:r>
            <a:r>
              <a:rPr lang="en-US" sz="2200" dirty="0">
                <a:latin typeface="Tw Cen MT" panose="020B0602020104020603" pitchFamily="34" charset="77"/>
              </a:rPr>
              <a:t>Random Forest, Gradient Boosting, and Ridge Regression models were tested. The models above all used a train – test split and a Leave-One-Out Cross (LOOC) Evaluation method. The purpose of the LOOC is to provide an unbiased and accurate estimate on unseen data where there is a low sample size. In this case we have a small sample size of n = 32 teams. R^2 (coefficient of determination) and the Mean Absolute Error were used as evaluation metrics.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w Cen MT" panose="020B0602020104020603" pitchFamily="34" charset="77"/>
              </a:rPr>
              <a:t>Future Implications: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Tw Cen MT" panose="020B0602020104020603" pitchFamily="34" charset="77"/>
              </a:rPr>
              <a:t>Would incorporating debt load and new stadium pipeline data meaningfully improve mispricing signals?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Tw Cen MT" panose="020B0602020104020603" pitchFamily="34" charset="77"/>
              </a:rPr>
              <a:t>Can this model be extended to MLB, NBA, and NHL Franchises to enable valuation benchmarking?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Tw Cen MT" panose="020B0602020104020603" pitchFamily="34" charset="77"/>
              </a:rPr>
              <a:t>How would adding media right deals expirations affect inflection points in franchise values in the future?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1AEF9-0771-3CFB-7AC6-999BECF5C082}"/>
              </a:ext>
            </a:extLst>
          </p:cNvPr>
          <p:cNvSpPr txBox="1"/>
          <p:nvPr/>
        </p:nvSpPr>
        <p:spPr>
          <a:xfrm>
            <a:off x="0" y="0"/>
            <a:ext cx="12192000" cy="754053"/>
          </a:xfrm>
          <a:prstGeom prst="rect">
            <a:avLst/>
          </a:prstGeom>
          <a:solidFill>
            <a:srgbClr val="0E9ED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500" dirty="0">
                <a:solidFill>
                  <a:srgbClr val="FFFFFF"/>
                </a:solidFill>
                <a:latin typeface="+mj-lt"/>
              </a:rPr>
              <a:t>NFL Franchise Valuation Context</a:t>
            </a:r>
            <a:endParaRPr lang="en-US" sz="2500" b="1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292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D6D365-44C6-788C-3878-E9AC03050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968878"/>
              </p:ext>
            </p:extLst>
          </p:nvPr>
        </p:nvGraphicFramePr>
        <p:xfrm>
          <a:off x="689972" y="1236890"/>
          <a:ext cx="10426862" cy="546614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213431">
                  <a:extLst>
                    <a:ext uri="{9D8B030D-6E8A-4147-A177-3AD203B41FA5}">
                      <a16:colId xmlns:a16="http://schemas.microsoft.com/office/drawing/2014/main" val="432208460"/>
                    </a:ext>
                  </a:extLst>
                </a:gridCol>
                <a:gridCol w="5213431">
                  <a:extLst>
                    <a:ext uri="{9D8B030D-6E8A-4147-A177-3AD203B41FA5}">
                      <a16:colId xmlns:a16="http://schemas.microsoft.com/office/drawing/2014/main" val="2292416677"/>
                    </a:ext>
                  </a:extLst>
                </a:gridCol>
              </a:tblGrid>
              <a:tr h="467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Revenue_mm</a:t>
                      </a:r>
                      <a:endParaRPr lang="en-US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Total annual franchise revenue expressed in millions of dollars. This includes ticket sales, merchandise, sponsorships, and TV deals.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429498"/>
                  </a:ext>
                </a:extLst>
              </a:tr>
              <a:tr h="467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Op_income_mm</a:t>
                      </a:r>
                      <a:endParaRPr lang="en-US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The operating income. This is equal to revenue – operating expenses. This was measured in millions of dollars and is very close approximation to EBITDA.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012091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rev_cagr_5yr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The 5-year compound annual growth rate of revenue from 2019 to 2025. This captures the franchise growth trajectory.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131247"/>
                  </a:ext>
                </a:extLst>
              </a:tr>
              <a:tr h="648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social_following_mm</a:t>
                      </a:r>
                      <a:endParaRPr lang="en-US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The combined total of Instagram and twitter followers in millions. This is very relevant for sponsorship and merchandise monetization upside.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778973"/>
                  </a:ext>
                </a:extLst>
              </a:tr>
              <a:tr h="467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Tv_market_rank_inv</a:t>
                      </a:r>
                      <a:endParaRPr lang="en-US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The Nielsen DMA television market rankings inverse. Inverse was used so that higher values could indicate better markets, creating a linear relationship with total valuation.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812852"/>
                  </a:ext>
                </a:extLst>
              </a:tr>
              <a:tr h="467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Win_pct_5yr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Win percentage during the regular season averaged across the 2019-2025 seasons.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8820"/>
                  </a:ext>
                </a:extLst>
              </a:tr>
              <a:tr h="4590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Stadium_owned</a:t>
                      </a:r>
                      <a:endParaRPr lang="en-US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/>
                        <a:t>Binary indicator representing who truly owns the stadium lease (1 = under team or owner control).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909560"/>
                  </a:ext>
                </a:extLst>
              </a:tr>
              <a:tr h="467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Avg_attendance</a:t>
                      </a:r>
                      <a:endParaRPr lang="en-US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Average home game attendance across the 2019-2025 seasons.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454010"/>
                  </a:ext>
                </a:extLst>
              </a:tr>
              <a:tr h="4590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u="sng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Valuation_nm</a:t>
                      </a:r>
                      <a:endParaRPr lang="en-US" sz="1800" b="0" i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Forbes-report franchise equity value in millions of dollars. This is the target variable.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46806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97C9C4B-2ECB-2413-4C2F-E1161BA2AA38}"/>
              </a:ext>
            </a:extLst>
          </p:cNvPr>
          <p:cNvSpPr txBox="1"/>
          <p:nvPr/>
        </p:nvSpPr>
        <p:spPr>
          <a:xfrm>
            <a:off x="0" y="0"/>
            <a:ext cx="12192000" cy="1138773"/>
          </a:xfrm>
          <a:prstGeom prst="rect">
            <a:avLst/>
          </a:prstGeom>
          <a:solidFill>
            <a:srgbClr val="0E9ED5"/>
          </a:solidFill>
        </p:spPr>
        <p:txBody>
          <a:bodyPr wrap="square" rtlCol="0">
            <a:spAutoFit/>
          </a:bodyPr>
          <a:lstStyle/>
          <a:p>
            <a:pPr algn="ctr"/>
            <a:endParaRPr lang="en-US" sz="2500" dirty="0">
              <a:solidFill>
                <a:srgbClr val="FFFFFF"/>
              </a:solidFill>
              <a:latin typeface="+mj-lt"/>
            </a:endParaRPr>
          </a:p>
          <a:p>
            <a:pPr algn="ctr"/>
            <a:r>
              <a:rPr lang="en-US" sz="2500" dirty="0">
                <a:solidFill>
                  <a:srgbClr val="FFFFFF"/>
                </a:solidFill>
                <a:latin typeface="+mj-lt"/>
              </a:rPr>
              <a:t>Input and Target Variables</a:t>
            </a:r>
            <a:endParaRPr lang="en-US" sz="2500" b="1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1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14AEC-E429-1377-300F-FE58485A1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5F88E4-FD78-A094-829C-3E19483C7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988944"/>
              </p:ext>
            </p:extLst>
          </p:nvPr>
        </p:nvGraphicFramePr>
        <p:xfrm>
          <a:off x="733700" y="1370785"/>
          <a:ext cx="10426862" cy="32308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213431">
                  <a:extLst>
                    <a:ext uri="{9D8B030D-6E8A-4147-A177-3AD203B41FA5}">
                      <a16:colId xmlns:a16="http://schemas.microsoft.com/office/drawing/2014/main" val="432208460"/>
                    </a:ext>
                  </a:extLst>
                </a:gridCol>
                <a:gridCol w="5213431">
                  <a:extLst>
                    <a:ext uri="{9D8B030D-6E8A-4147-A177-3AD203B41FA5}">
                      <a16:colId xmlns:a16="http://schemas.microsoft.com/office/drawing/2014/main" val="2292416677"/>
                    </a:ext>
                  </a:extLst>
                </a:gridCol>
              </a:tblGrid>
              <a:tr h="9106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R-Squared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correlation coefficient. Explains the amount of variation used in the model. It ranges from 0 to 1, where higher numbers indicate better model evaluations. The R-Squared measures how much of a model’s dispersion is explained.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429498"/>
                  </a:ext>
                </a:extLst>
              </a:tr>
              <a:tr h="8866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 Absolute Error. The average number of dollars the model’s predicted valuation missed the actual valuation expressed by Forbes (in millions).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13124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6DA80E4-B384-A24D-AC77-6B08AE08BB95}"/>
              </a:ext>
            </a:extLst>
          </p:cNvPr>
          <p:cNvSpPr txBox="1"/>
          <p:nvPr/>
        </p:nvSpPr>
        <p:spPr>
          <a:xfrm>
            <a:off x="0" y="0"/>
            <a:ext cx="12192000" cy="1138773"/>
          </a:xfrm>
          <a:prstGeom prst="rect">
            <a:avLst/>
          </a:prstGeom>
          <a:solidFill>
            <a:srgbClr val="0E9ED5"/>
          </a:solidFill>
        </p:spPr>
        <p:txBody>
          <a:bodyPr wrap="square" rtlCol="0">
            <a:spAutoFit/>
          </a:bodyPr>
          <a:lstStyle/>
          <a:p>
            <a:pPr algn="ctr"/>
            <a:endParaRPr lang="en-US" sz="2500" dirty="0">
              <a:solidFill>
                <a:srgbClr val="FFFFFF"/>
              </a:solidFill>
              <a:latin typeface="+mj-lt"/>
            </a:endParaRPr>
          </a:p>
          <a:p>
            <a:pPr algn="ctr"/>
            <a:r>
              <a:rPr lang="en-US" sz="2500" dirty="0">
                <a:solidFill>
                  <a:srgbClr val="FFFFFF"/>
                </a:solidFill>
                <a:latin typeface="+mj-lt"/>
              </a:rPr>
              <a:t>Evaluation Metrics and Results</a:t>
            </a:r>
            <a:endParaRPr lang="en-US" sz="2500" b="1" dirty="0">
              <a:latin typeface="+mj-lt"/>
            </a:endParaRP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520CF4-EB25-5A84-9D26-E17D6E2E9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778925"/>
              </p:ext>
            </p:extLst>
          </p:nvPr>
        </p:nvGraphicFramePr>
        <p:xfrm>
          <a:off x="2032000" y="4833677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9963427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485412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0349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R^2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970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874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$641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0.699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7804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118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8199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4CEA4-B034-7FA7-DF48-BAAB1E96F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91FB-A9E0-5E16-EDD0-540E5AFB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675" y="428476"/>
            <a:ext cx="9895951" cy="1033669"/>
          </a:xfrm>
        </p:spPr>
        <p:txBody>
          <a:bodyPr>
            <a:normAutofit fontScale="90000"/>
          </a:bodyPr>
          <a:lstStyle/>
          <a:p>
            <a:br>
              <a:rPr lang="en-US" sz="4000">
                <a:solidFill>
                  <a:srgbClr val="FFFFFF"/>
                </a:solidFill>
              </a:rPr>
            </a:br>
            <a:r>
              <a:rPr lang="en-US" sz="4000">
                <a:solidFill>
                  <a:srgbClr val="FFFFFF"/>
                </a:solidFill>
              </a:rPr>
              <a:t>Salary Worth Report – Summary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60B889-1E75-BF3F-A247-A95296FF78A1}"/>
              </a:ext>
            </a:extLst>
          </p:cNvPr>
          <p:cNvSpPr txBox="1"/>
          <p:nvPr/>
        </p:nvSpPr>
        <p:spPr>
          <a:xfrm>
            <a:off x="0" y="1122514"/>
            <a:ext cx="12297103" cy="6078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rgbClr val="000000"/>
                </a:solidFill>
                <a:latin typeface="Tw Cen MT" panose="020B0602020104020603" pitchFamily="34" charset="77"/>
              </a:rPr>
              <a:t>Summary</a:t>
            </a:r>
            <a:r>
              <a:rPr lang="en-US" sz="2050" b="1" u="sng" dirty="0">
                <a:solidFill>
                  <a:srgbClr val="000000"/>
                </a:solidFill>
                <a:latin typeface="Tw Cen MT" panose="020B0602020104020603" pitchFamily="34" charset="77"/>
              </a:rPr>
              <a:t>: </a:t>
            </a:r>
            <a:r>
              <a:rPr lang="en-US" sz="2050" dirty="0">
                <a:solidFill>
                  <a:srgbClr val="000000"/>
                </a:solidFill>
                <a:latin typeface="Tw Cen MT" panose="020B0602020104020603" pitchFamily="34" charset="77"/>
              </a:rPr>
              <a:t>A machine learning model and pipeline was created to evaluate and predict the true value of NFL Franchises. About eight features involving on-field results, financial performance, brand equity, social media popularity, and market quality were used. Data was from Forbes, </a:t>
            </a:r>
            <a:r>
              <a:rPr lang="en-US" sz="2050" dirty="0" err="1">
                <a:solidFill>
                  <a:srgbClr val="000000"/>
                </a:solidFill>
                <a:latin typeface="Tw Cen MT" panose="020B0602020104020603" pitchFamily="34" charset="77"/>
              </a:rPr>
              <a:t>nflverse</a:t>
            </a:r>
            <a:r>
              <a:rPr lang="en-US" sz="2050" dirty="0">
                <a:solidFill>
                  <a:srgbClr val="000000"/>
                </a:solidFill>
                <a:latin typeface="Tw Cen MT" panose="020B0602020104020603" pitchFamily="34" charset="77"/>
              </a:rPr>
              <a:t>, Wikipedia, and other supplementary websites. Random Forest, Ridge Regression, and Gradient Boosting Models were used in a 70-30 train-test split. The purpose of these models was to investigate and flag NFL Franchises valued above or below their true value.  </a:t>
            </a:r>
            <a:endParaRPr lang="en-US" sz="2400" b="1" u="sng" dirty="0">
              <a:solidFill>
                <a:srgbClr val="000000"/>
              </a:solidFill>
              <a:latin typeface="Tw Cen MT" panose="020B0602020104020603" pitchFamily="34" charset="77"/>
            </a:endParaRPr>
          </a:p>
          <a:p>
            <a:pPr>
              <a:buNone/>
            </a:pPr>
            <a:r>
              <a:rPr lang="en-US" sz="2400" b="1" u="sng" dirty="0">
                <a:solidFill>
                  <a:srgbClr val="000000"/>
                </a:solidFill>
                <a:latin typeface="Tw Cen MT" panose="020B0602020104020603" pitchFamily="34" charset="77"/>
              </a:rPr>
              <a:t>Key Takeaways: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77"/>
              </a:rPr>
              <a:t>Revenue and Operating Income explained over 65% of the model’s predictive power.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77"/>
              </a:rPr>
              <a:t>The Chargers and Browns were identified as the most undervalued franchises – their predicted valuations exceeded current market pricing.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77"/>
              </a:rPr>
              <a:t>Stadium ownership ranked the lowest in terms of feature importance – indicating that building economics are not fully priced in the valuation market. This represents a potential inefficiency for private equity valuations in the future. </a:t>
            </a:r>
          </a:p>
          <a:p>
            <a:pPr>
              <a:buNone/>
            </a:pPr>
            <a:r>
              <a:rPr lang="en-US" sz="2300" b="1" u="sng" dirty="0">
                <a:solidFill>
                  <a:srgbClr val="000000"/>
                </a:solidFill>
                <a:latin typeface="Tw Cen MT" panose="020B0602020104020603" pitchFamily="34" charset="77"/>
              </a:rPr>
              <a:t>Next Steps: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77"/>
              </a:rPr>
              <a:t>How would implementing a Leave-One-Out Cross Validation Model (running 32 separate models trained each time on 31 teams and predicating the one held out 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77"/>
                <a:sym typeface="Wingdings" pitchFamily="2" charset="2"/>
              </a:rPr>
              <a:t> rotating until every franchise is held out once) change the results of the project?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77"/>
                <a:sym typeface="Wingdings" pitchFamily="2" charset="2"/>
              </a:rPr>
              <a:t>As new franchises are </a:t>
            </a:r>
            <a:r>
              <a:rPr lang="en-US" sz="2000">
                <a:solidFill>
                  <a:srgbClr val="000000"/>
                </a:solidFill>
                <a:latin typeface="Tw Cen MT" panose="020B0602020104020603" pitchFamily="34" charset="77"/>
                <a:sym typeface="Wingdings" pitchFamily="2" charset="2"/>
              </a:rPr>
              <a:t>added to leagues</a:t>
            </a:r>
            <a:r>
              <a:rPr lang="en-US" sz="2000" dirty="0">
                <a:solidFill>
                  <a:srgbClr val="000000"/>
                </a:solidFill>
                <a:latin typeface="Tw Cen MT" panose="020B0602020104020603" pitchFamily="34" charset="77"/>
                <a:sym typeface="Wingdings" pitchFamily="2" charset="2"/>
              </a:rPr>
              <a:t>, how will this impact the model? At what correlation coefficient and MAE value does the model become reliable to place a bid in a live deal process?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latin typeface="Tw Cen MT" panose="020B06020201040206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044C83-271E-D2C8-A330-E7A017163B44}"/>
              </a:ext>
            </a:extLst>
          </p:cNvPr>
          <p:cNvSpPr txBox="1"/>
          <p:nvPr/>
        </p:nvSpPr>
        <p:spPr>
          <a:xfrm>
            <a:off x="0" y="0"/>
            <a:ext cx="12192000" cy="1138773"/>
          </a:xfrm>
          <a:prstGeom prst="rect">
            <a:avLst/>
          </a:prstGeom>
          <a:solidFill>
            <a:srgbClr val="0E9ED5"/>
          </a:solidFill>
        </p:spPr>
        <p:txBody>
          <a:bodyPr wrap="square" rtlCol="0">
            <a:spAutoFit/>
          </a:bodyPr>
          <a:lstStyle/>
          <a:p>
            <a:pPr algn="ctr"/>
            <a:br>
              <a:rPr lang="en-US" sz="2500" dirty="0">
                <a:solidFill>
                  <a:srgbClr val="FFFFFF"/>
                </a:solidFill>
              </a:rPr>
            </a:br>
            <a:r>
              <a:rPr lang="en-US" sz="2500" dirty="0">
                <a:solidFill>
                  <a:srgbClr val="FFFFFF"/>
                </a:solidFill>
              </a:rPr>
              <a:t>NFL Franchise Evaluation - Conclusion</a:t>
            </a:r>
            <a:endParaRPr lang="en-US" sz="25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671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14635</TotalTime>
  <Words>850</Words>
  <Application>Microsoft Macintosh PowerPoint</Application>
  <PresentationFormat>Widescreen</PresentationFormat>
  <Paragraphs>66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Tw Cen MT</vt:lpstr>
      <vt:lpstr>Office Theme</vt:lpstr>
      <vt:lpstr>NFL Franchise Valuation</vt:lpstr>
      <vt:lpstr> Salary Worth Report – Summary</vt:lpstr>
      <vt:lpstr>PowerPoint Presentation</vt:lpstr>
      <vt:lpstr>PowerPoint Presentation</vt:lpstr>
      <vt:lpstr> Salary Worth Report –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Wolfe</dc:creator>
  <cp:lastModifiedBy>Andrew Wolfe</cp:lastModifiedBy>
  <cp:revision>499</cp:revision>
  <dcterms:created xsi:type="dcterms:W3CDTF">2025-07-28T00:12:37Z</dcterms:created>
  <dcterms:modified xsi:type="dcterms:W3CDTF">2026-04-10T01:50:08Z</dcterms:modified>
</cp:coreProperties>
</file>