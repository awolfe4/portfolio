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57" r:id="rId3"/>
    <p:sldId id="260" r:id="rId4"/>
    <p:sldId id="267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17"/>
    <p:restoredTop sz="91565"/>
  </p:normalViewPr>
  <p:slideViewPr>
    <p:cSldViewPr snapToGrid="0">
      <p:cViewPr varScale="1">
        <p:scale>
          <a:sx n="109" d="100"/>
          <a:sy n="109" d="100"/>
        </p:scale>
        <p:origin x="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CC6FA-A6E0-8946-BC63-D0796D589323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94FFB-5E3A-7C40-9E97-20C634CEF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68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16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95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00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92DB0-0B28-9AA2-96D8-6A17E270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A6DBB-8055-A542-9B38-2C9924368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3AAC8-7179-D31B-551E-2188CE56E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9B6C7-D9DE-CFD2-214D-0510789C6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68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1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AE25-166C-D2AE-86C6-1D8AC6468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85A4A-3E29-EC30-60ED-41FD83296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268F1-B426-F937-23A2-9D9F7BB2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CECCD-F563-03CE-F33D-136D91A85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3C102-449D-3012-0C40-EACD2CC4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3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4321-341F-B496-3C4B-7EFAA2F8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8FDB-5710-CEC4-7D78-336DB6DEA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F9982-D068-822F-41ED-7B7774AF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1E341-358B-01B0-B693-BC359D1B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47575-A31F-7300-87F1-108919E0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3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AA4E-5B8C-7773-A27F-70D865BA3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D728F-BD9F-2CCA-A841-BE1450E0D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7C9A8-FFFC-02D9-3E06-9F940A383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708DF-9200-CEB8-AABC-C936BE27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174B7-013E-A38A-FBD0-E5808C1A7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5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88CB-F018-71D5-F1CD-581571C3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936E-0162-B369-1F51-98373E7FA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EBC77-D2F2-0989-C58F-CE66EF557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8245C-9496-0A9A-6C13-0EE69F7E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4D3E9-4489-50AF-A379-E6134B11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D4834-4674-90B9-67D5-C822C0BB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3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942D-2898-852A-3098-AE5A884F1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63F42-2B44-94AB-10E6-BB5F2ADF3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0B5FB-D72B-2778-27C0-92ADC189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F3D10-FC1A-1ABF-FFE2-E20F651B3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9CDB4-4F05-8EAB-A069-8F4AB41BF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83C7B0-3A41-7A3D-9E4B-F90B941E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52A96-E293-F75F-E543-D09D8C26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40E096-96A3-608E-898D-686B74CA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66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DA8D7-F28A-68F1-61EC-CD439C9F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E458-4CA2-51AF-3236-D32D5682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FA354-4166-C56E-A255-D04AF507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37A4F7-D12B-5D2F-8B74-22C6AF85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5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C0C29-D20E-9059-8819-EA854B4C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1E465-9EB8-EEBD-F1B7-9F28151AB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D9FE8-D76E-280F-83E3-E2F7DFBA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54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E4122-8198-8D83-F447-BF42446D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FEB65-E309-A3B8-EF92-3B15F6F9A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49E77-1AAA-7F9B-00C3-961658131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ED479-9B22-38D1-02CB-AC23CE90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EDEE3-5973-A7B0-46F8-6EF0F86A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2F5B5-B8EE-1F0B-C93C-AFD39C26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5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4D89-3064-28AA-ECDE-063896E13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E1840-F047-2CE5-C3AF-637C07527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CD7FA-8CB6-6CE3-059B-EBA61BD33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F3571-6404-AC4D-A09E-49C53749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304C6-A96F-D5EC-BFC3-BACE8C90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3EB47-6796-2171-8896-5AC83AF6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1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8E7E-42A1-124B-A340-A845754C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7ACDC-8F23-C71E-7DBA-F0BD59854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10F0C-DEDB-6082-694C-779BD4E1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513C5-5DFF-C56E-D9F9-C50B414B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79B13-9D49-51A5-4EE2-02D4451F4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5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B29699-E6B2-2EFA-5E96-78EB6DC8B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31091-489E-7FD3-81CB-94DB430C3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92EFB-9750-2941-C9DA-A9920881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1A9FA-50A8-325A-ABC7-CC637A403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D9DD4-1DDA-E57A-3043-FF32BF01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9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4B1E1-7864-2822-6D2A-1C716A2DF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40F72-E965-023F-563E-94F671350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F527B-6762-99F4-EEBB-C63282DB6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67388-5E83-8843-B620-EC1D735B2C7E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CC9B-25F3-3A7F-7C8B-81B7C3CAB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18A92-8073-458D-50A3-3AAF89DB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8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22667-4C32-25D0-CCE6-CA9E56439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6300" dirty="0"/>
              <a:t>Can Calendar Signals Help Predict Next-Day Stock Direction for Apple?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69B81-BF4E-C6A1-FA75-225CE129F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By Andrew Wolfe</a:t>
            </a:r>
          </a:p>
          <a:p>
            <a:pPr algn="l"/>
            <a:r>
              <a:rPr lang="en-US" dirty="0"/>
              <a:t>January 2025</a:t>
            </a:r>
          </a:p>
        </p:txBody>
      </p:sp>
    </p:spTree>
    <p:extLst>
      <p:ext uri="{BB962C8B-B14F-4D97-AF65-F5344CB8AC3E}">
        <p14:creationId xmlns:p14="http://schemas.microsoft.com/office/powerpoint/2010/main" val="1820116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B146-3CBC-5D9B-900E-20124543E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675" y="428476"/>
            <a:ext cx="9895951" cy="1033669"/>
          </a:xfrm>
        </p:spPr>
        <p:txBody>
          <a:bodyPr>
            <a:normAutofit fontScale="90000"/>
          </a:bodyPr>
          <a:lstStyle/>
          <a:p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Salary Worth Report –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5212F-80DE-9374-A866-B19C31615EBB}"/>
              </a:ext>
            </a:extLst>
          </p:cNvPr>
          <p:cNvSpPr txBox="1"/>
          <p:nvPr/>
        </p:nvSpPr>
        <p:spPr>
          <a:xfrm>
            <a:off x="0" y="1138773"/>
            <a:ext cx="12297103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w Cen MT" panose="020B0602020104020603" pitchFamily="34" charset="77"/>
              </a:rPr>
              <a:t>Context: </a:t>
            </a:r>
            <a:r>
              <a:rPr lang="en-US" sz="2000" dirty="0">
                <a:latin typeface="Tw Cen MT" panose="020B0602020104020603" pitchFamily="34" charset="77"/>
              </a:rPr>
              <a:t>This project investigates and analyzes whether calendar signals along with price and volume features can help predict next-day stock direction. The goal of this analysis is to gain a further understanding on if, how, and where such calendar effects exist that may help predict future stock performance. </a:t>
            </a:r>
            <a:endParaRPr lang="en-US" sz="2000" b="1" dirty="0">
              <a:latin typeface="Tw Cen MT" panose="020B06020201040206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w Cen MT" panose="020B0602020104020603" pitchFamily="34" charset="77"/>
              </a:rPr>
              <a:t>Dataset: </a:t>
            </a:r>
            <a:r>
              <a:rPr lang="en-US" sz="2000" dirty="0">
                <a:latin typeface="Tw Cen MT" panose="020B0602020104020603" pitchFamily="34" charset="77"/>
              </a:rPr>
              <a:t>The dataset covered the last 5 years of stock data involving Apple. The dataset was obtained from Yahoo Finance and contained the following columns originally: ‘Date’, ‘Open’, ‘High’, ‘Low’, ‘ADJ Close’, and ‘Volume’.</a:t>
            </a:r>
            <a:endParaRPr lang="en-US" sz="2000" b="1" dirty="0">
              <a:latin typeface="Tw Cen MT" panose="020B06020201040206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w Cen MT" panose="020B0602020104020603" pitchFamily="34" charset="77"/>
              </a:rPr>
              <a:t>Machine Learning Models Used: </a:t>
            </a:r>
            <a:r>
              <a:rPr lang="en-US" sz="2000" dirty="0">
                <a:latin typeface="Tw Cen MT" panose="020B0602020104020603" pitchFamily="34" charset="77"/>
              </a:rPr>
              <a:t>Three machine learning models were used in this project: Gradient Boosting, Random Forest, and Logistic Regression. A time-series cross validation framework was used to prevent bias in the future, as well as any data leakage. The models were evaluated by accuracy, ROC-AUC, and Log-Loss. Because accuracy can be misleading at times due to inefficient evidence of predictive power, ROC-AUC was the primary evaluation metric. ROC-AUC was great in this situation because of its ability to differentiate days with positive returns over days with negative returns. Log-Loss was also important because of its ability to penalize confident but incorrect predictions. </a:t>
            </a:r>
            <a:endParaRPr lang="en-US" sz="2000" b="1" dirty="0">
              <a:latin typeface="Tw Cen MT" panose="020B06020201040206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w Cen MT" panose="020B0602020104020603" pitchFamily="34" charset="77"/>
              </a:rPr>
              <a:t>Future Implications: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w Cen MT" panose="020B0602020104020603" pitchFamily="34" charset="77"/>
              </a:rPr>
              <a:t>Can calendar effects influence the magnitude of stock returns rather than their direction, and does this effect vary across companies?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w Cen MT" panose="020B0602020104020603" pitchFamily="34" charset="77"/>
              </a:rPr>
              <a:t>How can the combination of calendar events along with macroeconomic announcements impact future stock performance?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w Cen MT" panose="020B0602020104020603" pitchFamily="34" charset="77"/>
              </a:rPr>
              <a:t>Is there a relationship between calendar variables and changes in the distributional shape of returns, and do these variables exert greater influence on return behavior than on direction?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1AEF9-0771-3CFB-7AC6-999BECF5C082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solidFill>
            <a:srgbClr val="0E9ED5"/>
          </a:solidFill>
        </p:spPr>
        <p:txBody>
          <a:bodyPr wrap="square" rtlCol="0">
            <a:spAutoFit/>
          </a:bodyPr>
          <a:lstStyle/>
          <a:p>
            <a:pPr algn="ctr"/>
            <a:br>
              <a:rPr lang="en-US" sz="2500" dirty="0">
                <a:solidFill>
                  <a:srgbClr val="FFFFFF"/>
                </a:solidFill>
                <a:latin typeface="+mj-lt"/>
              </a:rPr>
            </a:br>
            <a:r>
              <a:rPr lang="en-US" sz="2500" dirty="0">
                <a:solidFill>
                  <a:srgbClr val="FFFFFF"/>
                </a:solidFill>
                <a:latin typeface="+mj-lt"/>
              </a:rPr>
              <a:t>Can Calendar Signals Help Predict Next-Day Stock Direction for Apple? – Context</a:t>
            </a:r>
            <a:endParaRPr lang="en-US" sz="2500" b="1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292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D6D365-44C6-788C-3878-E9AC03050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693291"/>
              </p:ext>
            </p:extLst>
          </p:nvPr>
        </p:nvGraphicFramePr>
        <p:xfrm>
          <a:off x="963592" y="1300141"/>
          <a:ext cx="10426862" cy="546594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13431">
                  <a:extLst>
                    <a:ext uri="{9D8B030D-6E8A-4147-A177-3AD203B41FA5}">
                      <a16:colId xmlns:a16="http://schemas.microsoft.com/office/drawing/2014/main" val="432208460"/>
                    </a:ext>
                  </a:extLst>
                </a:gridCol>
                <a:gridCol w="5213431">
                  <a:extLst>
                    <a:ext uri="{9D8B030D-6E8A-4147-A177-3AD203B41FA5}">
                      <a16:colId xmlns:a16="http://schemas.microsoft.com/office/drawing/2014/main" val="2292416677"/>
                    </a:ext>
                  </a:extLst>
                </a:gridCol>
              </a:tblGrid>
              <a:tr h="492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‘return’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The daily adjusted return of the stock.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429498"/>
                  </a:ext>
                </a:extLst>
              </a:tr>
              <a:tr h="347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‘weekday’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The day of the week. This is encoded.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131247"/>
                  </a:ext>
                </a:extLst>
              </a:tr>
              <a:tr h="6830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‘gap’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Represents the overnight price change from the previous adjusted close price to the current open price.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778973"/>
                  </a:ext>
                </a:extLst>
              </a:tr>
              <a:tr h="492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‘ret_5’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Signifies the 5-day rolling average of returns. Used for identifying short-term momentum and reversion effects.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812852"/>
                  </a:ext>
                </a:extLst>
              </a:tr>
              <a:tr h="492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‘vol_5’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Represents the 5-day rolling average of standard deviations of returns. Represents short-term realized volatility.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820"/>
                  </a:ext>
                </a:extLst>
              </a:tr>
              <a:tr h="483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range_pct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The price dispersion relative to opening price that given day. Serves as a guiding principal for same-day volatility.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09560"/>
                  </a:ext>
                </a:extLst>
              </a:tr>
              <a:tr h="492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volume_z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Standardization of trading volume relative to current history.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454010"/>
                  </a:ext>
                </a:extLst>
              </a:tr>
              <a:tr h="483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vol_change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Day-over-day changes in trading volume. Represents shift in market participation.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468065"/>
                  </a:ext>
                </a:extLst>
              </a:tr>
              <a:tr h="2722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‘Close’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The closing price of the stock given that day.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803020"/>
                  </a:ext>
                </a:extLst>
              </a:tr>
              <a:tr h="8984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‘Target’ (Target Variable)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Binary indicator equal to 1 or 0. A ‘1’ signifies the stock’s adjusted price increased when compared to the previous day. A ‘0’ represents that the stock’s adjusted price decreased compared to the previous day.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01241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97C9C4B-2ECB-2413-4C2F-E1161BA2AA38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solidFill>
            <a:srgbClr val="0E9ED5"/>
          </a:solidFill>
        </p:spPr>
        <p:txBody>
          <a:bodyPr wrap="square" rtlCol="0">
            <a:spAutoFit/>
          </a:bodyPr>
          <a:lstStyle/>
          <a:p>
            <a:pPr algn="ctr"/>
            <a:endParaRPr lang="en-US" sz="2500" dirty="0">
              <a:solidFill>
                <a:srgbClr val="FFFFFF"/>
              </a:solidFill>
              <a:latin typeface="+mj-lt"/>
            </a:endParaRPr>
          </a:p>
          <a:p>
            <a:pPr algn="ctr"/>
            <a:r>
              <a:rPr lang="en-US" sz="2500" dirty="0">
                <a:solidFill>
                  <a:srgbClr val="FFFFFF"/>
                </a:solidFill>
                <a:latin typeface="+mj-lt"/>
              </a:rPr>
              <a:t>Input and Target Variables</a:t>
            </a:r>
            <a:endParaRPr lang="en-US" sz="2500" b="1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14AEC-E429-1377-300F-FE58485A1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5F88E4-FD78-A094-829C-3E19483C7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814088"/>
              </p:ext>
            </p:extLst>
          </p:nvPr>
        </p:nvGraphicFramePr>
        <p:xfrm>
          <a:off x="743673" y="1312955"/>
          <a:ext cx="10426862" cy="44653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13431">
                  <a:extLst>
                    <a:ext uri="{9D8B030D-6E8A-4147-A177-3AD203B41FA5}">
                      <a16:colId xmlns:a16="http://schemas.microsoft.com/office/drawing/2014/main" val="432208460"/>
                    </a:ext>
                  </a:extLst>
                </a:gridCol>
                <a:gridCol w="5213431">
                  <a:extLst>
                    <a:ext uri="{9D8B030D-6E8A-4147-A177-3AD203B41FA5}">
                      <a16:colId xmlns:a16="http://schemas.microsoft.com/office/drawing/2014/main" val="2292416677"/>
                    </a:ext>
                  </a:extLst>
                </a:gridCol>
              </a:tblGrid>
              <a:tr h="9106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5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Fraction of days the model predicts the correct stock direction.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429498"/>
                  </a:ext>
                </a:extLst>
              </a:tr>
              <a:tr h="8866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5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Measures whether the model ranks positive days above negative days, via stock direction. Represents the ability to distinguish between classes.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131247"/>
                  </a:ext>
                </a:extLst>
              </a:tr>
              <a:tr h="6830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5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Log-Loss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Evaluates probability quality and penalizes overconfident wrong predictions.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77897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6DA80E4-B384-A24D-AC77-6B08AE08BB95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solidFill>
            <a:srgbClr val="0E9ED5"/>
          </a:solidFill>
        </p:spPr>
        <p:txBody>
          <a:bodyPr wrap="square" rtlCol="0">
            <a:spAutoFit/>
          </a:bodyPr>
          <a:lstStyle/>
          <a:p>
            <a:pPr algn="ctr"/>
            <a:endParaRPr lang="en-US" sz="2500" dirty="0">
              <a:solidFill>
                <a:srgbClr val="FFFFFF"/>
              </a:solidFill>
              <a:latin typeface="+mj-lt"/>
            </a:endParaRPr>
          </a:p>
          <a:p>
            <a:pPr algn="ctr"/>
            <a:r>
              <a:rPr lang="en-US" sz="2500" dirty="0">
                <a:solidFill>
                  <a:srgbClr val="FFFFFF"/>
                </a:solidFill>
                <a:latin typeface="+mj-lt"/>
              </a:rPr>
              <a:t>Evaluation Metrics Used</a:t>
            </a:r>
            <a:endParaRPr lang="en-US" sz="2500" b="1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19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4CEA4-B034-7FA7-DF48-BAAB1E96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91FB-A9E0-5E16-EDD0-540E5AFB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675" y="428476"/>
            <a:ext cx="9895951" cy="1033669"/>
          </a:xfrm>
        </p:spPr>
        <p:txBody>
          <a:bodyPr>
            <a:normAutofit fontScale="90000"/>
          </a:bodyPr>
          <a:lstStyle/>
          <a:p>
            <a:br>
              <a:rPr lang="en-US" sz="4000">
                <a:solidFill>
                  <a:srgbClr val="FFFFFF"/>
                </a:solidFill>
              </a:rPr>
            </a:br>
            <a:r>
              <a:rPr lang="en-US" sz="4000">
                <a:solidFill>
                  <a:srgbClr val="FFFFFF"/>
                </a:solidFill>
              </a:rPr>
              <a:t>Salary Worth Report – Summary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0B889-1E75-BF3F-A247-A95296FF78A1}"/>
              </a:ext>
            </a:extLst>
          </p:cNvPr>
          <p:cNvSpPr txBox="1"/>
          <p:nvPr/>
        </p:nvSpPr>
        <p:spPr>
          <a:xfrm>
            <a:off x="0" y="1122514"/>
            <a:ext cx="1229710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50" b="1" u="sng" dirty="0">
                <a:solidFill>
                  <a:srgbClr val="000000"/>
                </a:solidFill>
                <a:latin typeface="Tw Cen MT" panose="020B0602020104020603" pitchFamily="34" charset="77"/>
              </a:rPr>
              <a:t>Summary: 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This project revealed that there was no evidence supporting calendar effects as a reliable predictor for next-day stock direction in terms of price, volatility, and volume. Model performance was indistinguishable across all models and evaluation metrics. This was proven through accuracy, roc-</a:t>
            </a:r>
            <a:r>
              <a:rPr lang="en-US" sz="2050" dirty="0" err="1">
                <a:solidFill>
                  <a:srgbClr val="000000"/>
                </a:solidFill>
                <a:latin typeface="Tw Cen MT" panose="020B0602020104020603" pitchFamily="34" charset="77"/>
              </a:rPr>
              <a:t>auc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, and log-loss being no better and even sometimes worse than random baselines. Daily stock direction appears to be dominated by noise in the short-term and calendar effects are too weak and unstable to be used as a real predictor of market prices. Overall, the results reveal  the importance of using statistical methodology and domain expertise when trying to predict stock performance.</a:t>
            </a:r>
          </a:p>
          <a:p>
            <a:pPr>
              <a:buNone/>
            </a:pPr>
            <a:r>
              <a:rPr lang="en-US" sz="2050" b="1" u="sng" dirty="0">
                <a:solidFill>
                  <a:srgbClr val="000000"/>
                </a:solidFill>
                <a:latin typeface="Tw Cen MT" panose="020B0602020104020603" pitchFamily="34" charset="77"/>
              </a:rPr>
              <a:t>Key Takeaways: 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Across the Logistic Regression, Random Forest, and Gradient Boosting Models, performance was consistent. </a:t>
            </a:r>
            <a:r>
              <a:rPr lang="en-US" sz="2050" u="sng" dirty="0">
                <a:solidFill>
                  <a:srgbClr val="000000"/>
                </a:solidFill>
                <a:latin typeface="Tw Cen MT" panose="020B0602020104020603" pitchFamily="34" charset="77"/>
              </a:rPr>
              <a:t>Accuracy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 and </a:t>
            </a:r>
            <a:r>
              <a:rPr lang="en-US" sz="2050" u="sng" dirty="0">
                <a:solidFill>
                  <a:srgbClr val="000000"/>
                </a:solidFill>
                <a:latin typeface="Tw Cen MT" panose="020B0602020104020603" pitchFamily="34" charset="77"/>
              </a:rPr>
              <a:t>Roc-</a:t>
            </a:r>
            <a:r>
              <a:rPr lang="en-US" sz="2050" u="sng" dirty="0" err="1">
                <a:solidFill>
                  <a:srgbClr val="000000"/>
                </a:solidFill>
                <a:latin typeface="Tw Cen MT" panose="020B0602020104020603" pitchFamily="34" charset="77"/>
              </a:rPr>
              <a:t>Auc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 both fell around the </a:t>
            </a:r>
            <a:r>
              <a:rPr lang="en-US" sz="2050" u="sng" dirty="0">
                <a:solidFill>
                  <a:srgbClr val="000000"/>
                </a:solidFill>
                <a:latin typeface="Tw Cen MT" panose="020B0602020104020603" pitchFamily="34" charset="77"/>
              </a:rPr>
              <a:t>50% 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mark, while </a:t>
            </a:r>
            <a:r>
              <a:rPr lang="en-US" sz="2050" u="sng" dirty="0">
                <a:solidFill>
                  <a:srgbClr val="000000"/>
                </a:solidFill>
                <a:latin typeface="Tw Cen MT" panose="020B0602020104020603" pitchFamily="34" charset="77"/>
              </a:rPr>
              <a:t>Log-Loss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 was no better than the random benchmark </a:t>
            </a:r>
            <a:r>
              <a:rPr lang="en-US" sz="2050">
                <a:solidFill>
                  <a:srgbClr val="000000"/>
                </a:solidFill>
                <a:latin typeface="Tw Cen MT" panose="020B0602020104020603" pitchFamily="34" charset="77"/>
              </a:rPr>
              <a:t>of </a:t>
            </a:r>
            <a:r>
              <a:rPr lang="en-US" sz="2050" i="1" u="sng">
                <a:solidFill>
                  <a:srgbClr val="000000"/>
                </a:solidFill>
                <a:latin typeface="Tw Cen MT" panose="020B0602020104020603" pitchFamily="34" charset="77"/>
              </a:rPr>
              <a:t>0.69-0.70</a:t>
            </a:r>
            <a:r>
              <a:rPr lang="en-US" sz="2050">
                <a:solidFill>
                  <a:srgbClr val="000000"/>
                </a:solidFill>
                <a:latin typeface="Tw Cen MT" panose="020B0602020104020603" pitchFamily="34" charset="77"/>
              </a:rPr>
              <a:t>. 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This reveals the model’s inability to differentiate positive stock performance days versus negative stock performance days and produce informative probability estimates. </a:t>
            </a:r>
            <a:r>
              <a:rPr lang="en-US" sz="2050" dirty="0">
                <a:latin typeface="Tw Cen MT" panose="020B0602020104020603" pitchFamily="34" charset="77"/>
              </a:rPr>
              <a:t>This aligns with prior research indicating that calendar effects have minimal influence on short-term stock performance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.  </a:t>
            </a:r>
            <a:endParaRPr lang="en-US" sz="2050" b="1" u="sng" dirty="0">
              <a:solidFill>
                <a:srgbClr val="000000"/>
              </a:solidFill>
              <a:latin typeface="Tw Cen MT" panose="020B0602020104020603" pitchFamily="34" charset="77"/>
            </a:endParaRPr>
          </a:p>
          <a:p>
            <a:r>
              <a:rPr lang="en-US" sz="2050" b="1" u="sng" dirty="0">
                <a:solidFill>
                  <a:srgbClr val="000000"/>
                </a:solidFill>
                <a:latin typeface="Tw Cen MT" panose="020B0602020104020603" pitchFamily="34" charset="77"/>
              </a:rPr>
              <a:t>Next Steps: 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In the future, I think evaluating more of an index-level stock, such as the S&amp;P 500, would give a more diversified investigation into this project. Moreover, it would be extremely interesting to explore tail risk, rolling-windows evaluations, return magnitude, or even realized volatility instead of binary price direction. Evaluating these targets might give us a better perspective into seeing the impact of calendar effects across different investment horizons and market regimes. I am looking forward to further investigating the impact of calendar signals with stock performance. </a:t>
            </a:r>
            <a:endParaRPr lang="en-US" sz="2050" b="1" u="sng" dirty="0">
              <a:solidFill>
                <a:srgbClr val="000000"/>
              </a:solidFill>
              <a:latin typeface="Tw Cen MT" panose="020B06020201040206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44C83-271E-D2C8-A330-E7A017163B44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solidFill>
            <a:srgbClr val="0E9ED5"/>
          </a:solidFill>
        </p:spPr>
        <p:txBody>
          <a:bodyPr wrap="square" rtlCol="0">
            <a:spAutoFit/>
          </a:bodyPr>
          <a:lstStyle/>
          <a:p>
            <a:pPr algn="ctr"/>
            <a:br>
              <a:rPr lang="en-US" sz="2500" dirty="0">
                <a:solidFill>
                  <a:srgbClr val="FFFFFF"/>
                </a:solidFill>
                <a:latin typeface="+mj-lt"/>
              </a:rPr>
            </a:br>
            <a:r>
              <a:rPr lang="en-US" sz="2500" dirty="0">
                <a:solidFill>
                  <a:srgbClr val="FFFFFF"/>
                </a:solidFill>
                <a:latin typeface="+mj-lt"/>
              </a:rPr>
              <a:t>Can Calendar </a:t>
            </a:r>
            <a:r>
              <a:rPr lang="en-US" sz="2500" dirty="0">
                <a:solidFill>
                  <a:srgbClr val="FFFFFF"/>
                </a:solidFill>
              </a:rPr>
              <a:t>Signals</a:t>
            </a:r>
            <a:r>
              <a:rPr lang="en-US" sz="2500" dirty="0">
                <a:solidFill>
                  <a:srgbClr val="FFFFFF"/>
                </a:solidFill>
                <a:latin typeface="+mj-lt"/>
              </a:rPr>
              <a:t> Help Predict Next-Day Stock Direction for Apple? – Conclusion</a:t>
            </a:r>
            <a:endParaRPr lang="en-US" sz="2500" b="1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671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12843</TotalTime>
  <Words>907</Words>
  <Application>Microsoft Macintosh PowerPoint</Application>
  <PresentationFormat>Widescreen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Tw Cen MT</vt:lpstr>
      <vt:lpstr>Office Theme</vt:lpstr>
      <vt:lpstr>Can Calendar Signals Help Predict Next-Day Stock Direction for Apple?</vt:lpstr>
      <vt:lpstr> Salary Worth Report – Summary</vt:lpstr>
      <vt:lpstr>PowerPoint Presentation</vt:lpstr>
      <vt:lpstr>PowerPoint Presentation</vt:lpstr>
      <vt:lpstr> Salary Worth Report –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Wolfe</dc:creator>
  <cp:lastModifiedBy>Andrew Wolfe</cp:lastModifiedBy>
  <cp:revision>389</cp:revision>
  <dcterms:created xsi:type="dcterms:W3CDTF">2025-07-28T00:12:37Z</dcterms:created>
  <dcterms:modified xsi:type="dcterms:W3CDTF">2026-01-31T21:47:17Z</dcterms:modified>
</cp:coreProperties>
</file>